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67"/>
  </p:handoutMasterIdLst>
  <p:sldIdLst>
    <p:sldId id="256" r:id="rId3"/>
    <p:sldId id="513" r:id="rId5"/>
    <p:sldId id="258" r:id="rId6"/>
    <p:sldId id="453" r:id="rId7"/>
    <p:sldId id="454" r:id="rId8"/>
    <p:sldId id="260" r:id="rId9"/>
    <p:sldId id="261" r:id="rId10"/>
    <p:sldId id="455" r:id="rId11"/>
    <p:sldId id="262" r:id="rId12"/>
    <p:sldId id="264" r:id="rId13"/>
    <p:sldId id="361" r:id="rId14"/>
    <p:sldId id="456" r:id="rId15"/>
    <p:sldId id="366" r:id="rId16"/>
    <p:sldId id="367" r:id="rId17"/>
    <p:sldId id="368" r:id="rId18"/>
    <p:sldId id="457" r:id="rId19"/>
    <p:sldId id="458" r:id="rId20"/>
    <p:sldId id="459" r:id="rId21"/>
    <p:sldId id="370" r:id="rId22"/>
    <p:sldId id="371" r:id="rId23"/>
    <p:sldId id="377" r:id="rId24"/>
    <p:sldId id="379" r:id="rId25"/>
    <p:sldId id="380" r:id="rId26"/>
    <p:sldId id="472" r:id="rId27"/>
    <p:sldId id="383" r:id="rId28"/>
    <p:sldId id="473" r:id="rId29"/>
    <p:sldId id="384" r:id="rId30"/>
    <p:sldId id="474" r:id="rId31"/>
    <p:sldId id="387" r:id="rId32"/>
    <p:sldId id="388" r:id="rId33"/>
    <p:sldId id="389" r:id="rId34"/>
    <p:sldId id="460" r:id="rId35"/>
    <p:sldId id="394" r:id="rId36"/>
    <p:sldId id="461" r:id="rId37"/>
    <p:sldId id="400" r:id="rId38"/>
    <p:sldId id="404" r:id="rId39"/>
    <p:sldId id="462" r:id="rId40"/>
    <p:sldId id="395" r:id="rId41"/>
    <p:sldId id="463" r:id="rId42"/>
    <p:sldId id="397" r:id="rId43"/>
    <p:sldId id="475" r:id="rId44"/>
    <p:sldId id="405" r:id="rId45"/>
    <p:sldId id="406" r:id="rId46"/>
    <p:sldId id="464" r:id="rId47"/>
    <p:sldId id="291" r:id="rId48"/>
    <p:sldId id="409" r:id="rId49"/>
    <p:sldId id="407" r:id="rId50"/>
    <p:sldId id="465" r:id="rId51"/>
    <p:sldId id="408" r:id="rId52"/>
    <p:sldId id="476" r:id="rId53"/>
    <p:sldId id="478" r:id="rId54"/>
    <p:sldId id="466" r:id="rId55"/>
    <p:sldId id="410" r:id="rId56"/>
    <p:sldId id="477" r:id="rId57"/>
    <p:sldId id="479" r:id="rId58"/>
    <p:sldId id="297" r:id="rId59"/>
    <p:sldId id="480" r:id="rId60"/>
    <p:sldId id="467" r:id="rId61"/>
    <p:sldId id="468" r:id="rId62"/>
    <p:sldId id="469" r:id="rId63"/>
    <p:sldId id="470" r:id="rId64"/>
    <p:sldId id="471" r:id="rId65"/>
    <p:sldId id="481" r:id="rId66"/>
  </p:sldIdLst>
  <p:sldSz cx="9144000" cy="6858000" type="screen4x3"/>
  <p:notesSz cx="6858000" cy="9144000"/>
  <p:custDataLst>
    <p:tags r:id="rId71"/>
  </p:custDataLst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32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68" d="100"/>
          <a:sy n="68" d="100"/>
        </p:scale>
        <p:origin x="-498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1" Type="http://schemas.openxmlformats.org/officeDocument/2006/relationships/tags" Target="tags/tag1.xml"/><Relationship Id="rId70" Type="http://schemas.openxmlformats.org/officeDocument/2006/relationships/tableStyles" Target="tableStyles.xml"/><Relationship Id="rId7" Type="http://schemas.openxmlformats.org/officeDocument/2006/relationships/slide" Target="slides/slide4.xml"/><Relationship Id="rId69" Type="http://schemas.openxmlformats.org/officeDocument/2006/relationships/viewProps" Target="viewProps.xml"/><Relationship Id="rId68" Type="http://schemas.openxmlformats.org/officeDocument/2006/relationships/presProps" Target="presProps.xml"/><Relationship Id="rId67" Type="http://schemas.openxmlformats.org/officeDocument/2006/relationships/handoutMaster" Target="handoutMasters/handoutMaster1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22" name="页眉占位符 3072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fontAlgn="base"/>
            <a:endParaRPr lang="en-US" sz="1200" b="0" strike="noStrike" noProof="1" dirty="0">
              <a:latin typeface="Times New Roman" panose="02020603050405020304" pitchFamily="18" charset="0"/>
            </a:endParaRPr>
          </a:p>
        </p:txBody>
      </p:sp>
      <p:sp>
        <p:nvSpPr>
          <p:cNvPr id="30723" name="日期占位符 30722"/>
          <p:cNvSpPr>
            <a:spLocks noGrp="1"/>
          </p:cNvSpPr>
          <p:nvPr>
            <p:ph type="dt" idx="1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algn="r" fontAlgn="base"/>
            <a:endParaRPr lang="en-US" sz="1200" b="0" strike="noStrike" noProof="1" dirty="0"/>
          </a:p>
        </p:txBody>
      </p:sp>
      <p:sp>
        <p:nvSpPr>
          <p:cNvPr id="3076" name="幻灯片图像占位符 30723"/>
          <p:cNvSpPr>
            <a:spLocks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077" name="文本占位符 30724"/>
          <p:cNvSpPr>
            <a:spLocks noGrp="1"/>
          </p:cNvSpPr>
          <p:nvPr>
            <p:ph type="body" sz="quarter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0726" name="页脚占位符 30725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fontAlgn="base"/>
            <a:endParaRPr lang="en-US" sz="1200" b="0" strike="noStrike" noProof="1" dirty="0"/>
          </a:p>
        </p:txBody>
      </p:sp>
      <p:sp>
        <p:nvSpPr>
          <p:cNvPr id="30727" name="灯片编号占位符 30726"/>
          <p:cNvSpPr>
            <a:spLocks noGrp="1"/>
          </p:cNvSpPr>
          <p:nvPr>
            <p:ph type="sldNum" sz="quarter" idx="5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fontAlgn="base"/>
            <a:fld id="{9A0DB2DC-4C9A-4742-B13C-FB6460FD3503}" type="slidenum">
              <a:rPr lang="en-US" sz="1200" b="0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sz="1200" b="0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lvl="0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1" name="幻灯片图像占位符 1"/>
          <p:cNvSpPr>
            <a:spLocks noTextEdit="1"/>
          </p:cNvSpPr>
          <p:nvPr>
            <p:ph type="sldImg"/>
          </p:nvPr>
        </p:nvSpPr>
        <p:spPr/>
      </p:sp>
      <p:sp>
        <p:nvSpPr>
          <p:cNvPr id="5122" name="文本占位符 2"/>
          <p:cNvSpPr>
            <a:spLocks noGrp="1"/>
          </p:cNvSpPr>
          <p:nvPr>
            <p:ph type="body"/>
          </p:nvPr>
        </p:nvSpPr>
        <p:spPr/>
        <p:txBody>
          <a:bodyPr anchor="t" anchorCtr="0"/>
          <a:p>
            <a:pPr lvl="0"/>
            <a:r>
              <a:rPr lang="zh-CN" altLang="en-US"/>
              <a:t>新源县中医医院</a:t>
            </a:r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5123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/>
            <a:fld id="{9A0DB2DC-4C9A-4742-B13C-FB6460FD3503}" type="slidenum">
              <a:rPr lang="en-US" altLang="zh-CN" sz="1200" b="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US" altLang="zh-CN" sz="12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09" name="灯片编号占位符 1"/>
          <p:cNvSpPr/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/>
            <a:fld id="{9A0DB2DC-4C9A-4742-B13C-FB6460FD3503}" type="slidenum">
              <a:rPr lang="en-US" altLang="zh-CN" sz="1200" b="0" dirty="0"/>
            </a:fld>
            <a:endParaRPr lang="en-US" altLang="zh-CN" sz="1200" b="0" dirty="0"/>
          </a:p>
        </p:txBody>
      </p:sp>
      <p:sp>
        <p:nvSpPr>
          <p:cNvPr id="43010" name="幻灯片图像占位符 171009"/>
          <p:cNvSpPr>
            <a:spLocks noTextEdit="1"/>
          </p:cNvSpPr>
          <p:nvPr>
            <p:ph type="sldImg"/>
          </p:nvPr>
        </p:nvSpPr>
        <p:spPr/>
      </p:sp>
      <p:sp>
        <p:nvSpPr>
          <p:cNvPr id="43011" name="文本占位符 171010"/>
          <p:cNvSpPr>
            <a:spLocks noGrp="1"/>
          </p:cNvSpPr>
          <p:nvPr>
            <p:ph type="body"/>
          </p:nvPr>
        </p:nvSpPr>
        <p:spPr/>
        <p:txBody>
          <a:bodyPr anchor="t" anchorCtr="0"/>
          <a:p>
            <a:pPr lvl="0" algn="just"/>
            <a:r>
              <a:rPr lang="zh-CN" altLang="en-US" dirty="0"/>
              <a:t>实证是非常笼统的概念，范围极为广泛，临床表现十分复杂，其病因病机主要可概括为两个方面：一是风寒暑湿燥火、疫疠以及虫毒等邪气侵犯人体，正气奋起抗邪，故病势较为亢奋、急迫。二是内脏机能失调，气化障碍，导致气机阻滞，以及形成痰、饮、水、湿、瘀血、宿食等，有形病理产物壅聚停积于体内。</a:t>
            </a:r>
            <a:endParaRPr lang="zh-CN" altLang="en-US" dirty="0"/>
          </a:p>
          <a:p>
            <a:pPr lvl="0"/>
            <a:r>
              <a:rPr lang="zh-CN" altLang="en-US" dirty="0">
                <a:latin typeface="宋体" panose="02010600030101010101" pitchFamily="2" charset="-122"/>
              </a:rPr>
              <a:t>由于感邪性质的差异，致病的病理产物不同，以及病邪侵袭、停积部位的差别，因而各自有着不同的证候表现，所以很难以哪几个症状作为实证的代表。临床一般是新起、暴病多实证，病情激剧者多实证，体质壮实者多实证。</a:t>
            </a:r>
            <a:r>
              <a:rPr lang="zh-CN" altLang="en-US" dirty="0">
                <a:latin typeface="Times New Roman" panose="02020603050405020304" pitchFamily="18" charset="0"/>
              </a:rPr>
              <a:t>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PhAnim="0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矩形 1024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anchor="t" anchorCtr="0"/>
          <a:p>
            <a:pPr lvl="0"/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2051" name="圆角矩形 10242"/>
          <p:cNvSpPr/>
          <p:nvPr/>
        </p:nvSpPr>
        <p:spPr>
          <a:xfrm>
            <a:off x="685800" y="990600"/>
            <a:ext cx="5181600" cy="1905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noFill/>
          </a:ln>
        </p:spPr>
        <p:txBody>
          <a:bodyPr anchor="t" anchorCtr="0"/>
          <a:p>
            <a:pPr lvl="0"/>
            <a:endParaRPr lang="zh-CN" altLang="en-US">
              <a:latin typeface="Times New Roman" panose="02020603050405020304" pitchFamily="18" charset="0"/>
            </a:endParaRPr>
          </a:p>
        </p:txBody>
      </p:sp>
      <p:grpSp>
        <p:nvGrpSpPr>
          <p:cNvPr id="2052" name="组合 10244"/>
          <p:cNvGrpSpPr/>
          <p:nvPr/>
        </p:nvGrpSpPr>
        <p:grpSpPr>
          <a:xfrm>
            <a:off x="3632200" y="4889500"/>
            <a:ext cx="4876800" cy="319088"/>
            <a:chOff x="2288" y="3080"/>
            <a:chExt cx="3072" cy="201"/>
          </a:xfrm>
        </p:grpSpPr>
        <p:sp>
          <p:nvSpPr>
            <p:cNvPr id="2053" name="圆角矩形 10245"/>
            <p:cNvSpPr/>
            <p:nvPr/>
          </p:nvSpPr>
          <p:spPr>
            <a:xfrm flipH="1">
              <a:off x="2288" y="3080"/>
              <a:ext cx="2914" cy="200"/>
            </a:xfrm>
            <a:prstGeom prst="roundRect">
              <a:avLst>
                <a:gd name="adj" fmla="val 0"/>
              </a:avLst>
            </a:prstGeom>
            <a:solidFill>
              <a:schemeClr val="bg2"/>
            </a:solidFill>
            <a:ln w="9525">
              <a:noFill/>
            </a:ln>
          </p:spPr>
          <p:txBody>
            <a:bodyPr anchor="t" anchorCtr="0"/>
            <a:p>
              <a:pPr lvl="0"/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2054" name="流程图: 延期 10246"/>
            <p:cNvSpPr/>
            <p:nvPr/>
          </p:nvSpPr>
          <p:spPr>
            <a:xfrm>
              <a:off x="5196" y="3080"/>
              <a:ext cx="164" cy="201"/>
            </a:xfrm>
            <a:prstGeom prst="flowChartDelay">
              <a:avLst/>
            </a:prstGeom>
            <a:solidFill>
              <a:schemeClr val="bg2"/>
            </a:solidFill>
            <a:ln w="9525">
              <a:noFill/>
            </a:ln>
          </p:spPr>
          <p:txBody>
            <a:bodyPr anchor="t" anchorCtr="0"/>
            <a:p>
              <a:pPr lvl="0"/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sp>
        <p:nvSpPr>
          <p:cNvPr id="10244" name="副标题 10243"/>
          <p:cNvSpPr>
            <a:spLocks noGrp="1"/>
          </p:cNvSpPr>
          <p:nvPr>
            <p:ph type="subTitle" idx="1"/>
          </p:nvPr>
        </p:nvSpPr>
        <p:spPr>
          <a:xfrm>
            <a:off x="4673600" y="2927350"/>
            <a:ext cx="3657600" cy="182245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0" lvl="0" indent="0"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>
                <a:solidFill>
                  <a:schemeClr val="tx2"/>
                </a:solidFill>
              </a:defRPr>
            </a:lvl1pPr>
            <a:lvl2pPr marL="457200" lvl="1" indent="0" algn="ctr">
              <a:buClr>
                <a:schemeClr val="tx1"/>
              </a:buClr>
              <a:buSzPct val="75000"/>
              <a:buFontTx/>
              <a:buNone/>
              <a:defRPr>
                <a:solidFill>
                  <a:schemeClr val="tx2"/>
                </a:solidFill>
              </a:defRPr>
            </a:lvl2pPr>
            <a:lvl3pPr marL="914400" lvl="2" indent="0" algn="ctr"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>
                <a:solidFill>
                  <a:schemeClr val="tx2"/>
                </a:solidFill>
              </a:defRPr>
            </a:lvl3pPr>
            <a:lvl4pPr marL="1371600" lvl="3" indent="0" algn="ctr">
              <a:buClr>
                <a:schemeClr val="tx1"/>
              </a:buClr>
              <a:buSzPct val="80000"/>
              <a:buFontTx/>
              <a:buNone/>
              <a:defRPr>
                <a:solidFill>
                  <a:schemeClr val="tx2"/>
                </a:solidFill>
              </a:defRPr>
            </a:lvl4pPr>
            <a:lvl5pPr marL="1828800" lvl="4" indent="0" algn="ctr">
              <a:buClr>
                <a:schemeClr val="tx1"/>
              </a:buClr>
              <a:buSzPct val="65000"/>
              <a:buFont typeface="Wingdings" panose="05000000000000000000" pitchFamily="2" charset="2"/>
              <a:buNone/>
              <a:defRPr>
                <a:solidFill>
                  <a:schemeClr val="tx2"/>
                </a:solidFill>
              </a:defRPr>
            </a:lvl5pPr>
          </a:lstStyle>
          <a:p>
            <a:pPr lvl="0" fontAlgn="base"/>
            <a:r>
              <a:rPr lang="zh-CN" altLang="en-US" strike="noStrike" noProof="1" dirty="0"/>
              <a:t>单击此处编辑母版副标题样式</a:t>
            </a:r>
            <a:endParaRPr lang="zh-CN" altLang="en-US" strike="noStrike" noProof="1" dirty="0"/>
          </a:p>
        </p:txBody>
      </p:sp>
      <p:sp>
        <p:nvSpPr>
          <p:cNvPr id="10251" name="标题 10250"/>
          <p:cNvSpPr>
            <a:spLocks noGrp="1"/>
          </p:cNvSpPr>
          <p:nvPr>
            <p:ph type="ctrTitle" sz="quarter"/>
          </p:nvPr>
        </p:nvSpPr>
        <p:spPr>
          <a:xfrm>
            <a:off x="936625" y="1425575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lvl="0" algn="ctr">
              <a:buClrTx/>
              <a:buSzTx/>
              <a:buFontTx/>
              <a:defRPr>
                <a:solidFill>
                  <a:schemeClr val="tx1"/>
                </a:solidFill>
              </a:defRPr>
            </a:lvl1pPr>
          </a:lstStyle>
          <a:p>
            <a:pPr lvl="0" fontAlgn="base"/>
            <a:r>
              <a:rPr lang="zh-CN" altLang="en-US" strike="noStrike" noProof="1" dirty="0"/>
              <a:t>单击此处编辑母版标题样式</a:t>
            </a:r>
            <a:endParaRPr lang="zh-CN" altLang="en-US" strike="noStrike" noProof="1" dirty="0"/>
          </a:p>
        </p:txBody>
      </p:sp>
      <p:sp>
        <p:nvSpPr>
          <p:cNvPr id="10248" name="日期占位符 10247"/>
          <p:cNvSpPr>
            <a:spLocks noGrp="1"/>
          </p:cNvSpPr>
          <p:nvPr>
            <p:ph type="dt" sz="quarter" idx="2"/>
          </p:nvPr>
        </p:nvSpPr>
        <p:spPr>
          <a:xfrm>
            <a:off x="2667000" y="6553200"/>
            <a:ext cx="1905000" cy="304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>
            <a:spAutoFit/>
          </a:bodyPr>
          <a:lstStyle>
            <a:lvl1pPr algn="r">
              <a:defRPr sz="1400" b="0">
                <a:solidFill>
                  <a:schemeClr val="bg1"/>
                </a:solidFill>
              </a:defRPr>
            </a:lvl1pPr>
          </a:lstStyle>
          <a:p>
            <a:pPr fontAlgn="base"/>
            <a:fld id="{BB962C8B-B14F-4D97-AF65-F5344CB8AC3E}" type="datetime1">
              <a:rPr 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249" name="页脚占位符 10248"/>
          <p:cNvSpPr>
            <a:spLocks noGrp="1"/>
          </p:cNvSpPr>
          <p:nvPr>
            <p:ph type="ftr" sz="quarter" idx="3"/>
          </p:nvPr>
        </p:nvSpPr>
        <p:spPr>
          <a:xfrm>
            <a:off x="5195888" y="6553200"/>
            <a:ext cx="3279775" cy="304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>
            <a:spAutoFit/>
          </a:bodyPr>
          <a:lstStyle>
            <a:lvl1pPr algn="r">
              <a:defRPr sz="1400" b="0"/>
            </a:lvl1pPr>
          </a:lstStyle>
          <a:p>
            <a:pPr fontAlgn="base"/>
            <a:endParaRPr 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10250" name="灯片编号占位符 10249"/>
          <p:cNvSpPr>
            <a:spLocks noGrp="1"/>
          </p:cNvSpPr>
          <p:nvPr>
            <p:ph type="sldNum" sz="quarter" idx="4"/>
          </p:nvPr>
        </p:nvSpPr>
        <p:spPr>
          <a:xfrm>
            <a:off x="9525" y="6359525"/>
            <a:ext cx="587375" cy="488950"/>
          </a:xfrm>
          <a:prstGeom prst="rect">
            <a:avLst/>
          </a:prstGeom>
          <a:noFill/>
          <a:ln w="9525">
            <a:noFill/>
          </a:ln>
        </p:spPr>
        <p:txBody>
          <a:bodyPr anchor="b" anchorCtr="0">
            <a:spAutoFit/>
          </a:bodyPr>
          <a:lstStyle>
            <a:lvl1pPr>
              <a:defRPr sz="2600" b="1">
                <a:solidFill>
                  <a:schemeClr val="bg1"/>
                </a:solidFill>
              </a:defRPr>
            </a:lvl1pPr>
          </a:lstStyle>
          <a:p>
            <a:pPr fontAlgn="base"/>
            <a:fld id="{9A0DB2DC-4C9A-4742-B13C-FB6460FD3503}" type="slidenum">
              <a:rPr 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2362200"/>
            <a:ext cx="3920490" cy="3733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94910" y="2362200"/>
            <a:ext cx="3920490" cy="3733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en-US" strike="noStrike" noProof="1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en-US" strike="noStrike" noProof="1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915150" y="762000"/>
            <a:ext cx="2000250" cy="53340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762000"/>
            <a:ext cx="5884793" cy="53340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/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组合 9217"/>
          <p:cNvGrpSpPr/>
          <p:nvPr/>
        </p:nvGrpSpPr>
        <p:grpSpPr>
          <a:xfrm>
            <a:off x="0" y="0"/>
            <a:ext cx="3200400" cy="6858000"/>
            <a:chOff x="0" y="0"/>
            <a:chExt cx="2016" cy="4320"/>
          </a:xfrm>
        </p:grpSpPr>
        <p:sp>
          <p:nvSpPr>
            <p:cNvPr id="1027" name="矩形 9218"/>
            <p:cNvSpPr/>
            <p:nvPr/>
          </p:nvSpPr>
          <p:spPr>
            <a:xfrm>
              <a:off x="0" y="0"/>
              <a:ext cx="480" cy="4320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anchor="t" anchorCtr="0"/>
            <a:p>
              <a:pPr lvl="0"/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028" name="矩形 9219"/>
            <p:cNvSpPr/>
            <p:nvPr/>
          </p:nvSpPr>
          <p:spPr>
            <a:xfrm>
              <a:off x="432" y="0"/>
              <a:ext cx="1584" cy="672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anchor="t" anchorCtr="0"/>
            <a:p>
              <a:pPr lvl="0"/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sp>
        <p:nvSpPr>
          <p:cNvPr id="1029" name="圆角矩形 9220"/>
          <p:cNvSpPr/>
          <p:nvPr/>
        </p:nvSpPr>
        <p:spPr>
          <a:xfrm>
            <a:off x="762000" y="762000"/>
            <a:ext cx="5105400" cy="6096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noFill/>
          </a:ln>
        </p:spPr>
        <p:txBody>
          <a:bodyPr anchor="t" anchorCtr="0"/>
          <a:p>
            <a:pPr lvl="0"/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1030" name="标题 9221"/>
          <p:cNvSpPr>
            <a:spLocks noGrp="1"/>
          </p:cNvSpPr>
          <p:nvPr>
            <p:ph type="title"/>
          </p:nvPr>
        </p:nvSpPr>
        <p:spPr>
          <a:xfrm>
            <a:off x="914400" y="762000"/>
            <a:ext cx="8001000" cy="1143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31" name="文本占位符 9222"/>
          <p:cNvSpPr>
            <a:spLocks noGrp="1"/>
          </p:cNvSpPr>
          <p:nvPr>
            <p:ph type="body"/>
          </p:nvPr>
        </p:nvSpPr>
        <p:spPr>
          <a:xfrm>
            <a:off x="914400" y="2362200"/>
            <a:ext cx="8001000" cy="3733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224" name="日期占位符 9223"/>
          <p:cNvSpPr>
            <a:spLocks noGrp="1"/>
          </p:cNvSpPr>
          <p:nvPr>
            <p:ph type="dt" sz="half" idx="2"/>
          </p:nvPr>
        </p:nvSpPr>
        <p:spPr>
          <a:xfrm>
            <a:off x="7010400" y="6553200"/>
            <a:ext cx="1905000" cy="304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>
            <a:spAutoFit/>
          </a:bodyPr>
          <a:lstStyle>
            <a:lvl1pPr algn="r">
              <a:defRPr sz="1400" b="0"/>
            </a:lvl1pPr>
          </a:lstStyle>
          <a:p>
            <a:pPr lvl="0" fontAlgn="base"/>
            <a:endParaRPr lang="en-US" strike="noStrike" noProof="1">
              <a:latin typeface="Arial" panose="020B0604020202020204" pitchFamily="34" charset="0"/>
            </a:endParaRPr>
          </a:p>
        </p:txBody>
      </p:sp>
      <p:sp>
        <p:nvSpPr>
          <p:cNvPr id="9225" name="页脚占位符 9224"/>
          <p:cNvSpPr>
            <a:spLocks noGrp="1"/>
          </p:cNvSpPr>
          <p:nvPr>
            <p:ph type="ftr" sz="quarter" idx="3"/>
          </p:nvPr>
        </p:nvSpPr>
        <p:spPr>
          <a:xfrm>
            <a:off x="2936875" y="6529388"/>
            <a:ext cx="2895600" cy="304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>
            <a:spAutoFit/>
          </a:bodyPr>
          <a:lstStyle>
            <a:lvl1pPr algn="ctr">
              <a:defRPr sz="1400" b="0"/>
            </a:lvl1pPr>
          </a:lstStyle>
          <a:p>
            <a:pPr lvl="0" fontAlgn="base"/>
            <a:endParaRPr 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9226" name="灯片编号占位符 9225"/>
          <p:cNvSpPr>
            <a:spLocks noGrp="1"/>
          </p:cNvSpPr>
          <p:nvPr>
            <p:ph type="sldNum" sz="quarter" idx="4"/>
          </p:nvPr>
        </p:nvSpPr>
        <p:spPr>
          <a:xfrm>
            <a:off x="84138" y="6343650"/>
            <a:ext cx="587375" cy="488950"/>
          </a:xfrm>
          <a:prstGeom prst="rect">
            <a:avLst/>
          </a:prstGeom>
          <a:noFill/>
          <a:ln w="9525">
            <a:noFill/>
          </a:ln>
        </p:spPr>
        <p:txBody>
          <a:bodyPr anchor="b" anchorCtr="1">
            <a:spAutoFit/>
          </a:bodyPr>
          <a:lstStyle>
            <a:lvl1pPr>
              <a:defRPr sz="2600" b="1">
                <a:solidFill>
                  <a:schemeClr val="bg1"/>
                </a:solidFill>
              </a:defRPr>
            </a:lvl1pPr>
          </a:lstStyle>
          <a:p>
            <a:pPr lvl="0" fontAlgn="base"/>
            <a:fld id="{9A0DB2DC-4C9A-4742-B13C-FB6460FD3503}" type="slidenum">
              <a:rPr 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strike="noStrike" noProof="1" dirty="0">
              <a:latin typeface="Arial" panose="020B0604020202020204" pitchFamily="34" charset="0"/>
            </a:endParaRPr>
          </a:p>
        </p:txBody>
      </p:sp>
      <p:grpSp>
        <p:nvGrpSpPr>
          <p:cNvPr id="1035" name="组合 9226"/>
          <p:cNvGrpSpPr/>
          <p:nvPr/>
        </p:nvGrpSpPr>
        <p:grpSpPr>
          <a:xfrm>
            <a:off x="228600" y="1981200"/>
            <a:ext cx="7391400" cy="319088"/>
            <a:chOff x="144" y="1248"/>
            <a:chExt cx="4656" cy="201"/>
          </a:xfrm>
        </p:grpSpPr>
        <p:sp>
          <p:nvSpPr>
            <p:cNvPr id="1036" name="圆角矩形 9227"/>
            <p:cNvSpPr/>
            <p:nvPr/>
          </p:nvSpPr>
          <p:spPr>
            <a:xfrm>
              <a:off x="384" y="1248"/>
              <a:ext cx="4416" cy="200"/>
            </a:xfrm>
            <a:prstGeom prst="roundRect">
              <a:avLst>
                <a:gd name="adj" fmla="val 0"/>
              </a:avLst>
            </a:prstGeom>
            <a:solidFill>
              <a:schemeClr val="bg2"/>
            </a:solidFill>
            <a:ln w="9525">
              <a:noFill/>
            </a:ln>
          </p:spPr>
          <p:txBody>
            <a:bodyPr anchor="t" anchorCtr="0"/>
            <a:p>
              <a:pPr lvl="0"/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037" name="流程图: 延期 9228"/>
            <p:cNvSpPr/>
            <p:nvPr/>
          </p:nvSpPr>
          <p:spPr>
            <a:xfrm flipH="1">
              <a:off x="144" y="1248"/>
              <a:ext cx="248" cy="201"/>
            </a:xfrm>
            <a:prstGeom prst="flowChartDelay">
              <a:avLst/>
            </a:prstGeom>
            <a:solidFill>
              <a:schemeClr val="bg2"/>
            </a:solidFill>
            <a:ln w="9525">
              <a:noFill/>
            </a:ln>
          </p:spPr>
          <p:txBody>
            <a:bodyPr anchor="t" anchorCtr="0"/>
            <a:p>
              <a:pPr lvl="0"/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marL="0" lvl="0" indent="0" algn="l" defTabSz="914400" rtl="0" eaLnBrk="1" fontAlgn="base" latinLnBrk="0" hangingPunct="1">
        <a:lnSpc>
          <a:spcPct val="90000"/>
        </a:lnSpc>
        <a:spcBef>
          <a:spcPct val="0"/>
        </a:spcBef>
        <a:spcAft>
          <a:spcPct val="0"/>
        </a:spcAft>
        <a:buNone/>
        <a:defRPr sz="3600" b="1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anose="05000000000000000000" pitchFamily="2" charset="2"/>
        <a:buChar char="l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tx1"/>
        </a:buClr>
        <a:buSzPct val="75000"/>
        <a:buFontTx/>
        <a:buChar char="–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anose="05000000000000000000" pitchFamily="2" charset="2"/>
        <a:buChar char="l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tx1"/>
        </a:buClr>
        <a:buSzPct val="80000"/>
        <a:buFontTx/>
        <a:buChar char="–"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l"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l"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l"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l"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l"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1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2pPr>
      <a:lvl3pPr marL="914400" lvl="2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1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3pPr>
      <a:lvl4pPr marL="1371600" lvl="3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1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4pPr>
      <a:lvl5pPr marL="1828800" lvl="4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1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5pPr>
      <a:lvl6pPr marL="2286000" lvl="5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1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6pPr>
      <a:lvl7pPr marL="2743200" lvl="6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1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7pPr>
      <a:lvl8pPr marL="3200400" lvl="7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1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8pPr>
      <a:lvl9pPr marL="3657600" lvl="8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1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50" name="标题 2049"/>
          <p:cNvSpPr>
            <a:spLocks noGrp="1"/>
          </p:cNvSpPr>
          <p:nvPr>
            <p:ph type="ctrTitle" sz="quarter"/>
          </p:nvPr>
        </p:nvSpPr>
        <p:spPr>
          <a:xfrm>
            <a:off x="611188" y="1341438"/>
            <a:ext cx="7772400" cy="1143000"/>
          </a:xfrm>
        </p:spPr>
        <p:txBody>
          <a:bodyPr anchor="ctr" anchorCtr="0"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5400" b="1" i="0" u="none" strike="noStrike" kern="1200" cap="none" spc="0" normalizeH="0" baseline="0" noProof="1" dirty="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j-cs"/>
              </a:rPr>
              <a:t>　</a:t>
            </a:r>
            <a:r>
              <a:rPr kumimoji="0" lang="zh-CN" altLang="en-US" sz="7200" b="1" i="0" u="none" strike="noStrike" kern="1200" cap="none" spc="0" normalizeH="0" baseline="0" noProof="1" dirty="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j-cs"/>
              </a:rPr>
              <a:t>中医基础理论</a:t>
            </a:r>
            <a:endParaRPr kumimoji="0" lang="zh-CN" altLang="en-US" sz="7200" b="1" i="0" u="none" strike="noStrike" kern="1200" cap="none" spc="0" normalizeH="0" baseline="0" noProof="1" dirty="0">
              <a:solidFill>
                <a:srgbClr val="FF0000"/>
              </a:solidFill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+mj-cs"/>
            </a:endParaRPr>
          </a:p>
        </p:txBody>
      </p:sp>
      <p:sp>
        <p:nvSpPr>
          <p:cNvPr id="2" name="流程图: 可选过程 1"/>
          <p:cNvSpPr/>
          <p:nvPr/>
        </p:nvSpPr>
        <p:spPr>
          <a:xfrm>
            <a:off x="4567238" y="4076700"/>
            <a:ext cx="3816350" cy="792163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r>
              <a:rPr lang="zh-CN" altLang="en-US" strike="noStrike" noProof="1">
                <a:solidFill>
                  <a:srgbClr val="C00000"/>
                </a:solidFill>
                <a:sym typeface="+mn-ea"/>
              </a:rPr>
              <a:t>新源县中医医院</a:t>
            </a:r>
            <a:r>
              <a:rPr lang="en-US" altLang="zh-CN" strike="noStrike" noProof="1">
                <a:solidFill>
                  <a:srgbClr val="C00000"/>
                </a:solidFill>
                <a:sym typeface="+mn-ea"/>
              </a:rPr>
              <a:t> </a:t>
            </a:r>
            <a:endParaRPr lang="en-US" altLang="zh-CN" strike="noStrike" noProof="1">
              <a:solidFill>
                <a:srgbClr val="C00000"/>
              </a:solidFill>
              <a:sym typeface="+mn-ea"/>
            </a:endParaRPr>
          </a:p>
        </p:txBody>
      </p:sp>
      <p:sp>
        <p:nvSpPr>
          <p:cNvPr id="4099" name="文本框 2"/>
          <p:cNvSpPr txBox="1"/>
          <p:nvPr/>
        </p:nvSpPr>
        <p:spPr>
          <a:xfrm>
            <a:off x="5580063" y="5516563"/>
            <a:ext cx="1814512" cy="584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>
                <a:latin typeface="Times New Roman" panose="02020603050405020304" pitchFamily="18" charset="0"/>
              </a:rPr>
              <a:t>   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高梅玲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辩证论治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       </a:t>
            </a:r>
            <a:r>
              <a:rPr lang="zh-CN" altLang="en-US" sz="3600" b="1"/>
              <a:t>八纲辩证</a:t>
            </a:r>
            <a:endParaRPr lang="zh-CN" altLang="en-US" sz="3600" b="1"/>
          </a:p>
          <a:p>
            <a:r>
              <a:rPr lang="en-US" altLang="zh-CN"/>
              <a:t>                       </a:t>
            </a:r>
            <a:r>
              <a:rPr lang="zh-CN" altLang="en-US"/>
              <a:t>脏腑辩证</a:t>
            </a:r>
            <a:endParaRPr lang="zh-CN" altLang="en-US"/>
          </a:p>
          <a:p>
            <a:r>
              <a:rPr lang="en-US" altLang="zh-CN"/>
              <a:t>                       </a:t>
            </a:r>
            <a:r>
              <a:rPr lang="zh-CN" altLang="en-US"/>
              <a:t>三焦辩证</a:t>
            </a:r>
            <a:endParaRPr lang="zh-CN" altLang="en-US"/>
          </a:p>
          <a:p>
            <a:r>
              <a:rPr lang="en-US" altLang="zh-CN"/>
              <a:t>                       </a:t>
            </a:r>
            <a:r>
              <a:rPr lang="zh-CN" altLang="en-US"/>
              <a:t>卫气营血辩证</a:t>
            </a:r>
            <a:endParaRPr lang="zh-CN" altLang="en-US"/>
          </a:p>
          <a:p>
            <a:r>
              <a:rPr lang="en-US" altLang="zh-CN"/>
              <a:t>                        </a:t>
            </a:r>
            <a:r>
              <a:rPr lang="zh-CN" altLang="en-US"/>
              <a:t>六经辩证</a:t>
            </a:r>
            <a:endParaRPr lang="zh-CN" altLang="en-US"/>
          </a:p>
          <a:p>
            <a:r>
              <a:rPr lang="en-US" altLang="zh-CN"/>
              <a:t>                        </a:t>
            </a:r>
            <a:r>
              <a:rPr lang="zh-CN" altLang="en-US"/>
              <a:t>病因辩证</a:t>
            </a:r>
            <a:endParaRPr lang="zh-CN" altLang="en-US"/>
          </a:p>
          <a:p>
            <a:r>
              <a:rPr lang="en-US" altLang="zh-CN"/>
              <a:t>                        </a:t>
            </a:r>
            <a:r>
              <a:rPr lang="zh-CN" altLang="en-US"/>
              <a:t>经络辩证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3" name="标题 5122"/>
          <p:cNvSpPr>
            <a:spLocks noGrp="1"/>
          </p:cNvSpPr>
          <p:nvPr>
            <p:ph type="title"/>
          </p:nvPr>
        </p:nvSpPr>
        <p:spPr/>
        <p:txBody>
          <a:bodyPr anchor="b" anchorCtr="0"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kern="1200" cap="none" spc="0" normalizeH="0" baseline="0" noProof="1" dirty="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八纲辨证的概念与源流 </a:t>
            </a:r>
            <a:endParaRPr kumimoji="0" lang="zh-CN" altLang="en-US" sz="3600" b="1" i="0" u="none" strike="noStrike" kern="1200" cap="none" spc="0" normalizeH="0" baseline="0" noProof="1" dirty="0">
              <a:solidFill>
                <a:schemeClr val="tx2"/>
              </a:solidFill>
              <a:effectLst>
                <a:outerShdw blurRad="38100" dist="38100" dir="2700000">
                  <a:srgbClr val="C0C0C0"/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5122" name="文本占位符 5121"/>
          <p:cNvSpPr>
            <a:spLocks noGrp="1"/>
          </p:cNvSpPr>
          <p:nvPr>
            <p:ph idx="1"/>
          </p:nvPr>
        </p:nvSpPr>
        <p:spPr>
          <a:xfrm>
            <a:off x="611188" y="2420938"/>
            <a:ext cx="8208963" cy="4032250"/>
          </a:xfrm>
        </p:spPr>
        <p:txBody>
          <a:bodyPr/>
          <a:p>
            <a:pPr marL="342900" marR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None/>
            </a:pP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什么叫八纲</a:t>
            </a:r>
            <a:endParaRPr kumimoji="0" lang="zh-CN" altLang="en-US" sz="2800" b="1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+mn-lt"/>
              <a:ea typeface="+mn-ea"/>
              <a:cs typeface="+mn-cs"/>
            </a:endParaRPr>
          </a:p>
          <a:p>
            <a:pPr marL="342900" marR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Char char="l"/>
            </a:pP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八纲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——</a:t>
            </a: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表、里、寒、热、虚、实、阴、阳</a:t>
            </a:r>
            <a:endParaRPr kumimoji="0" lang="zh-CN" altLang="en-US" sz="2800" b="1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+mn-lt"/>
              <a:ea typeface="+mn-ea"/>
              <a:cs typeface="+mn-cs"/>
            </a:endParaRPr>
          </a:p>
          <a:p>
            <a:pPr marL="342900" marR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None/>
            </a:pP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                 八个辨证的纲领。</a:t>
            </a:r>
            <a:endParaRPr kumimoji="0" lang="zh-CN" altLang="en-US" sz="2800" b="1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+mn-lt"/>
              <a:ea typeface="+mn-ea"/>
              <a:cs typeface="+mn-cs"/>
            </a:endParaRPr>
          </a:p>
          <a:p>
            <a:pPr marL="342900" marR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None/>
            </a:pP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什么叫八纲辨证</a:t>
            </a:r>
            <a:endParaRPr kumimoji="0" lang="zh-CN" altLang="en-US" sz="2800" b="1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+mn-lt"/>
              <a:ea typeface="+mn-ea"/>
              <a:cs typeface="+mn-cs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Char char="l"/>
            </a:pP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八纲辨证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——</a:t>
            </a: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是辨证论治的总纲。是医生根据四诊所搜集的各种病情资料，将疾病的病位、性质、邪证盛衰、证候类别等情况归纳为表里、寒热、虚实、阴阳八个纲领就叫做八纲辨证。 </a:t>
            </a:r>
            <a:endParaRPr kumimoji="0" lang="zh-CN" altLang="en-US" sz="2800" b="1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3714" name="标题 243713"/>
          <p:cNvSpPr>
            <a:spLocks noGrp="1"/>
          </p:cNvSpPr>
          <p:nvPr>
            <p:ph type="title"/>
          </p:nvPr>
        </p:nvSpPr>
        <p:spPr/>
        <p:txBody>
          <a:bodyPr anchor="b" anchorCtr="0"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kern="1200" cap="none" spc="0" normalizeH="0" baseline="0" noProof="1" dirty="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八纲辨证的概念与源流</a:t>
            </a:r>
            <a:endParaRPr kumimoji="0" lang="zh-CN" altLang="en-US" sz="3600" b="1" i="0" u="none" strike="noStrike" kern="1200" cap="none" spc="0" normalizeH="0" baseline="0" noProof="1" dirty="0">
              <a:solidFill>
                <a:schemeClr val="tx2"/>
              </a:solidFill>
              <a:effectLst>
                <a:outerShdw blurRad="38100" dist="38100" dir="2700000">
                  <a:srgbClr val="C0C0C0"/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7170" name="文本占位符 243714"/>
          <p:cNvSpPr>
            <a:spLocks noGrp="1"/>
          </p:cNvSpPr>
          <p:nvPr>
            <p:ph idx="1"/>
          </p:nvPr>
        </p:nvSpPr>
        <p:spPr>
          <a:xfrm>
            <a:off x="900113" y="2349500"/>
            <a:ext cx="8001000" cy="3733800"/>
          </a:xfrm>
        </p:spPr>
        <p:txBody>
          <a:bodyPr anchor="t" anchorCtr="0"/>
          <a:p>
            <a:pPr>
              <a:buNone/>
            </a:pPr>
            <a:r>
              <a:rPr lang="zh-CN" altLang="en-US" b="1" dirty="0"/>
              <a:t>临床运用</a:t>
            </a:r>
            <a:endParaRPr lang="zh-CN" altLang="en-US" b="1" dirty="0"/>
          </a:p>
          <a:p>
            <a:pPr>
              <a:buNone/>
            </a:pPr>
            <a:r>
              <a:rPr lang="zh-CN" altLang="en-US" dirty="0"/>
              <a:t>    八纲辨证之间相互联系不可分割，任何一对和其它两对相连，辩表里须与寒热、虚实相关联。在一定条件下，症候之间还会相互转化，疾病发展到严重阶段还会出现假象。</a:t>
            </a:r>
            <a:endParaRPr lang="zh-CN" altLang="en-US" dirty="0"/>
          </a:p>
          <a:p>
            <a:pPr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4738" name="标题 244737"/>
          <p:cNvSpPr>
            <a:spLocks noGrp="1"/>
          </p:cNvSpPr>
          <p:nvPr>
            <p:ph type="title"/>
          </p:nvPr>
        </p:nvSpPr>
        <p:spPr>
          <a:xfrm>
            <a:off x="900113" y="765175"/>
            <a:ext cx="8001000" cy="1143000"/>
          </a:xfrm>
        </p:spPr>
        <p:txBody>
          <a:bodyPr anchor="b" anchorCtr="0"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kern="1200" cap="none" spc="0" normalizeH="0" baseline="0" noProof="1" dirty="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八纲辨证的源流</a:t>
            </a:r>
            <a:endParaRPr kumimoji="0" lang="zh-CN" altLang="en-US" sz="3600" b="1" i="0" u="none" strike="noStrike" kern="1200" cap="none" spc="0" normalizeH="0" baseline="0" noProof="1" dirty="0">
              <a:solidFill>
                <a:schemeClr val="tx2"/>
              </a:solidFill>
              <a:effectLst>
                <a:outerShdw blurRad="38100" dist="38100" dir="2700000">
                  <a:srgbClr val="C0C0C0"/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8194" name="文本占位符 244738"/>
          <p:cNvSpPr>
            <a:spLocks noGrp="1"/>
          </p:cNvSpPr>
          <p:nvPr>
            <p:ph idx="1"/>
          </p:nvPr>
        </p:nvSpPr>
        <p:spPr/>
        <p:txBody>
          <a:bodyPr anchor="t" anchorCtr="0"/>
          <a:p>
            <a:pPr>
              <a:buNone/>
            </a:pPr>
            <a:r>
              <a:rPr lang="zh-CN" altLang="en-US" sz="2400" b="1" dirty="0"/>
              <a:t>八纲辨证出处和历代医家的论述</a:t>
            </a:r>
            <a:endParaRPr lang="zh-CN" altLang="en-US" sz="2400" b="1" dirty="0"/>
          </a:p>
          <a:p>
            <a:pPr>
              <a:buNone/>
            </a:pPr>
            <a:r>
              <a:rPr lang="zh-CN" altLang="en-US" sz="2400" b="1" dirty="0"/>
              <a:t>       奠基于</a:t>
            </a:r>
            <a:r>
              <a:rPr lang="en-US" altLang="zh-CN" sz="2400" b="1"/>
              <a:t>《</a:t>
            </a:r>
            <a:r>
              <a:rPr lang="zh-CN" altLang="en-US" sz="2400" b="1" dirty="0"/>
              <a:t>黄帝内经</a:t>
            </a:r>
            <a:r>
              <a:rPr lang="en-US" altLang="zh-CN" sz="2400" b="1"/>
              <a:t>》</a:t>
            </a:r>
            <a:endParaRPr lang="en-US" altLang="zh-CN" sz="2400" b="1"/>
          </a:p>
          <a:p>
            <a:pPr>
              <a:buNone/>
            </a:pPr>
            <a:r>
              <a:rPr lang="en-US" altLang="zh-CN" sz="2400" b="1"/>
              <a:t>       </a:t>
            </a:r>
            <a:r>
              <a:rPr lang="zh-CN" altLang="en-US" sz="2400" b="1" dirty="0"/>
              <a:t>运用于</a:t>
            </a:r>
            <a:r>
              <a:rPr lang="en-US" altLang="zh-CN" sz="2400" b="1"/>
              <a:t>《</a:t>
            </a:r>
            <a:r>
              <a:rPr lang="zh-CN" altLang="en-US" sz="2400" b="1" dirty="0"/>
              <a:t>伤寒杂病论</a:t>
            </a:r>
            <a:r>
              <a:rPr lang="en-US" altLang="zh-CN" sz="2400" b="1"/>
              <a:t>》</a:t>
            </a:r>
            <a:endParaRPr lang="en-US" altLang="zh-CN" sz="2400" b="1"/>
          </a:p>
          <a:p>
            <a:pPr>
              <a:buNone/>
            </a:pPr>
            <a:r>
              <a:rPr lang="en-US" altLang="zh-CN" sz="2400" b="1"/>
              <a:t>       </a:t>
            </a:r>
            <a:r>
              <a:rPr lang="zh-CN" altLang="en-US" sz="2400" b="1" dirty="0"/>
              <a:t>明代医家张景岳</a:t>
            </a:r>
            <a:r>
              <a:rPr lang="en-US" altLang="zh-CN" sz="2400" b="1"/>
              <a:t>《</a:t>
            </a:r>
            <a:r>
              <a:rPr lang="zh-CN" altLang="en-US" sz="2400" b="1" dirty="0"/>
              <a:t>景岳全书</a:t>
            </a:r>
            <a:r>
              <a:rPr lang="en-US" altLang="zh-CN" sz="2400" b="1"/>
              <a:t>》</a:t>
            </a:r>
            <a:r>
              <a:rPr lang="zh-CN" altLang="en-US" sz="2400" b="1" dirty="0"/>
              <a:t>说：“凡诊病施治，必须先审阴阳，明此者，万病皆指掌矣”</a:t>
            </a:r>
            <a:endParaRPr lang="zh-CN" altLang="en-US" sz="2400" b="1" dirty="0"/>
          </a:p>
          <a:p>
            <a:pPr>
              <a:buNone/>
            </a:pPr>
            <a:r>
              <a:rPr lang="zh-CN" altLang="en-US" sz="2400" b="1" dirty="0"/>
              <a:t>       清代医家程钟龄</a:t>
            </a:r>
            <a:r>
              <a:rPr lang="en-US" altLang="zh-CN" sz="2400" b="1"/>
              <a:t>《</a:t>
            </a:r>
            <a:r>
              <a:rPr lang="zh-CN" altLang="en-US" sz="2400" b="1" dirty="0"/>
              <a:t>医学心悟</a:t>
            </a:r>
            <a:r>
              <a:rPr lang="en-US" altLang="zh-CN" sz="2400" b="1"/>
              <a:t>》</a:t>
            </a:r>
            <a:r>
              <a:rPr lang="zh-CN" altLang="en-US" sz="2400" b="1" dirty="0"/>
              <a:t>说“医道至繁何以得其要领而执简驭繁、受病百端，不过表里、寒热、虚实、阴阳，八字尽之，则变而不变矣。”</a:t>
            </a:r>
            <a:endParaRPr lang="zh-CN" altLang="en-US" sz="2400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1" name="标题 7170"/>
          <p:cNvSpPr>
            <a:spLocks noGrp="1"/>
          </p:cNvSpPr>
          <p:nvPr>
            <p:ph type="title"/>
          </p:nvPr>
        </p:nvSpPr>
        <p:spPr>
          <a:xfrm>
            <a:off x="914400" y="1062038"/>
            <a:ext cx="8001000" cy="1143000"/>
          </a:xfrm>
        </p:spPr>
        <p:txBody>
          <a:bodyPr anchor="b" anchorCtr="0"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kern="1200" cap="none" spc="0" normalizeH="0" baseline="0" noProof="1" dirty="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八纲辨证的基本内容</a:t>
            </a:r>
            <a:b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</a:rPr>
            </a:br>
            <a:endParaRPr kumimoji="0" lang="zh-CN" altLang="en-US" sz="3600" b="1" i="0" u="none" strike="noStrike" kern="1200" cap="none" spc="0" normalizeH="0" baseline="0" noProof="1" dirty="0">
              <a:solidFill>
                <a:schemeClr val="tx2"/>
              </a:solidFill>
              <a:effectLst>
                <a:outerShdw blurRad="38100" dist="38100" dir="2700000">
                  <a:srgbClr val="C0C0C0"/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7170" name="文本占位符 7169"/>
          <p:cNvSpPr>
            <a:spLocks noGrp="1"/>
          </p:cNvSpPr>
          <p:nvPr>
            <p:ph idx="1"/>
          </p:nvPr>
        </p:nvSpPr>
        <p:spPr/>
        <p:txBody>
          <a:bodyPr/>
          <a:p>
            <a:pPr marL="342900" marR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Char char="l"/>
            </a:pP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通过对疾病的</a:t>
            </a:r>
            <a:r>
              <a:rPr kumimoji="0" lang="zh-CN" altLang="en-US" sz="2800" b="1" i="0" u="none" strike="noStrike" kern="1200" cap="none" spc="0" normalizeH="0" baseline="0" noProof="1" dirty="0">
                <a:solidFill>
                  <a:srgbClr val="CC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部位、性质、邪正盛衰</a:t>
            </a: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的辨别将其复杂的临床表现归纳为八种最基本的证候。</a:t>
            </a:r>
            <a:endParaRPr kumimoji="0" lang="zh-CN" altLang="en-US" sz="2800" b="1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+mn-lt"/>
              <a:ea typeface="+mn-ea"/>
              <a:cs typeface="+mn-cs"/>
            </a:endParaRPr>
          </a:p>
          <a:p>
            <a:pPr marL="342900" marR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Char char="l"/>
            </a:pP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表证与里证、寒证与热证、</a:t>
            </a:r>
            <a:endParaRPr kumimoji="0" lang="zh-CN" altLang="en-US" sz="2800" b="1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+mn-lt"/>
              <a:ea typeface="+mn-ea"/>
              <a:cs typeface="+mn-cs"/>
            </a:endParaRPr>
          </a:p>
          <a:p>
            <a:pPr marL="342900" marR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Char char="l"/>
            </a:pP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虚证与实证、阴证与阳证，</a:t>
            </a:r>
            <a:endParaRPr kumimoji="0" lang="zh-CN" altLang="en-US" sz="2800" b="1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+mn-lt"/>
              <a:ea typeface="+mn-ea"/>
              <a:cs typeface="+mn-cs"/>
            </a:endParaRPr>
          </a:p>
          <a:p>
            <a:pPr marL="342900" marR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Char char="l"/>
            </a:pP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四对既</a:t>
            </a:r>
            <a:r>
              <a:rPr kumimoji="0" lang="zh-CN" altLang="en-US" sz="2800" b="1" i="0" u="none" strike="noStrike" kern="1200" cap="none" spc="0" normalizeH="0" baseline="0" noProof="1" dirty="0">
                <a:solidFill>
                  <a:srgbClr val="CC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互相对立</a:t>
            </a: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而又</a:t>
            </a:r>
            <a:r>
              <a:rPr kumimoji="0" lang="zh-CN" altLang="en-US" sz="2800" b="1" i="0" u="none" strike="noStrike" kern="1200" cap="none" spc="0" normalizeH="0" baseline="0" noProof="1" dirty="0">
                <a:solidFill>
                  <a:srgbClr val="CC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互有联系</a:t>
            </a: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的八个方面证候</a:t>
            </a:r>
            <a:endParaRPr kumimoji="0" lang="zh-CN" altLang="en-US" sz="2800" b="1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+mn-lt"/>
              <a:ea typeface="+mn-ea"/>
              <a:cs typeface="+mn-cs"/>
            </a:endParaRPr>
          </a:p>
          <a:p>
            <a:pPr marL="342900" marR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Char char="l"/>
            </a:pP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其实，它们并不是完整而具体的证，</a:t>
            </a:r>
            <a:endParaRPr kumimoji="0" lang="zh-CN" altLang="en-US" sz="2800" b="1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+mn-lt"/>
              <a:ea typeface="+mn-ea"/>
              <a:cs typeface="+mn-cs"/>
            </a:endParaRPr>
          </a:p>
          <a:p>
            <a:pPr marL="342900" marR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None/>
            </a:pP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              只是对病情的大体分类而已。</a:t>
            </a:r>
            <a:endParaRPr kumimoji="0" lang="zh-CN" altLang="en-US" sz="2800" b="1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+mn-lt"/>
              <a:ea typeface="+mn-ea"/>
              <a:cs typeface="+mn-cs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Char char="l"/>
            </a:pPr>
            <a:endParaRPr kumimoji="0" lang="zh-CN" altLang="en-US" sz="2800" b="1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5" name="标题 8194"/>
          <p:cNvSpPr>
            <a:spLocks noGrp="1"/>
          </p:cNvSpPr>
          <p:nvPr>
            <p:ph type="title"/>
          </p:nvPr>
        </p:nvSpPr>
        <p:spPr/>
        <p:txBody>
          <a:bodyPr anchor="b" anchorCtr="0"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kern="1200" cap="none" spc="0" normalizeH="0" baseline="0" noProof="1" dirty="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+mj-ea"/>
                <a:cs typeface="+mj-cs"/>
              </a:rPr>
              <a:t>表里辨证</a:t>
            </a:r>
            <a:r>
              <a:rPr kumimoji="0" lang="zh-CN" altLang="en-US" sz="3600" b="1" i="0" u="none" strike="noStrike" kern="1200" cap="none" spc="0" normalizeH="0" baseline="0" noProof="1" dirty="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 </a:t>
            </a:r>
            <a:endParaRPr kumimoji="0" lang="zh-CN" altLang="en-US" sz="3600" b="1" i="0" u="none" strike="noStrike" kern="1200" cap="none" spc="0" normalizeH="0" baseline="0" noProof="1" dirty="0">
              <a:solidFill>
                <a:schemeClr val="tx2"/>
              </a:solidFill>
              <a:effectLst>
                <a:outerShdw blurRad="38100" dist="38100" dir="2700000">
                  <a:srgbClr val="C0C0C0"/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8194" name="文本占位符 8193"/>
          <p:cNvSpPr>
            <a:spLocks noGrp="1"/>
          </p:cNvSpPr>
          <p:nvPr>
            <p:ph idx="1"/>
          </p:nvPr>
        </p:nvSpPr>
        <p:spPr>
          <a:xfrm>
            <a:off x="611188" y="2420938"/>
            <a:ext cx="8388350" cy="3733800"/>
          </a:xfrm>
        </p:spPr>
        <p:txBody>
          <a:bodyPr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Char char="l"/>
            </a:pP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+mn-ea"/>
                <a:cs typeface="+mn-cs"/>
              </a:rPr>
              <a:t>表与里是用以概括和辨别</a:t>
            </a:r>
            <a:r>
              <a:rPr kumimoji="0" lang="zh-CN" altLang="en-US" sz="2800" b="1" i="0" u="none" strike="noStrike" kern="1200" cap="none" spc="0" normalizeH="0" baseline="0" noProof="1" dirty="0">
                <a:solidFill>
                  <a:srgbClr val="CC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+mn-ea"/>
                <a:cs typeface="+mn-cs"/>
              </a:rPr>
              <a:t>疾病部位</a:t>
            </a: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+mn-ea"/>
                <a:cs typeface="+mn-cs"/>
              </a:rPr>
              <a:t>和</a:t>
            </a:r>
            <a:r>
              <a:rPr kumimoji="0" lang="zh-CN" altLang="en-US" sz="2800" b="1" i="0" u="none" strike="noStrike" kern="1200" cap="none" spc="0" normalizeH="0" baseline="0" noProof="1" dirty="0">
                <a:solidFill>
                  <a:srgbClr val="CC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+mn-ea"/>
                <a:cs typeface="+mn-cs"/>
              </a:rPr>
              <a:t>病势趋向</a:t>
            </a: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+mn-ea"/>
                <a:cs typeface="+mn-cs"/>
              </a:rPr>
              <a:t>的一对纲领。</a:t>
            </a:r>
            <a:endParaRPr kumimoji="0" lang="zh-CN" altLang="en-US" sz="2800" b="1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宋体" panose="02010600030101010101" pitchFamily="2" charset="-122"/>
              <a:ea typeface="+mn-ea"/>
              <a:cs typeface="+mn-cs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Char char="l"/>
            </a:pP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+mn-ea"/>
                <a:cs typeface="+mn-cs"/>
              </a:rPr>
              <a:t>表与里是一对相对相对概念，可以从两个方面来看：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+mn-ea"/>
                <a:cs typeface="+mn-cs"/>
              </a:rPr>
              <a:t>1.</a:t>
            </a: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+mn-ea"/>
                <a:cs typeface="+mn-cs"/>
              </a:rPr>
              <a:t>从部位论  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+mn-ea"/>
                <a:cs typeface="+mn-cs"/>
              </a:rPr>
              <a:t>2.</a:t>
            </a: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+mn-ea"/>
                <a:cs typeface="+mn-cs"/>
              </a:rPr>
              <a:t>从病势趋向论</a:t>
            </a:r>
            <a:endParaRPr kumimoji="0" lang="zh-CN" altLang="en-US" sz="2800" b="1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宋体" panose="02010600030101010101" pitchFamily="2" charset="-122"/>
              <a:ea typeface="+mn-ea"/>
              <a:cs typeface="+mn-cs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Char char="l"/>
            </a:pP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+mn-ea"/>
                <a:cs typeface="+mn-cs"/>
              </a:rPr>
              <a:t>任何疾病的辨证，都应分辨病位的表里，而对于外感（热）病来说，其意义则尤为重要。</a:t>
            </a:r>
            <a:endParaRPr kumimoji="0" lang="zh-CN" altLang="en-US" sz="2800" b="1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宋体" panose="02010600030101010101" pitchFamily="2" charset="-122"/>
              <a:ea typeface="+mn-ea"/>
              <a:cs typeface="+mn-cs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Char char="l"/>
            </a:pPr>
            <a:endParaRPr kumimoji="0" lang="zh-CN" altLang="en-US" sz="2800" b="1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宋体" panose="02010600030101010101" pitchFamily="2" charset="-122"/>
              <a:ea typeface="+mn-ea"/>
              <a:cs typeface="+mn-cs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None/>
            </a:pPr>
            <a:endParaRPr kumimoji="0" lang="zh-CN" altLang="en-US" sz="2800" b="1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5" name="标题 245761"/>
          <p:cNvSpPr>
            <a:spLocks noGrp="1"/>
          </p:cNvSpPr>
          <p:nvPr>
            <p:ph type="title"/>
          </p:nvPr>
        </p:nvSpPr>
        <p:spPr/>
        <p:txBody>
          <a:bodyPr anchor="b" anchorCtr="0"/>
          <a:p>
            <a:r>
              <a:rPr lang="zh-CN" altLang="en-US" dirty="0"/>
              <a:t>适用范畴</a:t>
            </a:r>
            <a:endParaRPr lang="zh-CN" altLang="en-US" dirty="0"/>
          </a:p>
        </p:txBody>
      </p:sp>
      <p:sp>
        <p:nvSpPr>
          <p:cNvPr id="245763" name="文本占位符 245762"/>
          <p:cNvSpPr>
            <a:spLocks noGrp="1"/>
          </p:cNvSpPr>
          <p:nvPr>
            <p:ph idx="1"/>
          </p:nvPr>
        </p:nvSpPr>
        <p:spPr/>
        <p:txBody>
          <a:bodyPr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Char char="l"/>
            </a:pP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+mn-ea"/>
                <a:cs typeface="+mn-cs"/>
              </a:rPr>
              <a:t>表里辨证是对</a:t>
            </a:r>
            <a:r>
              <a:rPr kumimoji="0" lang="zh-CN" altLang="en-US" sz="2800" b="1" i="0" u="none" strike="noStrike" kern="1200" cap="none" spc="0" normalizeH="0" baseline="0" noProof="1" dirty="0">
                <a:solidFill>
                  <a:srgbClr val="CC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+mn-ea"/>
                <a:cs typeface="+mn-cs"/>
              </a:rPr>
              <a:t>外感病</a:t>
            </a: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+mn-ea"/>
                <a:cs typeface="+mn-cs"/>
              </a:rPr>
              <a:t>发展阶段性的</a:t>
            </a:r>
            <a:r>
              <a:rPr kumimoji="0" lang="zh-CN" altLang="en-US" sz="2800" b="1" i="0" u="none" strike="noStrike" kern="1200" cap="none" spc="0" normalizeH="0" baseline="0" noProof="1" dirty="0">
                <a:solidFill>
                  <a:srgbClr val="CC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+mn-ea"/>
                <a:cs typeface="+mn-cs"/>
              </a:rPr>
              <a:t>最基本</a:t>
            </a: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+mn-ea"/>
                <a:cs typeface="+mn-cs"/>
              </a:rPr>
              <a:t>的认识，它可说明</a:t>
            </a:r>
            <a:r>
              <a:rPr kumimoji="0" lang="zh-CN" altLang="en-US" sz="2800" b="1" i="0" u="none" strike="noStrike" kern="1200" cap="none" spc="0" normalizeH="0" baseline="0" noProof="1" dirty="0">
                <a:solidFill>
                  <a:srgbClr val="CC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+mn-ea"/>
                <a:cs typeface="+mn-cs"/>
              </a:rPr>
              <a:t>病情的轻重浅深</a:t>
            </a: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+mn-ea"/>
                <a:cs typeface="+mn-cs"/>
              </a:rPr>
              <a:t>及</a:t>
            </a:r>
            <a:r>
              <a:rPr kumimoji="0" lang="zh-CN" altLang="en-US" sz="2800" b="1" i="0" u="none" strike="noStrike" kern="1200" cap="none" spc="0" normalizeH="0" baseline="0" noProof="1" dirty="0">
                <a:solidFill>
                  <a:srgbClr val="CC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+mn-ea"/>
                <a:cs typeface="+mn-cs"/>
              </a:rPr>
              <a:t>病机变化的趋势</a:t>
            </a: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+mn-ea"/>
                <a:cs typeface="+mn-cs"/>
              </a:rPr>
              <a:t>，从而掌握疾病的</a:t>
            </a:r>
            <a:r>
              <a:rPr kumimoji="0" lang="zh-CN" altLang="en-US" sz="2800" b="1" i="0" u="none" strike="noStrike" kern="1200" cap="none" spc="0" normalizeH="0" baseline="0" noProof="1" dirty="0">
                <a:solidFill>
                  <a:srgbClr val="CC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+mn-ea"/>
                <a:cs typeface="+mn-cs"/>
              </a:rPr>
              <a:t>演变规律</a:t>
            </a: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+mn-ea"/>
                <a:cs typeface="+mn-cs"/>
              </a:rPr>
              <a:t>，取得诊疗的主动权。</a:t>
            </a:r>
            <a:endParaRPr kumimoji="0" lang="zh-CN" altLang="en-US" sz="2800" b="1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</a:pP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辩表里能判断病情的轻重、深浅及病理变化趋势进退，取得治疗上的主动权，为解表与治里提供依据。</a:t>
            </a:r>
            <a:endParaRPr kumimoji="0" lang="zh-CN" altLang="en-US" sz="2800" b="1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7" name="标题 1026"/>
          <p:cNvSpPr>
            <a:spLocks noGrp="1"/>
          </p:cNvSpPr>
          <p:nvPr>
            <p:ph type="title"/>
          </p:nvPr>
        </p:nvSpPr>
        <p:spPr>
          <a:xfrm>
            <a:off x="596900" y="608013"/>
            <a:ext cx="8001000" cy="1143000"/>
          </a:xfrm>
        </p:spPr>
        <p:txBody>
          <a:bodyPr anchor="b" anchorCtr="0"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kern="1200" cap="none" spc="0" normalizeH="0" baseline="0" noProof="1" dirty="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+mj-ea"/>
                <a:cs typeface="+mj-cs"/>
              </a:rPr>
              <a:t>表证</a:t>
            </a:r>
            <a:r>
              <a:rPr kumimoji="0" lang="zh-CN" altLang="en-US" sz="3600" b="1" i="0" u="none" strike="noStrike" kern="1200" cap="none" spc="0" normalizeH="0" baseline="0" noProof="1" dirty="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 </a:t>
            </a:r>
            <a:endParaRPr kumimoji="0" lang="zh-CN" altLang="en-US" sz="3600" b="1" i="0" u="none" strike="noStrike" kern="1200" cap="none" spc="0" normalizeH="0" baseline="0" noProof="1" dirty="0">
              <a:solidFill>
                <a:schemeClr val="tx2"/>
              </a:solidFill>
              <a:effectLst>
                <a:outerShdw blurRad="38100" dist="38100" dir="2700000">
                  <a:srgbClr val="C0C0C0"/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1026" name="文本占位符 1025"/>
          <p:cNvSpPr>
            <a:spLocks noGrp="1"/>
          </p:cNvSpPr>
          <p:nvPr>
            <p:ph idx="1"/>
          </p:nvPr>
        </p:nvSpPr>
        <p:spPr>
          <a:xfrm>
            <a:off x="684213" y="2349500"/>
            <a:ext cx="8001000" cy="3733800"/>
          </a:xfrm>
        </p:spPr>
        <p:txBody>
          <a:bodyPr/>
          <a:p>
            <a:pPr marL="342900" marR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Char char="l"/>
            </a:pP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基本概念：</a:t>
            </a:r>
            <a:endParaRPr kumimoji="0" lang="zh-CN" altLang="en-US" sz="2800" b="1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None/>
            </a:pP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  指外感六淫之邪气经皮毛、口鼻侵入机体，</a:t>
            </a:r>
            <a:endParaRPr kumimoji="0" lang="zh-CN" altLang="en-US" sz="2800" b="1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None/>
            </a:pP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  正气（卫气）抗邪所表现轻浅证候的概括。</a:t>
            </a:r>
            <a:endParaRPr kumimoji="0" lang="zh-CN" altLang="en-US" sz="2800" b="1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None/>
            </a:pP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  表证主要见于</a:t>
            </a:r>
            <a:r>
              <a:rPr kumimoji="0" lang="zh-CN" altLang="en-US" sz="2800" b="1" i="0" u="none" strike="noStrike" kern="1200" cap="none" spc="0" normalizeH="0" baseline="0" noProof="1" dirty="0">
                <a:solidFill>
                  <a:srgbClr val="CC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外感疾病初期</a:t>
            </a: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阶段。</a:t>
            </a:r>
            <a:endParaRPr kumimoji="0" lang="zh-CN" altLang="en-US" sz="2800" b="1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None/>
            </a:pPr>
            <a:endParaRPr kumimoji="0" lang="zh-CN" altLang="en-US" sz="2800" b="1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Char char="l"/>
            </a:pP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+mn-ea"/>
                <a:cs typeface="+mn-cs"/>
              </a:rPr>
              <a:t>特点：有感受外邪的因素可查，具有发病急、病程短等。</a:t>
            </a: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 </a:t>
            </a:r>
            <a:endParaRPr kumimoji="0" lang="zh-CN" altLang="en-US" sz="2800" b="1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1" name="标题 12290"/>
          <p:cNvSpPr>
            <a:spLocks noGrp="1"/>
          </p:cNvSpPr>
          <p:nvPr>
            <p:ph type="title"/>
          </p:nvPr>
        </p:nvSpPr>
        <p:spPr>
          <a:xfrm>
            <a:off x="887413" y="481013"/>
            <a:ext cx="8077200" cy="1219200"/>
          </a:xfrm>
        </p:spPr>
        <p:txBody>
          <a:bodyPr anchor="b" anchorCtr="0"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kern="1200" cap="none" spc="0" normalizeH="0" baseline="0" noProof="1" dirty="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+mj-ea"/>
                <a:cs typeface="+mj-cs"/>
              </a:rPr>
              <a:t>临床表现</a:t>
            </a:r>
            <a:r>
              <a:rPr kumimoji="0" lang="zh-CN" altLang="en-US" sz="3600" b="1" i="0" u="none" strike="noStrike" kern="1200" cap="none" spc="0" normalizeH="0" baseline="0" noProof="1" dirty="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 </a:t>
            </a:r>
            <a:endParaRPr kumimoji="0" lang="zh-CN" altLang="en-US" sz="3600" b="1" i="0" u="none" strike="noStrike" kern="1200" cap="none" spc="0" normalizeH="0" baseline="0" noProof="1" dirty="0">
              <a:solidFill>
                <a:schemeClr val="tx2"/>
              </a:solidFill>
              <a:effectLst>
                <a:outerShdw blurRad="38100" dist="38100" dir="2700000">
                  <a:srgbClr val="C0C0C0"/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12290" name="文本占位符 12289"/>
          <p:cNvSpPr>
            <a:spLocks noGrp="1"/>
          </p:cNvSpPr>
          <p:nvPr>
            <p:ph idx="1"/>
          </p:nvPr>
        </p:nvSpPr>
        <p:spPr>
          <a:xfrm>
            <a:off x="827088" y="2708275"/>
            <a:ext cx="7199313" cy="3097213"/>
          </a:xfrm>
        </p:spPr>
        <p:txBody>
          <a:bodyPr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Char char="l"/>
            </a:pP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+mn-ea"/>
                <a:cs typeface="+mn-cs"/>
              </a:rPr>
              <a:t>新起恶风寒，或恶寒发热、</a:t>
            </a:r>
            <a:endParaRPr kumimoji="0" lang="zh-CN" altLang="en-US" sz="2800" b="1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宋体" panose="02010600030101010101" pitchFamily="2" charset="-122"/>
              <a:ea typeface="+mn-ea"/>
              <a:cs typeface="+mn-cs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Char char="l"/>
            </a:pP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+mn-ea"/>
                <a:cs typeface="+mn-cs"/>
              </a:rPr>
              <a:t>头身痛、喷嚏，鼻塞，流涕，</a:t>
            </a:r>
            <a:endParaRPr kumimoji="0" lang="zh-CN" altLang="en-US" sz="2800" b="1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宋体" panose="02010600030101010101" pitchFamily="2" charset="-122"/>
              <a:ea typeface="+mn-ea"/>
              <a:cs typeface="+mn-cs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Char char="l"/>
            </a:pP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+mn-ea"/>
                <a:cs typeface="+mn-cs"/>
              </a:rPr>
              <a:t>咽喉痒痛，微有咳嗽，气喘等症</a:t>
            </a: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。</a:t>
            </a:r>
            <a:endParaRPr kumimoji="0" lang="zh-CN" altLang="en-US" sz="2800" b="1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+mn-lt"/>
              <a:ea typeface="+mn-ea"/>
              <a:cs typeface="+mn-cs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Char char="l"/>
            </a:pP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+mn-ea"/>
                <a:cs typeface="+mn-cs"/>
              </a:rPr>
              <a:t>舌苔薄白，脉浮。</a:t>
            </a:r>
            <a:endParaRPr kumimoji="0" lang="zh-CN" altLang="en-US" sz="2800" b="1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7" name="标题 135169"/>
          <p:cNvSpPr>
            <a:spLocks noGrp="1"/>
          </p:cNvSpPr>
          <p:nvPr>
            <p:ph type="title"/>
          </p:nvPr>
        </p:nvSpPr>
        <p:spPr>
          <a:xfrm>
            <a:off x="755650" y="620713"/>
            <a:ext cx="8001000" cy="1143000"/>
          </a:xfrm>
        </p:spPr>
        <p:txBody>
          <a:bodyPr anchor="b" anchorCtr="0"/>
          <a:p>
            <a:r>
              <a:rPr lang="zh-CN" altLang="en-US" dirty="0"/>
              <a:t>表证的共同特征</a:t>
            </a:r>
            <a:endParaRPr lang="zh-CN" altLang="en-US" dirty="0"/>
          </a:p>
        </p:txBody>
      </p:sp>
      <p:sp>
        <p:nvSpPr>
          <p:cNvPr id="135171" name="文本占位符 135170"/>
          <p:cNvSpPr>
            <a:spLocks noGrp="1"/>
          </p:cNvSpPr>
          <p:nvPr>
            <p:ph idx="1"/>
          </p:nvPr>
        </p:nvSpPr>
        <p:spPr>
          <a:xfrm>
            <a:off x="519113" y="2393950"/>
            <a:ext cx="8459788" cy="4300538"/>
          </a:xfrm>
        </p:spPr>
        <p:txBody>
          <a:bodyPr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</a:pP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感受六淫、疫戾</a:t>
            </a:r>
            <a:endParaRPr kumimoji="0" lang="zh-CN" altLang="en-US" sz="2800" b="1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+mn-lt"/>
              <a:ea typeface="+mn-ea"/>
              <a:cs typeface="+mn-cs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</a:pP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新起恶寒、或恶寒发热并见，</a:t>
            </a:r>
            <a:endParaRPr kumimoji="0" lang="zh-CN" altLang="en-US" sz="2800" b="1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+mn-lt"/>
              <a:ea typeface="+mn-ea"/>
              <a:cs typeface="+mn-cs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</a:pP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脉浮，舌苔没有明显变化</a:t>
            </a:r>
            <a:endParaRPr kumimoji="0" lang="zh-CN" altLang="en-US" sz="2800" b="1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+mn-lt"/>
              <a:ea typeface="+mn-ea"/>
              <a:cs typeface="+mn-cs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</a:pP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内部脏腑症状不明显</a:t>
            </a:r>
            <a:endParaRPr kumimoji="0" lang="zh-CN" altLang="en-US" sz="2800" b="1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+mn-lt"/>
              <a:ea typeface="+mn-ea"/>
              <a:cs typeface="+mn-cs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</a:pPr>
            <a:endParaRPr kumimoji="0" lang="zh-CN" altLang="en-US" sz="2800" b="1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1" name="标题 246785"/>
          <p:cNvSpPr>
            <a:spLocks noGrp="1"/>
          </p:cNvSpPr>
          <p:nvPr>
            <p:ph type="title"/>
          </p:nvPr>
        </p:nvSpPr>
        <p:spPr/>
        <p:txBody>
          <a:bodyPr anchor="b" anchorCtr="0"/>
          <a:p>
            <a:r>
              <a:rPr lang="zh-CN" altLang="en-US" dirty="0"/>
              <a:t>辩证要点</a:t>
            </a:r>
            <a:endParaRPr lang="zh-CN" altLang="en-US" dirty="0"/>
          </a:p>
        </p:txBody>
      </p:sp>
      <p:sp>
        <p:nvSpPr>
          <p:cNvPr id="15362" name="文本占位符 246786"/>
          <p:cNvSpPr>
            <a:spLocks noGrp="1"/>
          </p:cNvSpPr>
          <p:nvPr>
            <p:ph idx="1"/>
          </p:nvPr>
        </p:nvSpPr>
        <p:spPr/>
        <p:txBody>
          <a:bodyPr anchor="t" anchorCtr="0"/>
          <a:p>
            <a:r>
              <a:rPr lang="zh-CN" altLang="en-US" b="1" dirty="0"/>
              <a:t>一、有感受外邪的病因可找</a:t>
            </a:r>
            <a:endParaRPr lang="zh-CN" altLang="en-US" b="1" dirty="0"/>
          </a:p>
          <a:p>
            <a:endParaRPr lang="zh-CN" altLang="en-US" b="1" dirty="0"/>
          </a:p>
          <a:p>
            <a:r>
              <a:rPr lang="zh-CN" altLang="en-US" b="1" dirty="0"/>
              <a:t>二、有以寒热并见为必有症状</a:t>
            </a:r>
            <a:endParaRPr lang="zh-CN" altLang="en-US" b="1" dirty="0"/>
          </a:p>
          <a:p>
            <a:pPr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0290" name="标题 140289"/>
          <p:cNvSpPr>
            <a:spLocks noGrp="1"/>
          </p:cNvSpPr>
          <p:nvPr>
            <p:ph type="title"/>
          </p:nvPr>
        </p:nvSpPr>
        <p:spPr>
          <a:xfrm>
            <a:off x="539750" y="765175"/>
            <a:ext cx="8001000" cy="1143000"/>
          </a:xfrm>
        </p:spPr>
        <p:txBody>
          <a:bodyPr anchor="b" anchorCtr="0"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kern="1200" cap="none" spc="0" normalizeH="0" baseline="0" noProof="1" dirty="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+mj-ea"/>
                <a:cs typeface="+mj-cs"/>
              </a:rPr>
              <a:t>里证</a:t>
            </a:r>
            <a:endParaRPr kumimoji="0" lang="zh-CN" altLang="en-US" sz="3600" b="1" i="0" u="none" strike="noStrike" kern="1200" cap="none" spc="0" normalizeH="0" baseline="0" noProof="1" dirty="0">
              <a:solidFill>
                <a:schemeClr val="tx2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+mj-ea"/>
              <a:cs typeface="+mj-cs"/>
            </a:endParaRPr>
          </a:p>
        </p:txBody>
      </p:sp>
      <p:sp>
        <p:nvSpPr>
          <p:cNvPr id="140291" name="文本占位符 140290"/>
          <p:cNvSpPr>
            <a:spLocks noGrp="1"/>
          </p:cNvSpPr>
          <p:nvPr>
            <p:ph idx="1"/>
          </p:nvPr>
        </p:nvSpPr>
        <p:spPr>
          <a:xfrm>
            <a:off x="539750" y="1989138"/>
            <a:ext cx="8001000" cy="4038600"/>
          </a:xfrm>
        </p:spPr>
        <p:txBody>
          <a:bodyPr/>
          <a:p>
            <a:pPr marL="342900" marR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Char char="l"/>
            </a:pPr>
            <a:endParaRPr kumimoji="0" lang="en-US" altLang="zh-CN" sz="2800" b="1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+mn-lt"/>
              <a:ea typeface="+mn-ea"/>
              <a:cs typeface="+mn-cs"/>
            </a:endParaRPr>
          </a:p>
          <a:p>
            <a:pPr marL="342900" marR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Char char="l"/>
            </a:pP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基本概念：泛指病变部位在内，</a:t>
            </a:r>
            <a:endParaRPr kumimoji="0" lang="zh-CN" altLang="en-US" sz="2800" b="1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None/>
            </a:pP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    由脏腑、气血、骨髓等受病所反映的证候。</a:t>
            </a:r>
            <a:endParaRPr kumimoji="0" lang="zh-CN" altLang="en-US" sz="2800" b="1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Char char="l"/>
            </a:pPr>
            <a:endParaRPr kumimoji="0" lang="zh-CN" altLang="en-US" sz="2800" b="1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+mn-lt"/>
              <a:ea typeface="+mn-ea"/>
              <a:cs typeface="+mn-cs"/>
            </a:endParaRPr>
          </a:p>
          <a:p>
            <a:pPr marL="342900" marR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Char char="l"/>
            </a:pP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里证与表证相对而言，其概念非常笼统，范围非常广泛，可以说凡不是表证（及半表半里证）的特定证候，一般都可属于里证的范畴，即所谓“</a:t>
            </a:r>
            <a:r>
              <a:rPr kumimoji="0" lang="zh-CN" altLang="en-US" sz="2800" b="1" i="0" u="none" strike="noStrike" kern="1200" cap="none" spc="0" normalizeH="0" baseline="0" noProof="1" dirty="0">
                <a:solidFill>
                  <a:srgbClr val="CC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非表即里</a:t>
            </a: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”。</a:t>
            </a:r>
            <a:endParaRPr kumimoji="0" lang="zh-CN" altLang="en-US" sz="2800" b="1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1314" name="标题 141313"/>
          <p:cNvSpPr>
            <a:spLocks noGrp="1"/>
          </p:cNvSpPr>
          <p:nvPr>
            <p:ph type="title"/>
          </p:nvPr>
        </p:nvSpPr>
        <p:spPr>
          <a:xfrm>
            <a:off x="661988" y="765175"/>
            <a:ext cx="8001000" cy="1143000"/>
          </a:xfrm>
        </p:spPr>
        <p:txBody>
          <a:bodyPr anchor="b" anchorCtr="0"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3600" b="1" i="0" u="none" strike="noStrike" kern="1200" cap="none" spc="0" normalizeH="0" baseline="0" noProof="1" dirty="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+mj-ea"/>
                <a:cs typeface="+mj-cs"/>
              </a:rPr>
              <a:t>  </a:t>
            </a:r>
            <a:r>
              <a:rPr kumimoji="0" lang="zh-CN" altLang="en-US" sz="3600" b="1" i="0" u="none" strike="noStrike" kern="1200" cap="none" spc="0" normalizeH="0" baseline="0" noProof="1" dirty="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+mj-ea"/>
                <a:cs typeface="+mj-cs"/>
              </a:rPr>
              <a:t>里证的成因</a:t>
            </a:r>
            <a:endParaRPr kumimoji="0" lang="zh-CN" altLang="en-US" sz="3600" b="1" i="0" u="none" strike="noStrike" kern="1200" cap="none" spc="0" normalizeH="0" baseline="0" noProof="1" dirty="0">
              <a:solidFill>
                <a:schemeClr val="tx2"/>
              </a:solidFill>
              <a:effectLst>
                <a:outerShdw blurRad="38100" dist="38100" dir="2700000">
                  <a:srgbClr val="C0C0C0"/>
                </a:outerShdw>
              </a:effectLst>
              <a:latin typeface="宋体" panose="02010600030101010101" pitchFamily="2" charset="-122"/>
              <a:ea typeface="+mj-ea"/>
              <a:cs typeface="+mj-cs"/>
            </a:endParaRPr>
          </a:p>
        </p:txBody>
      </p:sp>
      <p:sp>
        <p:nvSpPr>
          <p:cNvPr id="141315" name="文本占位符 141314"/>
          <p:cNvSpPr>
            <a:spLocks noGrp="1"/>
          </p:cNvSpPr>
          <p:nvPr>
            <p:ph idx="1"/>
          </p:nvPr>
        </p:nvSpPr>
        <p:spPr>
          <a:xfrm>
            <a:off x="468313" y="2349500"/>
            <a:ext cx="8496300" cy="3733800"/>
          </a:xfrm>
        </p:spPr>
        <p:txBody>
          <a:bodyPr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None/>
            </a:pPr>
            <a:r>
              <a:rPr kumimoji="0" lang="en-US" altLang="zh-CN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+mn-ea"/>
                <a:cs typeface="+mn-cs"/>
              </a:rPr>
              <a:t>  </a:t>
            </a: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+mn-ea"/>
                <a:cs typeface="+mn-cs"/>
              </a:rPr>
              <a:t>大致有三种情况：</a:t>
            </a:r>
            <a:endParaRPr kumimoji="0" lang="zh-CN" altLang="en-US" sz="2800" b="1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宋体" panose="02010600030101010101" pitchFamily="2" charset="-122"/>
              <a:ea typeface="+mn-ea"/>
              <a:cs typeface="+mn-cs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None/>
            </a:pP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+mn-ea"/>
                <a:cs typeface="+mn-cs"/>
              </a:rPr>
              <a:t>  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+mn-ea"/>
                <a:cs typeface="+mn-cs"/>
              </a:rPr>
              <a:t>1.</a:t>
            </a: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+mn-ea"/>
                <a:cs typeface="+mn-cs"/>
              </a:rPr>
              <a:t>由</a:t>
            </a:r>
            <a:r>
              <a:rPr kumimoji="0" lang="zh-CN" altLang="en-US" sz="2800" b="1" i="0" u="none" strike="noStrike" kern="1200" cap="none" spc="0" normalizeH="0" baseline="0" noProof="1" dirty="0">
                <a:solidFill>
                  <a:srgbClr val="CC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+mn-ea"/>
                <a:cs typeface="+mn-cs"/>
              </a:rPr>
              <a:t>外邪</a:t>
            </a: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+mn-ea"/>
                <a:cs typeface="+mn-cs"/>
              </a:rPr>
              <a:t>不解，内传入里侵犯脏腑</a:t>
            </a:r>
            <a:endParaRPr kumimoji="0" lang="zh-CN" altLang="en-US" sz="2800" b="1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宋体" panose="02010600030101010101" pitchFamily="2" charset="-122"/>
              <a:ea typeface="+mn-ea"/>
              <a:cs typeface="+mn-cs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None/>
            </a:pP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+mn-ea"/>
                <a:cs typeface="+mn-cs"/>
              </a:rPr>
              <a:t>  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+mn-ea"/>
                <a:cs typeface="+mn-cs"/>
              </a:rPr>
              <a:t>2.</a:t>
            </a:r>
            <a:r>
              <a:rPr kumimoji="0" lang="zh-CN" altLang="en-US" sz="2800" b="1" i="0" u="none" strike="noStrike" kern="1200" cap="none" spc="0" normalizeH="0" baseline="0" noProof="1" dirty="0">
                <a:solidFill>
                  <a:srgbClr val="CC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+mn-ea"/>
                <a:cs typeface="+mn-cs"/>
              </a:rPr>
              <a:t>外邪</a:t>
            </a: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+mn-ea"/>
                <a:cs typeface="+mn-cs"/>
              </a:rPr>
              <a:t>直接侵犯脏腑</a:t>
            </a:r>
            <a:endParaRPr kumimoji="0" lang="zh-CN" altLang="en-US" sz="2800" b="1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宋体" panose="02010600030101010101" pitchFamily="2" charset="-122"/>
              <a:ea typeface="+mn-ea"/>
              <a:cs typeface="+mn-cs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None/>
            </a:pP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+mn-ea"/>
                <a:cs typeface="+mn-cs"/>
              </a:rPr>
              <a:t>  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+mn-ea"/>
                <a:cs typeface="+mn-cs"/>
              </a:rPr>
              <a:t>3.</a:t>
            </a: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+mn-ea"/>
                <a:cs typeface="+mn-cs"/>
              </a:rPr>
              <a:t>情志</a:t>
            </a:r>
            <a:r>
              <a:rPr kumimoji="0" lang="zh-CN" altLang="en-US" sz="2800" b="1" i="0" u="none" strike="noStrike" kern="1200" cap="none" spc="0" normalizeH="0" baseline="0" noProof="1" dirty="0">
                <a:solidFill>
                  <a:srgbClr val="CC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+mn-ea"/>
                <a:cs typeface="+mn-cs"/>
              </a:rPr>
              <a:t>内伤</a:t>
            </a: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+mn-ea"/>
                <a:cs typeface="+mn-cs"/>
              </a:rPr>
              <a:t>，饮食劳倦等因素，直接损伤脏腑，</a:t>
            </a:r>
            <a:endParaRPr kumimoji="0" lang="zh-CN" altLang="en-US" sz="2800" b="1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宋体" panose="02010600030101010101" pitchFamily="2" charset="-122"/>
              <a:ea typeface="+mn-ea"/>
              <a:cs typeface="+mn-cs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None/>
            </a:pP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+mn-ea"/>
                <a:cs typeface="+mn-cs"/>
              </a:rPr>
              <a:t>   使脏腑功能失调，气血逆乱而出现的种种病证</a:t>
            </a: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 。</a:t>
            </a:r>
            <a:endParaRPr kumimoji="0" lang="zh-CN" altLang="en-US" sz="2800" b="1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2338" name="标题 142337"/>
          <p:cNvSpPr>
            <a:spLocks noGrp="1"/>
          </p:cNvSpPr>
          <p:nvPr>
            <p:ph type="title"/>
          </p:nvPr>
        </p:nvSpPr>
        <p:spPr/>
        <p:txBody>
          <a:bodyPr anchor="b" anchorCtr="0"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kern="1200" cap="none" spc="0" normalizeH="0" baseline="0" noProof="1" dirty="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+mj-ea"/>
                <a:cs typeface="+mj-cs"/>
              </a:rPr>
              <a:t>临床表现</a:t>
            </a:r>
            <a:endParaRPr kumimoji="0" lang="zh-CN" altLang="en-US" sz="3600" b="1" i="0" u="none" strike="noStrike" kern="1200" cap="none" spc="0" normalizeH="0" baseline="0" noProof="1" dirty="0">
              <a:solidFill>
                <a:schemeClr val="tx2"/>
              </a:solidFill>
              <a:effectLst>
                <a:outerShdw blurRad="38100" dist="38100" dir="2700000">
                  <a:srgbClr val="C0C0C0"/>
                </a:outerShdw>
              </a:effectLst>
              <a:latin typeface="宋体" panose="02010600030101010101" pitchFamily="2" charset="-122"/>
              <a:ea typeface="+mj-ea"/>
              <a:cs typeface="+mj-cs"/>
            </a:endParaRPr>
          </a:p>
        </p:txBody>
      </p:sp>
      <p:sp>
        <p:nvSpPr>
          <p:cNvPr id="142339" name="文本占位符 142338"/>
          <p:cNvSpPr>
            <a:spLocks noGrp="1"/>
          </p:cNvSpPr>
          <p:nvPr>
            <p:ph idx="1"/>
          </p:nvPr>
        </p:nvSpPr>
        <p:spPr>
          <a:xfrm>
            <a:off x="611188" y="2565400"/>
            <a:ext cx="8001000" cy="3733800"/>
          </a:xfrm>
        </p:spPr>
        <p:txBody>
          <a:bodyPr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Char char="l"/>
            </a:pP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+mn-ea"/>
                <a:cs typeface="+mn-cs"/>
              </a:rPr>
              <a:t>症候繁多，临床表现要与寒热、虚实和脏腑辨证结合。这里仅与表证相对而言列举如下。</a:t>
            </a:r>
            <a:endParaRPr kumimoji="0" lang="zh-CN" altLang="en-US" sz="2800" b="1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宋体" panose="02010600030101010101" pitchFamily="2" charset="-122"/>
              <a:ea typeface="+mn-ea"/>
              <a:cs typeface="+mn-cs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Char char="l"/>
            </a:pP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+mn-ea"/>
                <a:cs typeface="+mn-cs"/>
              </a:rPr>
              <a:t>壮热、汗出、口渴、便结、腹痛、烦躁谵妄、腹泻呕吐、舌红苔黄或白腻、脉沉。</a:t>
            </a:r>
            <a:endParaRPr kumimoji="0" lang="zh-CN" altLang="en-US" sz="2800" b="1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7" name="标题 247809"/>
          <p:cNvSpPr>
            <a:spLocks noGrp="1"/>
          </p:cNvSpPr>
          <p:nvPr>
            <p:ph type="title"/>
          </p:nvPr>
        </p:nvSpPr>
        <p:spPr/>
        <p:txBody>
          <a:bodyPr anchor="b" anchorCtr="0"/>
          <a:p>
            <a:r>
              <a:rPr lang="zh-CN" altLang="en-US" dirty="0"/>
              <a:t>里证</a:t>
            </a:r>
            <a:endParaRPr lang="zh-CN" altLang="en-US" dirty="0"/>
          </a:p>
        </p:txBody>
      </p:sp>
      <p:sp>
        <p:nvSpPr>
          <p:cNvPr id="19458" name="文本占位符 247810"/>
          <p:cNvSpPr>
            <a:spLocks noGrp="1"/>
          </p:cNvSpPr>
          <p:nvPr>
            <p:ph idx="1"/>
          </p:nvPr>
        </p:nvSpPr>
        <p:spPr/>
        <p:txBody>
          <a:bodyPr anchor="t" anchorCtr="0"/>
          <a:p>
            <a:r>
              <a:rPr lang="zh-CN" altLang="en-US" b="1" dirty="0"/>
              <a:t>辩证要点</a:t>
            </a:r>
            <a:endParaRPr lang="zh-CN" altLang="en-US" b="1" dirty="0"/>
          </a:p>
          <a:p>
            <a:pPr>
              <a:buNone/>
            </a:pPr>
            <a:r>
              <a:rPr lang="zh-CN" altLang="en-US" dirty="0"/>
              <a:t>一、病位已不在表，也非半表半里，邪已深入于内。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二、以病邪入侵不同的脏腑而症状而各异，通常以辩实热、实寒证为例。</a:t>
            </a:r>
            <a:endParaRPr lang="zh-CN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1" name="标题 248833"/>
          <p:cNvSpPr>
            <a:spLocks noGrp="1"/>
          </p:cNvSpPr>
          <p:nvPr>
            <p:ph type="title"/>
          </p:nvPr>
        </p:nvSpPr>
        <p:spPr/>
        <p:txBody>
          <a:bodyPr anchor="b" anchorCtr="0"/>
          <a:p>
            <a:r>
              <a:rPr lang="zh-CN" altLang="en-US" dirty="0"/>
              <a:t>表证和里证的关系</a:t>
            </a:r>
            <a:endParaRPr lang="zh-CN" altLang="en-US" dirty="0"/>
          </a:p>
        </p:txBody>
      </p:sp>
      <p:sp>
        <p:nvSpPr>
          <p:cNvPr id="20482" name="文本占位符 248834"/>
          <p:cNvSpPr>
            <a:spLocks noGrp="1"/>
          </p:cNvSpPr>
          <p:nvPr>
            <p:ph type="body" sz="half" idx="1"/>
          </p:nvPr>
        </p:nvSpPr>
        <p:spPr>
          <a:xfrm>
            <a:off x="914400" y="2362200"/>
            <a:ext cx="3924300" cy="3733800"/>
          </a:xfrm>
        </p:spPr>
        <p:txBody>
          <a:bodyPr anchor="t" anchorCtr="0"/>
          <a:p>
            <a:pPr defTabSz="914400">
              <a:buClr>
                <a:schemeClr val="tx1"/>
              </a:buClr>
              <a:buSzPct val="75000"/>
              <a:buFont typeface="Wingdings" panose="05000000000000000000" pitchFamily="2" charset="2"/>
            </a:pPr>
            <a:r>
              <a:rPr lang="zh-CN" altLang="en-US" sz="2400" dirty="0"/>
              <a:t>一、鉴别：</a:t>
            </a:r>
            <a:endParaRPr lang="zh-CN" altLang="en-US" sz="2400" dirty="0"/>
          </a:p>
          <a:p>
            <a:pPr defTabSz="914400">
              <a:buClr>
                <a:schemeClr val="tx1"/>
              </a:buClr>
              <a:buSzPct val="75000"/>
              <a:buFont typeface="Wingdings" panose="05000000000000000000" pitchFamily="2" charset="2"/>
            </a:pPr>
            <a:endParaRPr lang="zh-CN" altLang="en-US" sz="2400" dirty="0"/>
          </a:p>
          <a:p>
            <a:pPr defTabSz="914400">
              <a:buClr>
                <a:schemeClr val="tx1"/>
              </a:buClr>
              <a:buSzPct val="75000"/>
              <a:buFont typeface="Wingdings" panose="05000000000000000000" pitchFamily="2" charset="2"/>
            </a:pPr>
            <a:endParaRPr lang="zh-CN" altLang="en-US" sz="2400" dirty="0"/>
          </a:p>
        </p:txBody>
      </p:sp>
      <p:graphicFrame>
        <p:nvGraphicFramePr>
          <p:cNvPr id="248868" name="内容占位符 248867"/>
          <p:cNvGraphicFramePr/>
          <p:nvPr>
            <p:ph sz="half" idx="2"/>
          </p:nvPr>
        </p:nvGraphicFramePr>
        <p:xfrm>
          <a:off x="1116013" y="2878138"/>
          <a:ext cx="7632700" cy="3324225"/>
        </p:xfrm>
        <a:graphic>
          <a:graphicData uri="http://schemas.openxmlformats.org/drawingml/2006/table">
            <a:tbl>
              <a:tblPr/>
              <a:tblGrid>
                <a:gridCol w="1909763"/>
                <a:gridCol w="1906587"/>
                <a:gridCol w="1909763"/>
                <a:gridCol w="1906587"/>
              </a:tblGrid>
              <a:tr h="946150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dirty="0"/>
                    </a:p>
                  </a:txBody>
                  <a:tcPr anchor="ctr" anchorCtr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dirty="0"/>
                        <a:t>寒热</a:t>
                      </a:r>
                      <a:endParaRPr lang="zh-CN" altLang="en-US" dirty="0"/>
                    </a:p>
                  </a:txBody>
                  <a:tcPr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dirty="0"/>
                        <a:t>脉象</a:t>
                      </a:r>
                      <a:endParaRPr lang="zh-CN" altLang="en-US" dirty="0"/>
                    </a:p>
                  </a:txBody>
                  <a:tcPr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dirty="0"/>
                        <a:t>舌象</a:t>
                      </a:r>
                      <a:endParaRPr lang="zh-CN" altLang="en-US" dirty="0"/>
                    </a:p>
                  </a:txBody>
                  <a:tcPr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185863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dirty="0"/>
                        <a:t>表证</a:t>
                      </a:r>
                      <a:endParaRPr lang="zh-CN" altLang="en-US" dirty="0"/>
                    </a:p>
                  </a:txBody>
                  <a:tcPr anchor="ctr" anchorCtr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dirty="0"/>
                        <a:t>恶寒发热同时并见</a:t>
                      </a:r>
                      <a:endParaRPr lang="zh-CN" altLang="en-US" dirty="0"/>
                    </a:p>
                  </a:txBody>
                  <a:tcPr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dirty="0"/>
                        <a:t>浮</a:t>
                      </a:r>
                      <a:endParaRPr lang="zh-CN" altLang="en-US" dirty="0"/>
                    </a:p>
                  </a:txBody>
                  <a:tcPr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dirty="0"/>
                        <a:t>一般舌苔薄，舌质无明显变化</a:t>
                      </a:r>
                      <a:endParaRPr lang="zh-CN" altLang="en-US" dirty="0"/>
                    </a:p>
                  </a:txBody>
                  <a:tcPr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185862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dirty="0"/>
                        <a:t>里证</a:t>
                      </a:r>
                      <a:endParaRPr lang="zh-CN" altLang="en-US" dirty="0"/>
                    </a:p>
                  </a:txBody>
                  <a:tcPr anchor="ctr" anchorCtr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dirty="0"/>
                        <a:t>但寒不热、但热不寒或无寒热</a:t>
                      </a:r>
                      <a:endParaRPr lang="zh-CN" altLang="en-US" dirty="0"/>
                    </a:p>
                  </a:txBody>
                  <a:tcPr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dirty="0"/>
                        <a:t>沉</a:t>
                      </a:r>
                      <a:endParaRPr lang="zh-CN" altLang="en-US" dirty="0"/>
                    </a:p>
                  </a:txBody>
                  <a:tcPr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dirty="0"/>
                        <a:t>舌苔厚腻或无苔，舌质变化明显</a:t>
                      </a:r>
                      <a:endParaRPr lang="zh-CN" altLang="en-US" dirty="0"/>
                    </a:p>
                  </a:txBody>
                  <a:tcPr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5" name="标题 251905"/>
          <p:cNvSpPr>
            <a:spLocks noGrp="1"/>
          </p:cNvSpPr>
          <p:nvPr>
            <p:ph type="title"/>
          </p:nvPr>
        </p:nvSpPr>
        <p:spPr/>
        <p:txBody>
          <a:bodyPr anchor="b" anchorCtr="0"/>
          <a:p>
            <a:r>
              <a:rPr lang="zh-CN" altLang="en-US" dirty="0"/>
              <a:t>表证和里证的关系</a:t>
            </a:r>
            <a:endParaRPr lang="zh-CN" altLang="en-US" dirty="0"/>
          </a:p>
        </p:txBody>
      </p:sp>
      <p:sp>
        <p:nvSpPr>
          <p:cNvPr id="21506" name="文本占位符 251906"/>
          <p:cNvSpPr>
            <a:spLocks noGrp="1"/>
          </p:cNvSpPr>
          <p:nvPr>
            <p:ph idx="1"/>
          </p:nvPr>
        </p:nvSpPr>
        <p:spPr/>
        <p:txBody>
          <a:bodyPr anchor="t" anchorCtr="0"/>
          <a:p>
            <a:r>
              <a:rPr lang="zh-CN" altLang="en-US" dirty="0"/>
              <a:t>二、相互关系</a:t>
            </a:r>
            <a:endParaRPr lang="zh-CN" altLang="en-US" dirty="0"/>
          </a:p>
          <a:p>
            <a:r>
              <a:rPr lang="zh-CN" altLang="en-US" dirty="0"/>
              <a:t>有两种情况</a:t>
            </a:r>
            <a:endParaRPr lang="zh-CN" altLang="en-US" dirty="0"/>
          </a:p>
          <a:p>
            <a:r>
              <a:rPr lang="zh-CN" altLang="en-US" dirty="0"/>
              <a:t>转化</a:t>
            </a:r>
            <a:endParaRPr lang="zh-CN" altLang="en-US" dirty="0"/>
          </a:p>
          <a:p>
            <a:r>
              <a:rPr lang="zh-CN" altLang="en-US" dirty="0"/>
              <a:t>表里同病</a:t>
            </a:r>
            <a:endParaRPr lang="zh-CN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4386" name="标题 144385"/>
          <p:cNvSpPr>
            <a:spLocks noGrp="1"/>
          </p:cNvSpPr>
          <p:nvPr>
            <p:ph type="title"/>
          </p:nvPr>
        </p:nvSpPr>
        <p:spPr/>
        <p:txBody>
          <a:bodyPr anchor="b" anchorCtr="0"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kern="1200" cap="none" spc="0" normalizeH="0" baseline="0" noProof="1" dirty="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+mj-ea"/>
                <a:cs typeface="+mj-cs"/>
              </a:rPr>
              <a:t>半表半里证</a:t>
            </a:r>
            <a:endParaRPr kumimoji="0" lang="zh-CN" altLang="en-US" sz="3600" b="1" i="0" u="none" strike="noStrike" kern="1200" cap="none" spc="0" normalizeH="0" baseline="0" noProof="1" dirty="0">
              <a:solidFill>
                <a:schemeClr val="tx2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+mj-ea"/>
              <a:cs typeface="+mj-cs"/>
            </a:endParaRPr>
          </a:p>
        </p:txBody>
      </p:sp>
      <p:sp>
        <p:nvSpPr>
          <p:cNvPr id="144387" name="文本占位符 144386"/>
          <p:cNvSpPr>
            <a:spLocks noGrp="1"/>
          </p:cNvSpPr>
          <p:nvPr>
            <p:ph idx="1"/>
          </p:nvPr>
        </p:nvSpPr>
        <p:spPr>
          <a:xfrm>
            <a:off x="395288" y="2276475"/>
            <a:ext cx="8459788" cy="3733800"/>
          </a:xfrm>
        </p:spPr>
        <p:txBody>
          <a:bodyPr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None/>
            </a:pPr>
            <a:endParaRPr kumimoji="0" lang="en-US" altLang="zh-CN" sz="3200" b="1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宋体" panose="02010600030101010101" pitchFamily="2" charset="-122"/>
              <a:ea typeface="+mn-ea"/>
              <a:cs typeface="+mn-cs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None/>
            </a:pPr>
            <a:r>
              <a:rPr kumimoji="0" lang="en-US" altLang="zh-CN" sz="32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+mn-ea"/>
                <a:cs typeface="+mn-cs"/>
              </a:rPr>
              <a:t>           </a:t>
            </a:r>
            <a:r>
              <a:rPr kumimoji="0" lang="zh-CN" altLang="en-US" sz="32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+mn-ea"/>
                <a:cs typeface="+mn-cs"/>
              </a:rPr>
              <a:t>在六经辨证中称为少阳病证</a:t>
            </a:r>
            <a:endParaRPr kumimoji="0" lang="zh-CN" altLang="en-US" sz="3200" b="1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宋体" panose="02010600030101010101" pitchFamily="2" charset="-122"/>
              <a:ea typeface="+mn-ea"/>
              <a:cs typeface="+mn-cs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None/>
            </a:pPr>
            <a:endParaRPr kumimoji="0" lang="zh-CN" altLang="en-US" sz="3200" b="1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宋体" panose="02010600030101010101" pitchFamily="2" charset="-122"/>
              <a:ea typeface="+mn-ea"/>
              <a:cs typeface="+mn-cs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None/>
            </a:pPr>
            <a:r>
              <a:rPr kumimoji="0" lang="zh-CN" altLang="en-US" sz="32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+mn-ea"/>
                <a:cs typeface="+mn-cs"/>
              </a:rPr>
              <a:t>  外邪由表内传，尚未入于里，</a:t>
            </a:r>
            <a:endParaRPr kumimoji="0" lang="zh-CN" altLang="en-US" sz="3200" b="1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宋体" panose="02010600030101010101" pitchFamily="2" charset="-122"/>
              <a:ea typeface="+mn-ea"/>
              <a:cs typeface="+mn-cs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None/>
            </a:pPr>
            <a:r>
              <a:rPr kumimoji="0" lang="zh-CN" altLang="en-US" sz="32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+mn-ea"/>
                <a:cs typeface="+mn-cs"/>
              </a:rPr>
              <a:t>  或里邪透表，尚未至于表，</a:t>
            </a:r>
            <a:endParaRPr kumimoji="0" lang="zh-CN" altLang="en-US" sz="3200" b="1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宋体" panose="02010600030101010101" pitchFamily="2" charset="-122"/>
              <a:ea typeface="+mn-ea"/>
              <a:cs typeface="+mn-cs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None/>
            </a:pPr>
            <a:r>
              <a:rPr kumimoji="0" lang="zh-CN" altLang="en-US" sz="32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+mn-ea"/>
                <a:cs typeface="+mn-cs"/>
              </a:rPr>
              <a:t>    邪正相搏于表里之间</a:t>
            </a:r>
            <a:r>
              <a:rPr kumimoji="0" lang="en-US" altLang="zh-CN" sz="3200" b="1" i="0" u="none" strike="noStrike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——</a:t>
            </a:r>
            <a:r>
              <a:rPr kumimoji="0" lang="zh-CN" altLang="en-US" sz="32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+mn-ea"/>
                <a:cs typeface="+mn-cs"/>
              </a:rPr>
              <a:t>半表半里证。</a:t>
            </a:r>
            <a:endParaRPr kumimoji="0" lang="zh-CN" altLang="en-US" sz="3200" b="1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+mn-lt"/>
              <a:ea typeface="+mn-ea"/>
              <a:cs typeface="+mn-cs"/>
            </a:endParaRPr>
          </a:p>
        </p:txBody>
      </p:sp>
      <p:sp>
        <p:nvSpPr>
          <p:cNvPr id="22531" name="右大括号 144387"/>
          <p:cNvSpPr/>
          <p:nvPr/>
        </p:nvSpPr>
        <p:spPr>
          <a:xfrm>
            <a:off x="6011863" y="4149725"/>
            <a:ext cx="215900" cy="936625"/>
          </a:xfrm>
          <a:prstGeom prst="rightBrace">
            <a:avLst>
              <a:gd name="adj1" fmla="val 36111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p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3" name="标题 145409"/>
          <p:cNvSpPr>
            <a:spLocks noGrp="1"/>
          </p:cNvSpPr>
          <p:nvPr>
            <p:ph type="title"/>
          </p:nvPr>
        </p:nvSpPr>
        <p:spPr/>
        <p:txBody>
          <a:bodyPr anchor="b" anchorCtr="0"/>
          <a:p>
            <a:r>
              <a:rPr lang="zh-CN" altLang="en-US" dirty="0">
                <a:latin typeface="宋体" panose="02010600030101010101" pitchFamily="2" charset="-122"/>
              </a:rPr>
              <a:t>临床表现</a:t>
            </a:r>
            <a:endParaRPr lang="zh-CN" altLang="en-US" dirty="0">
              <a:latin typeface="宋体" panose="02010600030101010101" pitchFamily="2" charset="-122"/>
            </a:endParaRPr>
          </a:p>
        </p:txBody>
      </p:sp>
      <p:sp>
        <p:nvSpPr>
          <p:cNvPr id="145411" name="文本占位符 145410"/>
          <p:cNvSpPr>
            <a:spLocks noGrp="1"/>
          </p:cNvSpPr>
          <p:nvPr>
            <p:ph idx="1"/>
          </p:nvPr>
        </p:nvSpPr>
        <p:spPr>
          <a:xfrm>
            <a:off x="468313" y="2420938"/>
            <a:ext cx="8351838" cy="4176713"/>
          </a:xfrm>
        </p:spPr>
        <p:txBody>
          <a:bodyPr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Char char="l"/>
            </a:pPr>
            <a:r>
              <a:rPr kumimoji="0" lang="zh-CN" altLang="en-US" sz="32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+mn-ea"/>
                <a:cs typeface="+mn-cs"/>
              </a:rPr>
              <a:t>寒热往来，胸胁苦满，心烦喜呕，</a:t>
            </a:r>
            <a:endParaRPr kumimoji="0" lang="zh-CN" altLang="en-US" sz="3200" b="1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宋体" panose="02010600030101010101" pitchFamily="2" charset="-122"/>
              <a:ea typeface="+mn-ea"/>
              <a:cs typeface="+mn-cs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None/>
            </a:pPr>
            <a:r>
              <a:rPr kumimoji="0" lang="zh-CN" altLang="en-US" sz="32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+mn-ea"/>
                <a:cs typeface="+mn-cs"/>
              </a:rPr>
              <a:t>  默默不欲饮食，口苦咽干，目眩，脉弦。</a:t>
            </a:r>
            <a:endParaRPr kumimoji="0" lang="zh-CN" altLang="en-US" sz="3200" b="1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宋体" panose="02010600030101010101" pitchFamily="2" charset="-122"/>
              <a:ea typeface="+mn-ea"/>
              <a:cs typeface="+mn-cs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None/>
            </a:pPr>
            <a:endParaRPr kumimoji="0" lang="zh-CN" altLang="en-US" sz="2800" b="1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宋体" panose="02010600030101010101" pitchFamily="2" charset="-122"/>
              <a:ea typeface="+mn-ea"/>
              <a:cs typeface="+mn-cs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Char char="l"/>
            </a:pPr>
            <a:r>
              <a:rPr kumimoji="0" lang="zh-CN" altLang="en-US" sz="32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+mn-ea"/>
                <a:cs typeface="+mn-cs"/>
              </a:rPr>
              <a:t>机理：</a:t>
            </a:r>
            <a:endParaRPr kumimoji="0" lang="zh-CN" altLang="en-US" sz="3200" b="1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宋体" panose="02010600030101010101" pitchFamily="2" charset="-122"/>
              <a:ea typeface="+mn-ea"/>
              <a:cs typeface="+mn-cs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None/>
            </a:pPr>
            <a:r>
              <a:rPr kumimoji="0" lang="zh-CN" altLang="en-US" sz="32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+mn-ea"/>
                <a:cs typeface="+mn-cs"/>
              </a:rPr>
              <a:t>  病在半表半里，正邪交争，</a:t>
            </a:r>
            <a:endParaRPr kumimoji="0" lang="zh-CN" altLang="en-US" sz="3200" b="1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宋体" panose="02010600030101010101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1554" name="标题 151553"/>
          <p:cNvSpPr>
            <a:spLocks noGrp="1"/>
          </p:cNvSpPr>
          <p:nvPr>
            <p:ph type="title"/>
          </p:nvPr>
        </p:nvSpPr>
        <p:spPr/>
        <p:txBody>
          <a:bodyPr anchor="b" anchorCtr="0"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kern="1200" cap="none" spc="0" normalizeH="0" baseline="0" noProof="1" dirty="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+mj-ea"/>
                <a:cs typeface="+mj-cs"/>
              </a:rPr>
              <a:t>寒热辨证</a:t>
            </a:r>
            <a:r>
              <a:rPr kumimoji="0" lang="zh-CN" altLang="en-US" sz="3600" b="1" i="0" u="none" strike="noStrike" kern="1200" cap="none" spc="0" normalizeH="0" baseline="0" noProof="1" dirty="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 </a:t>
            </a:r>
            <a:endParaRPr kumimoji="0" lang="zh-CN" altLang="en-US" sz="3600" b="1" i="0" u="none" strike="noStrike" kern="1200" cap="none" spc="0" normalizeH="0" baseline="0" noProof="1" dirty="0">
              <a:solidFill>
                <a:schemeClr val="tx2"/>
              </a:solidFill>
              <a:effectLst>
                <a:outerShdw blurRad="38100" dist="38100" dir="2700000">
                  <a:srgbClr val="C0C0C0"/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151555" name="文本占位符 151554"/>
          <p:cNvSpPr>
            <a:spLocks noGrp="1"/>
          </p:cNvSpPr>
          <p:nvPr>
            <p:ph idx="1"/>
          </p:nvPr>
        </p:nvSpPr>
        <p:spPr>
          <a:xfrm>
            <a:off x="611188" y="2565400"/>
            <a:ext cx="8001000" cy="3527425"/>
          </a:xfrm>
        </p:spPr>
        <p:txBody>
          <a:bodyPr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Char char="l"/>
            </a:pP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寒热是辨别</a:t>
            </a:r>
            <a:r>
              <a:rPr kumimoji="0" lang="zh-CN" altLang="en-US" sz="2800" b="1" i="0" u="none" strike="noStrike" kern="1200" cap="none" spc="0" normalizeH="0" baseline="0" noProof="1" dirty="0">
                <a:solidFill>
                  <a:srgbClr val="CC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疾病性质</a:t>
            </a: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的一对纲领。也是疾病过程中阴阳偏盛偏衰的表现。</a:t>
            </a:r>
            <a:endParaRPr kumimoji="0" lang="zh-CN" altLang="en-US" sz="2800" b="1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None/>
            </a:pPr>
            <a:endParaRPr kumimoji="0" lang="zh-CN" altLang="en-US" sz="2800" b="1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None/>
            </a:pP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       </a:t>
            </a:r>
            <a:endParaRPr kumimoji="0" lang="zh-CN" altLang="en-US" sz="2800" b="1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1" name="标题 153601"/>
          <p:cNvSpPr>
            <a:spLocks noGrp="1"/>
          </p:cNvSpPr>
          <p:nvPr>
            <p:ph type="title"/>
          </p:nvPr>
        </p:nvSpPr>
        <p:spPr>
          <a:xfrm>
            <a:off x="611188" y="981075"/>
            <a:ext cx="8001000" cy="685800"/>
          </a:xfrm>
        </p:spPr>
        <p:txBody>
          <a:bodyPr anchor="b" anchorCtr="0"/>
          <a:p>
            <a:r>
              <a:rPr lang="zh-CN" altLang="en-US" dirty="0">
                <a:latin typeface="Times New Roman" panose="02020603050405020304" pitchFamily="18" charset="0"/>
              </a:rPr>
              <a:t>寒证</a:t>
            </a:r>
            <a:endParaRPr lang="zh-CN" altLang="en-US" dirty="0"/>
          </a:p>
        </p:txBody>
      </p:sp>
      <p:sp>
        <p:nvSpPr>
          <p:cNvPr id="153603" name="文本占位符 153602"/>
          <p:cNvSpPr>
            <a:spLocks noGrp="1"/>
          </p:cNvSpPr>
          <p:nvPr>
            <p:ph idx="1"/>
          </p:nvPr>
        </p:nvSpPr>
        <p:spPr>
          <a:xfrm>
            <a:off x="611188" y="2276475"/>
            <a:ext cx="7993063" cy="4248150"/>
          </a:xfrm>
        </p:spPr>
        <p:txBody>
          <a:bodyPr/>
          <a:p>
            <a:pPr marL="342900" marR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Char char="l"/>
            </a:pP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基本概念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:</a:t>
            </a:r>
            <a:endParaRPr kumimoji="0" lang="en-US" altLang="zh-CN" sz="2800" b="1" i="0" u="none" strike="noStrike" kern="1200" cap="none" spc="0" normalizeH="0" baseline="0" noProof="1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None/>
            </a:pPr>
            <a:r>
              <a:rPr kumimoji="0" lang="en-US" altLang="zh-CN" sz="2800" b="1" i="0" u="none" strike="noStrike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    </a:t>
            </a: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指</a:t>
            </a:r>
            <a:r>
              <a:rPr kumimoji="0" lang="zh-CN" altLang="en-US" sz="2800" b="1" i="0" u="none" strike="noStrike" kern="1200" cap="none" spc="0" normalizeH="0" baseline="0" noProof="1" dirty="0">
                <a:solidFill>
                  <a:srgbClr val="CC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感受寒邪</a:t>
            </a: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，或</a:t>
            </a:r>
            <a:r>
              <a:rPr kumimoji="0" lang="zh-CN" altLang="en-US" sz="2800" b="1" i="0" u="none" strike="noStrike" kern="1200" cap="none" spc="0" normalizeH="0" baseline="0" noProof="1" dirty="0">
                <a:solidFill>
                  <a:srgbClr val="CC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阳虚阴盛</a:t>
            </a: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，</a:t>
            </a:r>
            <a:endParaRPr kumimoji="0" lang="zh-CN" altLang="en-US" sz="2800" b="1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None/>
            </a:pP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    导致机体</a:t>
            </a:r>
            <a:r>
              <a:rPr kumimoji="0" lang="zh-CN" altLang="en-US" sz="2800" b="1" i="0" u="none" strike="noStrike" kern="1200" cap="none" spc="0" normalizeH="0" baseline="0" noProof="1" dirty="0">
                <a:solidFill>
                  <a:srgbClr val="CC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机能活动衰退</a:t>
            </a: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所表现的</a:t>
            </a:r>
            <a:endParaRPr kumimoji="0" lang="zh-CN" altLang="en-US" sz="2800" b="1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None/>
            </a:pP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    具有</a:t>
            </a:r>
            <a:r>
              <a:rPr kumimoji="0" lang="zh-CN" altLang="en-US" sz="2800" b="1" i="0" u="none" strike="noStrike" kern="1200" cap="none" spc="0" normalizeH="0" baseline="0" noProof="1" dirty="0">
                <a:solidFill>
                  <a:srgbClr val="CC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冷、凉</a:t>
            </a: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特点的证候。</a:t>
            </a:r>
            <a:endParaRPr kumimoji="0" lang="zh-CN" altLang="en-US" sz="2800" b="1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None/>
            </a:pPr>
            <a:endParaRPr kumimoji="0" lang="zh-CN" altLang="en-US" sz="2800" b="1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Char char="l"/>
            </a:pP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病因：多因外感阴寒邪气，</a:t>
            </a:r>
            <a:endParaRPr kumimoji="0" lang="zh-CN" altLang="en-US" sz="2800" b="1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None/>
            </a:pP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                或过服生冷寒凉，阴寒内盛，</a:t>
            </a:r>
            <a:endParaRPr kumimoji="0" lang="zh-CN" altLang="en-US" sz="2800" b="1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None/>
            </a:pP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                或因内伤久病，阳气耗伤。</a:t>
            </a:r>
            <a:endParaRPr kumimoji="0" lang="zh-CN" altLang="en-US" sz="2800" b="1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5" name="标题 154625"/>
          <p:cNvSpPr>
            <a:spLocks noGrp="1"/>
          </p:cNvSpPr>
          <p:nvPr>
            <p:ph type="title"/>
          </p:nvPr>
        </p:nvSpPr>
        <p:spPr>
          <a:xfrm>
            <a:off x="539750" y="1125538"/>
            <a:ext cx="8001000" cy="685800"/>
          </a:xfrm>
        </p:spPr>
        <p:txBody>
          <a:bodyPr anchor="b" anchorCtr="0"/>
          <a:p>
            <a:r>
              <a:rPr lang="zh-CN" altLang="en-US" dirty="0">
                <a:latin typeface="Times New Roman" panose="02020603050405020304" pitchFamily="18" charset="0"/>
              </a:rPr>
              <a:t>寒证</a:t>
            </a:r>
            <a:endParaRPr lang="zh-CN" altLang="en-US" dirty="0"/>
          </a:p>
        </p:txBody>
      </p:sp>
      <p:sp>
        <p:nvSpPr>
          <p:cNvPr id="154627" name="文本占位符 154626"/>
          <p:cNvSpPr>
            <a:spLocks noGrp="1"/>
          </p:cNvSpPr>
          <p:nvPr>
            <p:ph idx="1"/>
          </p:nvPr>
        </p:nvSpPr>
        <p:spPr>
          <a:xfrm>
            <a:off x="611188" y="2420938"/>
            <a:ext cx="8229600" cy="4191000"/>
          </a:xfrm>
        </p:spPr>
        <p:txBody>
          <a:bodyPr/>
          <a:p>
            <a:pPr marL="342900" marR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Char char="l"/>
            </a:pP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临床表现：各类寒证证候表现不尽一致，</a:t>
            </a:r>
            <a:endParaRPr kumimoji="0" lang="zh-CN" altLang="en-US" sz="2800" b="1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None/>
            </a:pP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但常见的有：</a:t>
            </a:r>
            <a:endParaRPr kumimoji="0" lang="zh-CN" altLang="en-US" sz="2800" b="1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None/>
            </a:pP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     恶寒，畏寒，冷痛，喜暖，</a:t>
            </a:r>
            <a:endParaRPr kumimoji="0" lang="zh-CN" altLang="en-US" sz="2800" b="1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None/>
            </a:pP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     口淡不渴，肢冷踡卧，痰、涎、涕清稀，</a:t>
            </a:r>
            <a:endParaRPr kumimoji="0" lang="zh-CN" altLang="en-US" sz="2800" b="1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None/>
            </a:pP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     小便清长，大便稀溏，面色白，</a:t>
            </a:r>
            <a:endParaRPr kumimoji="0" lang="zh-CN" altLang="en-US" sz="2800" b="1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None/>
            </a:pP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     舌淡苔白而润滑，脉迟或紧等。</a:t>
            </a:r>
            <a:endParaRPr kumimoji="0" lang="zh-CN" altLang="en-US" sz="2800" b="1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+mn-lt"/>
              <a:ea typeface="+mn-ea"/>
              <a:cs typeface="+mn-cs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Char char="l"/>
            </a:pPr>
            <a:endParaRPr kumimoji="0" lang="zh-CN" altLang="en-US" sz="28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49" name="标题 266241"/>
          <p:cNvSpPr>
            <a:spLocks noGrp="1"/>
          </p:cNvSpPr>
          <p:nvPr>
            <p:ph type="title"/>
          </p:nvPr>
        </p:nvSpPr>
        <p:spPr/>
        <p:txBody>
          <a:bodyPr anchor="b" anchorCtr="0"/>
          <a:p>
            <a:r>
              <a:rPr lang="zh-CN" altLang="en-US" dirty="0">
                <a:latin typeface="Times New Roman" panose="02020603050405020304" pitchFamily="18" charset="0"/>
              </a:rPr>
              <a:t>寒证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7650" name="文本占位符 266242"/>
          <p:cNvSpPr>
            <a:spLocks noGrp="1"/>
          </p:cNvSpPr>
          <p:nvPr>
            <p:ph idx="1"/>
          </p:nvPr>
        </p:nvSpPr>
        <p:spPr/>
        <p:txBody>
          <a:bodyPr anchor="t" anchorCtr="0"/>
          <a:p>
            <a:r>
              <a:rPr lang="zh-CN" altLang="en-US" b="1" dirty="0"/>
              <a:t>辩证要点</a:t>
            </a:r>
            <a:endParaRPr lang="zh-CN" altLang="en-US" b="1" dirty="0"/>
          </a:p>
          <a:p>
            <a:r>
              <a:rPr lang="zh-CN" altLang="en-US" b="1" dirty="0"/>
              <a:t>一、阳气不足或阴盛伤阳是主要机理</a:t>
            </a:r>
            <a:endParaRPr lang="zh-CN" altLang="en-US" b="1" dirty="0"/>
          </a:p>
          <a:p>
            <a:r>
              <a:rPr lang="zh-CN" altLang="en-US" b="1" dirty="0"/>
              <a:t>二、阳气受遏或不足，不能发挥温煦形体的作用。故根据主证恶寒、肢冷、蜷卧、喜暖、面白、舌淡、苔白滑等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3" name="标题 157697"/>
          <p:cNvSpPr>
            <a:spLocks noGrp="1"/>
          </p:cNvSpPr>
          <p:nvPr>
            <p:ph type="title"/>
          </p:nvPr>
        </p:nvSpPr>
        <p:spPr>
          <a:xfrm>
            <a:off x="755650" y="692150"/>
            <a:ext cx="8001000" cy="1143000"/>
          </a:xfrm>
        </p:spPr>
        <p:txBody>
          <a:bodyPr anchor="b" anchorCtr="0"/>
          <a:p>
            <a:r>
              <a:rPr lang="zh-CN" altLang="en-US" dirty="0">
                <a:latin typeface="Times New Roman" panose="02020603050405020304" pitchFamily="18" charset="0"/>
              </a:rPr>
              <a:t>热证</a:t>
            </a:r>
            <a:endParaRPr lang="zh-CN" altLang="en-US" dirty="0"/>
          </a:p>
        </p:txBody>
      </p:sp>
      <p:sp>
        <p:nvSpPr>
          <p:cNvPr id="157699" name="文本占位符 157698"/>
          <p:cNvSpPr>
            <a:spLocks noGrp="1"/>
          </p:cNvSpPr>
          <p:nvPr>
            <p:ph idx="1"/>
          </p:nvPr>
        </p:nvSpPr>
        <p:spPr>
          <a:xfrm>
            <a:off x="762000" y="2736850"/>
            <a:ext cx="8247063" cy="2665413"/>
          </a:xfrm>
          <a:solidFill>
            <a:schemeClr val="bg1">
              <a:alpha val="100000"/>
            </a:schemeClr>
          </a:solidFill>
        </p:spPr>
        <p:txBody>
          <a:bodyPr/>
          <a:p>
            <a:pPr marL="342900" marR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Char char="l"/>
            </a:pP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基本概念：</a:t>
            </a:r>
            <a:endParaRPr kumimoji="0" lang="zh-CN" altLang="en-US" sz="2800" b="1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None/>
            </a:pP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    指</a:t>
            </a:r>
            <a:r>
              <a:rPr kumimoji="0" lang="zh-CN" altLang="en-US" sz="2800" b="1" i="0" u="none" strike="noStrike" kern="1200" cap="none" spc="0" normalizeH="0" baseline="0" noProof="1" dirty="0">
                <a:solidFill>
                  <a:srgbClr val="CC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感受热邪</a:t>
            </a: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，或</a:t>
            </a:r>
            <a:r>
              <a:rPr kumimoji="0" lang="zh-CN" altLang="en-US" sz="2800" b="1" i="0" u="none" strike="noStrike" kern="1200" cap="none" spc="0" normalizeH="0" baseline="0" noProof="1" dirty="0">
                <a:solidFill>
                  <a:srgbClr val="CC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阴虚阳盛</a:t>
            </a: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，或</a:t>
            </a:r>
            <a:r>
              <a:rPr kumimoji="0" lang="zh-CN" altLang="en-US" sz="2800" b="1" i="0" u="none" strike="noStrike" kern="1200" cap="none" spc="0" normalizeH="0" baseline="0" noProof="1" dirty="0">
                <a:solidFill>
                  <a:srgbClr val="CC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脏腑阳气亢盛</a:t>
            </a: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，或</a:t>
            </a:r>
            <a:r>
              <a:rPr kumimoji="0" lang="zh-CN" altLang="en-US" sz="2800" b="1" i="0" u="none" strike="noStrike" kern="1200" cap="none" spc="0" normalizeH="0" baseline="0" noProof="1" dirty="0">
                <a:solidFill>
                  <a:srgbClr val="CC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五志化火</a:t>
            </a: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 导致</a:t>
            </a:r>
            <a:r>
              <a:rPr kumimoji="0" lang="zh-CN" altLang="en-US" sz="2800" b="1" i="0" u="none" strike="noStrike" kern="1200" cap="none" spc="0" normalizeH="0" baseline="0" noProof="1" dirty="0">
                <a:solidFill>
                  <a:srgbClr val="CC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机体机能活动亢进</a:t>
            </a:r>
            <a:endParaRPr kumimoji="0" lang="zh-CN" altLang="en-US" sz="2800" b="1" i="0" u="none" strike="noStrike" kern="1200" cap="none" spc="0" normalizeH="0" baseline="0" noProof="1" dirty="0">
              <a:solidFill>
                <a:srgbClr val="CC0000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None/>
            </a:pP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    所表现的具有</a:t>
            </a:r>
            <a:r>
              <a:rPr kumimoji="0" lang="zh-CN" altLang="en-US" sz="2800" b="1" i="0" u="none" strike="noStrike" kern="1200" cap="none" spc="0" normalizeH="0" baseline="0" noProof="1" dirty="0">
                <a:solidFill>
                  <a:srgbClr val="CC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温、热</a:t>
            </a: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特点的证候。</a:t>
            </a:r>
            <a:endParaRPr kumimoji="0" lang="zh-CN" altLang="en-US" sz="2800" b="1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7" name="标题 267265"/>
          <p:cNvSpPr>
            <a:spLocks noGrp="1"/>
          </p:cNvSpPr>
          <p:nvPr>
            <p:ph type="title"/>
          </p:nvPr>
        </p:nvSpPr>
        <p:spPr/>
        <p:txBody>
          <a:bodyPr anchor="b" anchorCtr="0"/>
          <a:p>
            <a:r>
              <a:rPr lang="zh-CN" altLang="en-US" dirty="0"/>
              <a:t>热证原因</a:t>
            </a:r>
            <a:endParaRPr lang="zh-CN" altLang="en-US" dirty="0"/>
          </a:p>
        </p:txBody>
      </p:sp>
      <p:sp>
        <p:nvSpPr>
          <p:cNvPr id="29698" name="文本占位符 267266"/>
          <p:cNvSpPr>
            <a:spLocks noGrp="1"/>
          </p:cNvSpPr>
          <p:nvPr>
            <p:ph idx="1"/>
          </p:nvPr>
        </p:nvSpPr>
        <p:spPr/>
        <p:txBody>
          <a:bodyPr anchor="t" anchorCtr="0"/>
          <a:p>
            <a:r>
              <a:rPr lang="zh-CN" altLang="en-US" b="1" dirty="0"/>
              <a:t>外感火热之邪</a:t>
            </a:r>
            <a:endParaRPr lang="zh-CN" altLang="en-US" b="1" dirty="0"/>
          </a:p>
          <a:p>
            <a:r>
              <a:rPr lang="zh-CN" altLang="en-US" b="1" dirty="0"/>
              <a:t>寒邪化热入里</a:t>
            </a:r>
            <a:endParaRPr lang="zh-CN" altLang="en-US" b="1" dirty="0"/>
          </a:p>
          <a:p>
            <a:r>
              <a:rPr lang="zh-CN" altLang="en-US" b="1" dirty="0"/>
              <a:t>七情过激郁而化火</a:t>
            </a:r>
            <a:endParaRPr lang="zh-CN" altLang="en-US" b="1" dirty="0"/>
          </a:p>
          <a:p>
            <a:r>
              <a:rPr lang="zh-CN" altLang="en-US" b="1" dirty="0"/>
              <a:t>饮食不节，积滞化热</a:t>
            </a:r>
            <a:endParaRPr lang="zh-CN" altLang="en-US" b="1" dirty="0"/>
          </a:p>
          <a:p>
            <a:r>
              <a:rPr lang="zh-CN" altLang="en-US" b="1" dirty="0"/>
              <a:t>房室劳伤，劫阴夺精，阴虚阳亢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1" name="标题 158721"/>
          <p:cNvSpPr>
            <a:spLocks noGrp="1"/>
          </p:cNvSpPr>
          <p:nvPr>
            <p:ph type="title"/>
          </p:nvPr>
        </p:nvSpPr>
        <p:spPr>
          <a:xfrm>
            <a:off x="900113" y="476250"/>
            <a:ext cx="8001000" cy="1143000"/>
          </a:xfrm>
        </p:spPr>
        <p:txBody>
          <a:bodyPr anchor="b" anchorCtr="0"/>
          <a:p>
            <a:r>
              <a:rPr lang="zh-CN" altLang="en-US" dirty="0">
                <a:latin typeface="Times New Roman" panose="02020603050405020304" pitchFamily="18" charset="0"/>
              </a:rPr>
              <a:t>热证</a:t>
            </a:r>
            <a:endParaRPr lang="zh-CN" altLang="en-US" dirty="0"/>
          </a:p>
        </p:txBody>
      </p:sp>
      <p:sp>
        <p:nvSpPr>
          <p:cNvPr id="158723" name="文本占位符 158722"/>
          <p:cNvSpPr>
            <a:spLocks noGrp="1"/>
          </p:cNvSpPr>
          <p:nvPr>
            <p:ph idx="1"/>
          </p:nvPr>
        </p:nvSpPr>
        <p:spPr>
          <a:xfrm>
            <a:off x="611188" y="2349500"/>
            <a:ext cx="8001000" cy="3733800"/>
          </a:xfrm>
        </p:spPr>
        <p:txBody>
          <a:bodyPr/>
          <a:p>
            <a:pPr marL="342900" marR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Char char="l"/>
            </a:pP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临床表现：</a:t>
            </a:r>
            <a:endParaRPr kumimoji="0" lang="zh-CN" altLang="en-US" sz="2800" b="1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None/>
            </a:pP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   各类热证的证候表现不尽一致，但常见的有：</a:t>
            </a:r>
            <a:endParaRPr kumimoji="0" lang="zh-CN" altLang="en-US" sz="2800" b="1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None/>
            </a:pP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   发热，恶热喜冷，口渴喜冷饮，</a:t>
            </a:r>
            <a:endParaRPr kumimoji="0" lang="zh-CN" altLang="en-US" sz="2800" b="1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None/>
            </a:pP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   面红目赤，烦燥不宁，</a:t>
            </a:r>
            <a:endParaRPr kumimoji="0" lang="zh-CN" altLang="en-US" sz="2800" b="1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None/>
            </a:pP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   痰、涕黄稠，</a:t>
            </a:r>
            <a:endParaRPr kumimoji="0" lang="zh-CN" altLang="en-US" sz="2800" b="1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None/>
            </a:pP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   小便短赤，大便干结，</a:t>
            </a:r>
            <a:endParaRPr kumimoji="0" lang="zh-CN" altLang="en-US" sz="2800" b="1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None/>
            </a:pP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   舌红苔黄而干燥，脉数等。</a:t>
            </a:r>
            <a:endParaRPr kumimoji="0" lang="zh-CN" altLang="en-US" sz="28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5" name="标题 268289"/>
          <p:cNvSpPr>
            <a:spLocks noGrp="1"/>
          </p:cNvSpPr>
          <p:nvPr>
            <p:ph type="title"/>
          </p:nvPr>
        </p:nvSpPr>
        <p:spPr/>
        <p:txBody>
          <a:bodyPr anchor="b" anchorCtr="0"/>
          <a:p>
            <a:r>
              <a:rPr lang="zh-CN" altLang="en-US" dirty="0"/>
              <a:t>热证</a:t>
            </a:r>
            <a:endParaRPr lang="zh-CN" altLang="en-US" dirty="0"/>
          </a:p>
        </p:txBody>
      </p:sp>
      <p:sp>
        <p:nvSpPr>
          <p:cNvPr id="31746" name="文本占位符 268290"/>
          <p:cNvSpPr>
            <a:spLocks noGrp="1"/>
          </p:cNvSpPr>
          <p:nvPr>
            <p:ph idx="1"/>
          </p:nvPr>
        </p:nvSpPr>
        <p:spPr/>
        <p:txBody>
          <a:bodyPr anchor="t" anchorCtr="0"/>
          <a:p>
            <a:r>
              <a:rPr lang="zh-CN" altLang="en-US" b="1" dirty="0"/>
              <a:t>辩证要点：</a:t>
            </a:r>
            <a:endParaRPr lang="zh-CN" altLang="en-US" b="1"/>
          </a:p>
          <a:p>
            <a:r>
              <a:rPr lang="zh-CN" altLang="en-US" dirty="0"/>
              <a:t>以阳热亢盛或阴虚内热为主要病理机制</a:t>
            </a:r>
            <a:endParaRPr lang="zh-CN" altLang="en-US" dirty="0"/>
          </a:p>
          <a:p>
            <a:r>
              <a:rPr lang="zh-CN" altLang="en-US" dirty="0"/>
              <a:t>以发热、恶热喜冷、面红目赤、脉数为主症</a:t>
            </a:r>
            <a:endParaRPr lang="zh-CN" altLang="en-US" dirty="0"/>
          </a:p>
          <a:p>
            <a:r>
              <a:rPr lang="zh-CN" altLang="en-US" dirty="0"/>
              <a:t>有热伤津液表现，如：渴饮、便结、尿赤、苔黄干</a:t>
            </a:r>
            <a:endParaRPr lang="zh-CN" altLang="en-US" dirty="0"/>
          </a:p>
          <a:p>
            <a:r>
              <a:rPr lang="zh-CN" altLang="en-US" dirty="0"/>
              <a:t>有火热灼伤血络，迫血妄行的表现，如：吐血、衂血</a:t>
            </a:r>
            <a:endParaRPr lang="zh-CN" alt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69" name="标题 161793"/>
          <p:cNvSpPr>
            <a:spLocks noGrp="1"/>
          </p:cNvSpPr>
          <p:nvPr>
            <p:ph type="title"/>
          </p:nvPr>
        </p:nvSpPr>
        <p:spPr/>
        <p:txBody>
          <a:bodyPr anchor="b" anchorCtr="0"/>
          <a:p>
            <a:r>
              <a:rPr lang="zh-CN" altLang="en-US" dirty="0">
                <a:latin typeface="Times New Roman" panose="02020603050405020304" pitchFamily="18" charset="0"/>
              </a:rPr>
              <a:t>寒热证鉴别要点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61795" name="文本占位符 161794"/>
          <p:cNvSpPr>
            <a:spLocks noGrp="1"/>
          </p:cNvSpPr>
          <p:nvPr>
            <p:ph idx="1"/>
          </p:nvPr>
        </p:nvSpPr>
        <p:spPr>
          <a:xfrm>
            <a:off x="611188" y="2349500"/>
            <a:ext cx="8208963" cy="3384550"/>
          </a:xfrm>
        </p:spPr>
        <p:txBody>
          <a:bodyPr/>
          <a:p>
            <a:pPr marL="342900" marR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None/>
            </a:pPr>
            <a:endParaRPr kumimoji="0" lang="en-US" altLang="zh-CN" sz="2800" b="1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+mn-lt"/>
              <a:ea typeface="+mn-ea"/>
              <a:cs typeface="+mn-cs"/>
            </a:endParaRPr>
          </a:p>
          <a:p>
            <a:pPr marL="342900" marR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Char char="l"/>
            </a:pP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寒证与热证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——</a:t>
            </a:r>
            <a:endParaRPr kumimoji="0" lang="en-US" altLang="zh-CN" sz="2800" b="1" i="0" u="none" strike="noStrike" kern="1200" cap="none" spc="0" normalizeH="0" baseline="0" noProof="1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None/>
            </a:pPr>
            <a:r>
              <a:rPr kumimoji="0" lang="en-US" altLang="zh-CN" sz="2800" b="1" i="0" u="none" strike="noStrike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           </a:t>
            </a: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是</a:t>
            </a:r>
            <a:r>
              <a:rPr kumimoji="0" lang="zh-CN" altLang="en-US" sz="2800" b="1" i="0" u="none" strike="noStrike" kern="1200" cap="none" spc="0" normalizeH="0" baseline="0" noProof="1" dirty="0">
                <a:solidFill>
                  <a:srgbClr val="CC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机体阴阳盛衰</a:t>
            </a: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的反映</a:t>
            </a:r>
            <a:endParaRPr kumimoji="0" lang="zh-CN" altLang="en-US" sz="2800" b="1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None/>
            </a:pP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           是</a:t>
            </a:r>
            <a:r>
              <a:rPr kumimoji="0" lang="zh-CN" altLang="en-US" sz="2800" b="1" i="0" u="none" strike="noStrike" kern="1200" cap="none" spc="0" normalizeH="0" baseline="0" noProof="1" dirty="0">
                <a:solidFill>
                  <a:srgbClr val="CC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疾病性质</a:t>
            </a: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的主要体现</a:t>
            </a:r>
            <a:endParaRPr kumimoji="0" lang="zh-CN" altLang="en-US" sz="2800" b="1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None/>
            </a:pP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           故应对疾病的</a:t>
            </a:r>
            <a:r>
              <a:rPr kumimoji="0" lang="zh-CN" altLang="en-US" sz="2800" b="1" i="0" u="none" strike="noStrike" kern="1200" cap="none" spc="0" normalizeH="0" baseline="0" noProof="1" dirty="0">
                <a:solidFill>
                  <a:srgbClr val="CC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全部表现</a:t>
            </a: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进行综合观察</a:t>
            </a:r>
            <a:endParaRPr kumimoji="0" lang="zh-CN" altLang="en-US" sz="28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2818" name="矩形 162817"/>
          <p:cNvSpPr/>
          <p:nvPr/>
        </p:nvSpPr>
        <p:spPr>
          <a:xfrm>
            <a:off x="1331913" y="2708275"/>
            <a:ext cx="5080000" cy="252888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fontAlgn="base"/>
            <a:r>
              <a:rPr lang="zh-CN" altLang="en-US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恶寒发热及对寒热的喜恶，</a:t>
            </a:r>
            <a:endParaRPr lang="zh-CN" altLang="en-US" strike="noStrike" noProof="1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 fontAlgn="base"/>
            <a:r>
              <a:rPr lang="zh-CN" altLang="en-US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口渴与否，面色的赤白，</a:t>
            </a:r>
            <a:endParaRPr lang="zh-CN" altLang="en-US" strike="noStrike" noProof="1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 fontAlgn="base"/>
            <a:r>
              <a:rPr lang="zh-CN" altLang="en-US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四肢的温凉，二便、</a:t>
            </a:r>
            <a:endParaRPr lang="zh-CN" altLang="en-US" strike="noStrike" noProof="1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 fontAlgn="base"/>
            <a:r>
              <a:rPr lang="zh-CN" altLang="en-US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舌象、脉象等</a:t>
            </a:r>
            <a:endParaRPr lang="zh-CN" altLang="en-US" strike="noStrike" noProof="1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 fontAlgn="base"/>
            <a:endParaRPr lang="zh-CN" altLang="en-US" strike="noStrike" noProof="1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62819" name="标题 162818"/>
          <p:cNvSpPr>
            <a:spLocks noGrp="1"/>
          </p:cNvSpPr>
          <p:nvPr>
            <p:ph type="title"/>
          </p:nvPr>
        </p:nvSpPr>
        <p:spPr/>
        <p:txBody>
          <a:bodyPr anchor="b" anchorCtr="0"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辨别寒证与热证的重要依据：</a:t>
            </a:r>
            <a:endParaRPr kumimoji="0" lang="zh-CN" altLang="en-US" sz="3600" b="1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42" name="标题 163841"/>
          <p:cNvSpPr>
            <a:spLocks noGrp="1"/>
          </p:cNvSpPr>
          <p:nvPr>
            <p:ph type="title"/>
          </p:nvPr>
        </p:nvSpPr>
        <p:spPr>
          <a:xfrm>
            <a:off x="2700338" y="468313"/>
            <a:ext cx="3873500" cy="639763"/>
          </a:xfrm>
          <a:solidFill>
            <a:schemeClr val="accent1">
              <a:alpha val="100000"/>
            </a:schemeClr>
          </a:solidFill>
        </p:spPr>
        <p:txBody>
          <a:bodyPr anchor="b" anchorCtr="0"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kern="1200" cap="none" spc="0" normalizeH="0" baseline="0" noProof="1" dirty="0">
                <a:solidFill>
                  <a:schemeClr val="tx2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+mj-ea"/>
                <a:cs typeface="+mj-cs"/>
              </a:rPr>
              <a:t>寒证与热证鉴别表</a:t>
            </a:r>
            <a:r>
              <a:rPr kumimoji="0" lang="zh-CN" altLang="en-US" sz="3600" b="1" i="0" u="none" strike="noStrike" kern="1200" cap="none" spc="0" normalizeH="0" baseline="0" noProof="1" dirty="0">
                <a:solidFill>
                  <a:schemeClr val="tx2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+mj-lt"/>
                <a:ea typeface="+mj-ea"/>
                <a:cs typeface="+mj-cs"/>
              </a:rPr>
              <a:t> </a:t>
            </a:r>
            <a:endParaRPr kumimoji="0" lang="zh-CN" altLang="en-US" sz="3600" b="1" i="0" u="none" strike="noStrike" kern="1200" cap="none" spc="0" normalizeH="0" baseline="0" noProof="1" dirty="0">
              <a:solidFill>
                <a:schemeClr val="tx2"/>
              </a:solidFill>
              <a:effectLst>
                <a:outerShdw blurRad="38100" dist="38100" dir="2700000">
                  <a:srgbClr val="000000"/>
                </a:outerShdw>
              </a:effectLst>
              <a:latin typeface="+mj-lt"/>
              <a:ea typeface="+mj-ea"/>
              <a:cs typeface="+mj-cs"/>
            </a:endParaRPr>
          </a:p>
        </p:txBody>
      </p:sp>
      <p:graphicFrame>
        <p:nvGraphicFramePr>
          <p:cNvPr id="163901" name="表格 163900"/>
          <p:cNvGraphicFramePr/>
          <p:nvPr/>
        </p:nvGraphicFramePr>
        <p:xfrm>
          <a:off x="74613" y="1268413"/>
          <a:ext cx="8994775" cy="5434013"/>
        </p:xfrm>
        <a:graphic>
          <a:graphicData uri="http://schemas.openxmlformats.org/drawingml/2006/table">
            <a:tbl>
              <a:tblPr/>
              <a:tblGrid>
                <a:gridCol w="954088"/>
                <a:gridCol w="877887"/>
                <a:gridCol w="874713"/>
                <a:gridCol w="876300"/>
                <a:gridCol w="874712"/>
                <a:gridCol w="874713"/>
                <a:gridCol w="955675"/>
                <a:gridCol w="954087"/>
                <a:gridCol w="939800"/>
                <a:gridCol w="812800"/>
              </a:tblGrid>
              <a:tr h="1030288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800" b="1" dirty="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宋体" panose="02010600030101010101" pitchFamily="2" charset="-122"/>
                        </a:rPr>
                        <a:t>证</a:t>
                      </a:r>
                      <a:endParaRPr lang="zh-CN" altLang="en-US" sz="2800" b="1" dirty="0">
                        <a:effectLst>
                          <a:outerShdw blurRad="38100" dist="38100" dir="2700000">
                            <a:srgbClr val="000000"/>
                          </a:outerShdw>
                        </a:effectLst>
                        <a:latin typeface="宋体" panose="02010600030101010101" pitchFamily="2" charset="-122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zh-CN" altLang="en-US" sz="2800" b="1" dirty="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宋体" panose="02010600030101010101" pitchFamily="2" charset="-122"/>
                        </a:rPr>
                        <a:t>型</a:t>
                      </a:r>
                      <a:r>
                        <a:rPr lang="zh-CN" altLang="en-US" sz="2800" b="1" dirty="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 </a:t>
                      </a:r>
                      <a:endParaRPr lang="zh-CN" altLang="en-US" sz="2800" b="1" dirty="0"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800" b="1" dirty="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rPr>
                        <a:t>寒</a:t>
                      </a:r>
                      <a:endParaRPr lang="zh-CN" altLang="en-US" sz="2800" b="1" dirty="0">
                        <a:effectLst>
                          <a:outerShdw blurRad="38100" dist="38100" dir="2700000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zh-CN" altLang="en-US" sz="2800" b="1" dirty="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rPr>
                        <a:t>热</a:t>
                      </a:r>
                      <a:endParaRPr lang="zh-CN" altLang="en-US" sz="2800" b="1" dirty="0"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800" b="1" dirty="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rPr>
                        <a:t>口渴</a:t>
                      </a:r>
                      <a:endParaRPr lang="zh-CN" altLang="en-US" sz="2800" b="1" dirty="0">
                        <a:effectLst>
                          <a:outerShdw blurRad="38100" dist="38100" dir="2700000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800" b="1" dirty="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rPr>
                        <a:t>面色</a:t>
                      </a:r>
                      <a:endParaRPr lang="zh-CN" altLang="en-US" sz="2800" b="1" dirty="0">
                        <a:effectLst>
                          <a:outerShdw blurRad="38100" dist="38100" dir="2700000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800" b="1" dirty="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rPr>
                        <a:t>四肢</a:t>
                      </a:r>
                      <a:endParaRPr lang="zh-CN" altLang="en-US" sz="2800" b="1" dirty="0">
                        <a:effectLst>
                          <a:outerShdw blurRad="38100" dist="38100" dir="2700000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800" b="1" dirty="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rPr>
                        <a:t>神态</a:t>
                      </a:r>
                      <a:endParaRPr lang="zh-CN" altLang="en-US" sz="2800" b="1" dirty="0">
                        <a:effectLst>
                          <a:outerShdw blurRad="38100" dist="38100" dir="2700000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800" b="1" dirty="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rPr>
                        <a:t>痰</a:t>
                      </a:r>
                      <a:endParaRPr lang="zh-CN" altLang="en-US" sz="2800" b="1" dirty="0">
                        <a:effectLst>
                          <a:outerShdw blurRad="38100" dist="38100" dir="2700000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zh-CN" altLang="en-US" sz="2800" b="1" dirty="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rPr>
                        <a:t>涕</a:t>
                      </a:r>
                      <a:endParaRPr lang="zh-CN" altLang="en-US" sz="2800" b="1" dirty="0">
                        <a:effectLst>
                          <a:outerShdw blurRad="38100" dist="38100" dir="2700000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800" b="1" dirty="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rPr>
                        <a:t>二</a:t>
                      </a:r>
                      <a:endParaRPr lang="zh-CN" altLang="en-US" sz="2800" b="1" dirty="0">
                        <a:effectLst>
                          <a:outerShdw blurRad="38100" dist="38100" dir="2700000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zh-CN" altLang="en-US" sz="2800" b="1" dirty="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rPr>
                        <a:t>便</a:t>
                      </a:r>
                      <a:endParaRPr lang="zh-CN" altLang="en-US" sz="2800" b="1" dirty="0">
                        <a:effectLst>
                          <a:outerShdw blurRad="38100" dist="38100" dir="2700000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800" b="1" dirty="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rPr>
                        <a:t>舌</a:t>
                      </a:r>
                      <a:endParaRPr lang="zh-CN" altLang="en-US" sz="2800" b="1" dirty="0">
                        <a:effectLst>
                          <a:outerShdw blurRad="38100" dist="38100" dir="2700000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zh-CN" altLang="en-US" sz="2800" b="1" dirty="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rPr>
                        <a:t>象</a:t>
                      </a:r>
                      <a:endParaRPr lang="zh-CN" altLang="en-US" sz="2800" b="1" dirty="0">
                        <a:effectLst>
                          <a:outerShdw blurRad="38100" dist="38100" dir="2700000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800" b="1" dirty="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rPr>
                        <a:t>脉</a:t>
                      </a:r>
                      <a:endParaRPr lang="zh-CN" altLang="en-US" sz="2800" b="1" dirty="0">
                        <a:effectLst>
                          <a:outerShdw blurRad="38100" dist="38100" dir="2700000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zh-CN" altLang="en-US" sz="2800" b="1" dirty="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rPr>
                        <a:t>象</a:t>
                      </a:r>
                      <a:endParaRPr lang="zh-CN" altLang="en-US" sz="2800" b="1" dirty="0">
                        <a:effectLst>
                          <a:outerShdw blurRad="38100" dist="38100" dir="2700000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</a:tr>
              <a:tr h="2070100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3200" b="1" dirty="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rPr>
                        <a:t>寒</a:t>
                      </a:r>
                      <a:endParaRPr lang="zh-CN" altLang="en-US" sz="3200" b="1" dirty="0">
                        <a:effectLst>
                          <a:outerShdw blurRad="38100" dist="38100" dir="2700000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  <a:p>
                      <a:pPr marL="0" lvl="0" indent="0" algn="ctr">
                        <a:buNone/>
                      </a:pPr>
                      <a:endParaRPr lang="zh-CN" altLang="en-US" sz="3200" b="1" dirty="0">
                        <a:effectLst>
                          <a:outerShdw blurRad="38100" dist="38100" dir="2700000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zh-CN" altLang="en-US" sz="3200" b="1" dirty="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rPr>
                        <a:t>证</a:t>
                      </a:r>
                      <a:endParaRPr lang="zh-CN" altLang="en-US" sz="3200" b="1" dirty="0"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800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恶寒喜热</a:t>
                      </a:r>
                      <a:endParaRPr lang="zh-CN" altLang="en-US" sz="2800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800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不渴</a:t>
                      </a:r>
                      <a:endParaRPr lang="zh-CN" altLang="en-US" sz="2800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800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淡白</a:t>
                      </a:r>
                      <a:endParaRPr lang="zh-CN" altLang="en-US" sz="2800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</a:endParaRPr>
                    </a:p>
                    <a:p>
                      <a:pPr marL="0" lvl="0" indent="0">
                        <a:buNone/>
                      </a:pPr>
                      <a:endParaRPr lang="zh-CN" altLang="en-US" sz="2800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800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冷</a:t>
                      </a:r>
                      <a:endParaRPr lang="zh-CN" altLang="en-US" sz="2800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</a:endParaRPr>
                    </a:p>
                    <a:p>
                      <a:pPr marL="0" lvl="0" indent="0" algn="ctr">
                        <a:buNone/>
                      </a:pPr>
                      <a:endParaRPr lang="zh-CN" altLang="en-US" sz="2800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</a:endParaRPr>
                    </a:p>
                    <a:p>
                      <a:pPr marL="0" lvl="0" indent="0">
                        <a:buNone/>
                      </a:pPr>
                      <a:endParaRPr lang="zh-CN" altLang="en-US" sz="2800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800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踡卧少动</a:t>
                      </a:r>
                      <a:endParaRPr lang="zh-CN" altLang="en-US" sz="2800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800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清</a:t>
                      </a:r>
                      <a:endParaRPr lang="zh-CN" altLang="en-US" sz="2800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zh-CN" altLang="en-US" sz="2800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稀</a:t>
                      </a:r>
                      <a:endParaRPr lang="zh-CN" altLang="en-US" sz="2800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zh-CN" altLang="en-US" sz="2800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色</a:t>
                      </a:r>
                      <a:endParaRPr lang="zh-CN" altLang="en-US" sz="2800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zh-CN" altLang="en-US" sz="2800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白</a:t>
                      </a:r>
                      <a:endParaRPr lang="zh-CN" altLang="en-US" sz="2800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500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大便稀溏</a:t>
                      </a:r>
                      <a:endParaRPr lang="zh-CN" altLang="en-US" sz="2500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zh-CN" altLang="en-US" sz="2500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小便清长</a:t>
                      </a:r>
                      <a:endParaRPr lang="zh-CN" altLang="en-US" sz="2500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500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舌淡苔白而润滑</a:t>
                      </a:r>
                      <a:endParaRPr lang="zh-CN" altLang="en-US" sz="2500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800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迟</a:t>
                      </a:r>
                      <a:endParaRPr lang="zh-CN" altLang="en-US" sz="2800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zh-CN" altLang="en-US" sz="2800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或</a:t>
                      </a:r>
                      <a:endParaRPr lang="zh-CN" altLang="en-US" sz="2800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zh-CN" altLang="en-US" sz="2800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紧</a:t>
                      </a:r>
                      <a:endParaRPr lang="zh-CN" altLang="en-US" sz="2800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30450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3200" b="1" dirty="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rPr>
                        <a:t>热</a:t>
                      </a:r>
                      <a:endParaRPr lang="zh-CN" altLang="en-US" sz="3200" b="1" dirty="0">
                        <a:effectLst>
                          <a:outerShdw blurRad="38100" dist="38100" dir="2700000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  <a:p>
                      <a:pPr marL="0" lvl="0" indent="0" algn="ctr">
                        <a:buNone/>
                      </a:pPr>
                      <a:endParaRPr lang="zh-CN" altLang="en-US" sz="3200" b="1" dirty="0">
                        <a:effectLst>
                          <a:outerShdw blurRad="38100" dist="38100" dir="2700000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zh-CN" altLang="en-US" sz="3200" b="1" dirty="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rPr>
                        <a:t>证</a:t>
                      </a:r>
                      <a:endParaRPr lang="zh-CN" altLang="en-US" sz="3200" b="1" dirty="0"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  <a:p>
                      <a:pPr marL="0" lvl="0" indent="0">
                        <a:buNone/>
                      </a:pPr>
                      <a:endParaRPr lang="zh-CN" altLang="en-US" sz="3200" b="1" dirty="0"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800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  </a:t>
                      </a:r>
                      <a:r>
                        <a:rPr lang="zh-CN" altLang="en-US" sz="2800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恶   </a:t>
                      </a:r>
                      <a:endParaRPr lang="zh-CN" altLang="en-US" sz="2800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  <a:p>
                      <a:pPr marL="0" lvl="0" indent="0">
                        <a:buNone/>
                      </a:pPr>
                      <a:r>
                        <a:rPr lang="zh-CN" altLang="en-US" sz="2800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  热 </a:t>
                      </a:r>
                      <a:endParaRPr lang="zh-CN" altLang="en-US" sz="2800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  <a:p>
                      <a:pPr marL="0" lvl="0" indent="0">
                        <a:buNone/>
                      </a:pPr>
                      <a:r>
                        <a:rPr lang="zh-CN" altLang="en-US" sz="2800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  喜 </a:t>
                      </a:r>
                      <a:endParaRPr lang="zh-CN" altLang="en-US" sz="2800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  <a:p>
                      <a:pPr marL="0" lvl="0" indent="0">
                        <a:buNone/>
                      </a:pPr>
                      <a:r>
                        <a:rPr lang="zh-CN" altLang="en-US" sz="2800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  冷</a:t>
                      </a:r>
                      <a:endParaRPr lang="zh-CN" altLang="en-US" sz="2800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800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  </a:t>
                      </a:r>
                      <a:r>
                        <a:rPr lang="zh-CN" altLang="en-US" sz="2800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渴 </a:t>
                      </a:r>
                      <a:endParaRPr lang="zh-CN" altLang="en-US" sz="2800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  <a:p>
                      <a:pPr marL="0" lvl="0" indent="0">
                        <a:buNone/>
                      </a:pPr>
                      <a:r>
                        <a:rPr lang="zh-CN" altLang="en-US" sz="2800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  喜</a:t>
                      </a:r>
                      <a:endParaRPr lang="zh-CN" altLang="en-US" sz="2800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  <a:p>
                      <a:pPr marL="0" lvl="0" indent="0">
                        <a:buNone/>
                      </a:pPr>
                      <a:r>
                        <a:rPr lang="zh-CN" altLang="en-US" sz="2800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  冷 </a:t>
                      </a:r>
                      <a:endParaRPr lang="zh-CN" altLang="en-US" sz="2800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  <a:p>
                      <a:pPr marL="0" lvl="0" indent="0">
                        <a:buNone/>
                      </a:pPr>
                      <a:r>
                        <a:rPr lang="zh-CN" altLang="en-US" sz="2800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  饮</a:t>
                      </a:r>
                      <a:endParaRPr lang="zh-CN" altLang="en-US" sz="2800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800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zh-CN" altLang="en-US" sz="2800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红</a:t>
                      </a:r>
                      <a:endParaRPr lang="zh-CN" altLang="en-US" sz="2800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  <a:p>
                      <a:pPr marL="0" lvl="0" indent="0">
                        <a:buNone/>
                      </a:pPr>
                      <a:r>
                        <a:rPr lang="zh-CN" altLang="en-US" sz="2800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 赤</a:t>
                      </a:r>
                      <a:endParaRPr lang="zh-CN" altLang="en-US" sz="2800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800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  </a:t>
                      </a:r>
                      <a:r>
                        <a:rPr lang="zh-CN" altLang="en-US" sz="2800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热</a:t>
                      </a:r>
                      <a:endParaRPr lang="zh-CN" altLang="en-US" sz="2800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800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  </a:t>
                      </a:r>
                      <a:r>
                        <a:rPr lang="zh-CN" altLang="en-US" sz="2800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仰</a:t>
                      </a:r>
                      <a:endParaRPr lang="zh-CN" altLang="en-US" sz="2800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  <a:p>
                      <a:pPr marL="0" lvl="0" indent="0">
                        <a:buNone/>
                      </a:pPr>
                      <a:r>
                        <a:rPr lang="zh-CN" altLang="en-US" sz="2800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  卧</a:t>
                      </a:r>
                      <a:endParaRPr lang="zh-CN" altLang="en-US" sz="2800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  <a:p>
                      <a:pPr marL="0" lvl="0" indent="0">
                        <a:buNone/>
                      </a:pPr>
                      <a:r>
                        <a:rPr lang="zh-CN" altLang="en-US" sz="2800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  躁</a:t>
                      </a:r>
                      <a:endParaRPr lang="zh-CN" altLang="en-US" sz="2800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  <a:p>
                      <a:pPr marL="0" lvl="0" indent="0">
                        <a:buNone/>
                      </a:pPr>
                      <a:r>
                        <a:rPr lang="zh-CN" altLang="en-US" sz="2800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  动</a:t>
                      </a:r>
                      <a:endParaRPr lang="zh-CN" altLang="en-US" sz="2800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800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  </a:t>
                      </a:r>
                      <a:r>
                        <a:rPr lang="zh-CN" altLang="en-US" sz="2800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黄</a:t>
                      </a:r>
                      <a:endParaRPr lang="zh-CN" altLang="en-US" sz="2800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  <a:p>
                      <a:pPr marL="0" lvl="0" indent="0">
                        <a:buNone/>
                      </a:pPr>
                      <a:r>
                        <a:rPr lang="zh-CN" altLang="en-US" sz="2800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  稠</a:t>
                      </a:r>
                      <a:endParaRPr lang="zh-CN" altLang="en-US" sz="2800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500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大便干结</a:t>
                      </a:r>
                      <a:endParaRPr lang="zh-CN" altLang="en-US" sz="2500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zh-CN" altLang="en-US" sz="2500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小便短赤</a:t>
                      </a:r>
                      <a:endParaRPr lang="zh-CN" altLang="en-US" sz="2500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500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舌红苔黄而干</a:t>
                      </a:r>
                      <a:endParaRPr lang="zh-CN" altLang="en-US" sz="2500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endParaRPr lang="en-US" altLang="zh-CN" sz="2800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zh-CN" altLang="en-US" sz="2800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数</a:t>
                      </a:r>
                      <a:endParaRPr lang="zh-CN" altLang="en-US" sz="2800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1" name="标题 252929"/>
          <p:cNvSpPr>
            <a:spLocks noGrp="1"/>
          </p:cNvSpPr>
          <p:nvPr>
            <p:ph type="title"/>
          </p:nvPr>
        </p:nvSpPr>
        <p:spPr/>
        <p:txBody>
          <a:bodyPr anchor="b" anchorCtr="0"/>
          <a:p>
            <a:r>
              <a:rPr lang="zh-CN" altLang="en-US" dirty="0"/>
              <a:t>寒热之间的关系</a:t>
            </a:r>
            <a:endParaRPr lang="zh-CN" altLang="en-US" dirty="0"/>
          </a:p>
        </p:txBody>
      </p:sp>
      <p:sp>
        <p:nvSpPr>
          <p:cNvPr id="35842" name="文本占位符 252930"/>
          <p:cNvSpPr>
            <a:spLocks noGrp="1"/>
          </p:cNvSpPr>
          <p:nvPr>
            <p:ph idx="1"/>
          </p:nvPr>
        </p:nvSpPr>
        <p:spPr/>
        <p:txBody>
          <a:bodyPr anchor="t" anchorCtr="0"/>
          <a:p>
            <a:r>
              <a:rPr lang="en-US" altLang="zh-CN" b="1"/>
              <a:t>1.</a:t>
            </a:r>
            <a:r>
              <a:rPr lang="zh-CN" altLang="en-US" b="1" dirty="0"/>
              <a:t>寒热错杂</a:t>
            </a:r>
            <a:endParaRPr lang="zh-CN" altLang="en-US" b="1" dirty="0"/>
          </a:p>
          <a:p>
            <a:r>
              <a:rPr lang="en-US" altLang="zh-CN" b="1"/>
              <a:t>2.</a:t>
            </a:r>
            <a:r>
              <a:rPr lang="zh-CN" altLang="en-US" b="1" dirty="0"/>
              <a:t>寒热转化</a:t>
            </a:r>
            <a:endParaRPr lang="zh-CN" altLang="en-US" b="1" dirty="0"/>
          </a:p>
          <a:p>
            <a:r>
              <a:rPr lang="en-US" altLang="zh-CN" b="1"/>
              <a:t>3.</a:t>
            </a:r>
            <a:r>
              <a:rPr lang="zh-CN" altLang="en-US" b="1" dirty="0"/>
              <a:t>寒热真假</a:t>
            </a:r>
            <a:endParaRPr lang="zh-CN" altLang="en-US" b="1" dirty="0"/>
          </a:p>
          <a:p>
            <a:pPr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8962" name="标题 168961"/>
          <p:cNvSpPr>
            <a:spLocks noGrp="1"/>
          </p:cNvSpPr>
          <p:nvPr>
            <p:ph type="title"/>
          </p:nvPr>
        </p:nvSpPr>
        <p:spPr>
          <a:xfrm>
            <a:off x="914400" y="409575"/>
            <a:ext cx="8001000" cy="1219200"/>
          </a:xfrm>
        </p:spPr>
        <p:txBody>
          <a:bodyPr anchor="b" anchorCtr="0"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kern="1200" cap="none" spc="0" normalizeH="0" baseline="0" noProof="1" dirty="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+mj-ea"/>
                <a:cs typeface="+mj-cs"/>
              </a:rPr>
              <a:t>虚实辨证</a:t>
            </a:r>
            <a:endParaRPr kumimoji="0" lang="zh-CN" altLang="en-US" sz="4000" b="1" i="0" u="none" strike="noStrike" kern="1200" cap="none" spc="0" normalizeH="0" baseline="0" noProof="1" dirty="0">
              <a:solidFill>
                <a:srgbClr val="CC0000"/>
              </a:solidFill>
              <a:effectLst>
                <a:outerShdw blurRad="38100" dist="38100" dir="2700000">
                  <a:srgbClr val="C0C0C0"/>
                </a:outerShdw>
              </a:effectLst>
              <a:latin typeface="宋体" panose="02010600030101010101" pitchFamily="2" charset="-122"/>
              <a:ea typeface="+mj-ea"/>
              <a:cs typeface="+mj-cs"/>
            </a:endParaRPr>
          </a:p>
        </p:txBody>
      </p:sp>
      <p:sp>
        <p:nvSpPr>
          <p:cNvPr id="168963" name="文本占位符 168962"/>
          <p:cNvSpPr>
            <a:spLocks noGrp="1"/>
          </p:cNvSpPr>
          <p:nvPr>
            <p:ph idx="1"/>
          </p:nvPr>
        </p:nvSpPr>
        <p:spPr>
          <a:xfrm>
            <a:off x="395288" y="2565400"/>
            <a:ext cx="8569325" cy="3733800"/>
          </a:xfrm>
        </p:spPr>
        <p:txBody>
          <a:bodyPr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Char char="l"/>
            </a:pP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+mn-ea"/>
                <a:cs typeface="+mn-cs"/>
              </a:rPr>
              <a:t>概念：虚实辩证施辨别人体正气强弱和病邪盛衰的两个纲领。</a:t>
            </a:r>
            <a:endParaRPr kumimoji="0" lang="zh-CN" altLang="en-US" sz="2800" b="1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宋体" panose="02010600030101010101" pitchFamily="2" charset="-122"/>
              <a:ea typeface="+mn-ea"/>
              <a:cs typeface="+mn-cs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Char char="l"/>
            </a:pP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+mn-ea"/>
                <a:cs typeface="+mn-cs"/>
              </a:rPr>
              <a:t>虚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——</a:t>
            </a: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+mn-ea"/>
                <a:cs typeface="+mn-cs"/>
              </a:rPr>
              <a:t>指正气虚，是人体脏腑生理活动及维持活动的基础物质如：气、血、津液不足。</a:t>
            </a:r>
            <a:endParaRPr kumimoji="0" lang="zh-CN" altLang="en-US" sz="2800" b="1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宋体" panose="02010600030101010101" pitchFamily="2" charset="-122"/>
              <a:ea typeface="+mn-ea"/>
              <a:cs typeface="+mn-cs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Char char="l"/>
            </a:pP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+mn-ea"/>
                <a:cs typeface="+mn-cs"/>
              </a:rPr>
              <a:t>实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——</a:t>
            </a: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+mn-ea"/>
                <a:cs typeface="+mn-cs"/>
              </a:rPr>
              <a:t>指邪气亢盛有余。</a:t>
            </a:r>
            <a:endParaRPr kumimoji="0" lang="zh-CN" altLang="en-US" sz="2800" b="1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宋体" panose="02010600030101010101" pitchFamily="2" charset="-122"/>
              <a:ea typeface="+mn-ea"/>
              <a:cs typeface="+mn-cs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Char char="l"/>
            </a:pP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+mn-ea"/>
                <a:cs typeface="+mn-cs"/>
              </a:rPr>
              <a:t>通过虚实辨证，可以了解病体的邪正盛衰，确定治疗原则，及判断预后的重要依据。</a:t>
            </a:r>
            <a:endParaRPr kumimoji="0" lang="zh-CN" altLang="en-US" sz="2800" b="1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89" name="标题 253953"/>
          <p:cNvSpPr>
            <a:spLocks noGrp="1"/>
          </p:cNvSpPr>
          <p:nvPr>
            <p:ph type="title"/>
          </p:nvPr>
        </p:nvSpPr>
        <p:spPr/>
        <p:txBody>
          <a:bodyPr anchor="b" anchorCtr="0"/>
          <a:p>
            <a:r>
              <a:rPr lang="zh-CN" altLang="en-US" dirty="0"/>
              <a:t>虚证</a:t>
            </a:r>
            <a:endParaRPr lang="zh-CN" altLang="en-US" dirty="0"/>
          </a:p>
        </p:txBody>
      </p:sp>
      <p:sp>
        <p:nvSpPr>
          <p:cNvPr id="37890" name="文本占位符 253954"/>
          <p:cNvSpPr>
            <a:spLocks noGrp="1"/>
          </p:cNvSpPr>
          <p:nvPr>
            <p:ph idx="1"/>
          </p:nvPr>
        </p:nvSpPr>
        <p:spPr/>
        <p:txBody>
          <a:bodyPr anchor="t" anchorCtr="0"/>
          <a:p>
            <a:r>
              <a:rPr lang="zh-CN" altLang="en-US" b="1" dirty="0"/>
              <a:t>概念：虚证是对人体正气虚弱所产生的各种临床表现的病理概括。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7154" name="矩形 177153"/>
          <p:cNvSpPr/>
          <p:nvPr/>
        </p:nvSpPr>
        <p:spPr>
          <a:xfrm>
            <a:off x="539750" y="3284538"/>
            <a:ext cx="8229600" cy="25209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80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Tx/>
              <a:buChar char="–"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Tx/>
              <a:buChar char="–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just" fontAlgn="base">
              <a:lnSpc>
                <a:spcPct val="90000"/>
              </a:lnSpc>
              <a:buClrTx/>
            </a:pPr>
            <a:r>
              <a:rPr lang="zh-CN" altLang="en-US" b="1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饮食失调</a:t>
            </a:r>
            <a:r>
              <a:rPr lang="en-US" altLang="zh-CN" b="1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→</a:t>
            </a:r>
            <a:r>
              <a:rPr lang="zh-CN" altLang="en-US" b="1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营血生化之源不足</a:t>
            </a:r>
            <a:endParaRPr lang="zh-CN" altLang="en-US" b="1" strike="noStrike" noProof="1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 lvl="0" algn="just" fontAlgn="base">
              <a:lnSpc>
                <a:spcPct val="90000"/>
              </a:lnSpc>
              <a:buClrTx/>
            </a:pPr>
            <a:r>
              <a:rPr lang="zh-CN" altLang="en-US" b="1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思虑太过、悲哀卒恐、过度劳倦</a:t>
            </a:r>
            <a:r>
              <a:rPr lang="en-US" altLang="zh-CN" b="1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→</a:t>
            </a:r>
            <a:r>
              <a:rPr lang="zh-CN" altLang="en-US" b="1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耗伤气血营阴</a:t>
            </a:r>
            <a:endParaRPr lang="zh-CN" altLang="en-US" b="1" strike="noStrike" noProof="1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 lvl="0" algn="just" fontAlgn="base">
              <a:lnSpc>
                <a:spcPct val="90000"/>
              </a:lnSpc>
              <a:buClrTx/>
            </a:pPr>
            <a:r>
              <a:rPr lang="zh-CN" altLang="en-US" b="1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房室不节</a:t>
            </a:r>
            <a:r>
              <a:rPr lang="en-US" altLang="zh-CN" b="1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→</a:t>
            </a:r>
            <a:r>
              <a:rPr lang="zh-CN" altLang="en-US" b="1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耗损肾精元气</a:t>
            </a:r>
            <a:endParaRPr lang="zh-CN" altLang="en-US" b="1" strike="noStrike" noProof="1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 lvl="0" algn="just" fontAlgn="base">
              <a:lnSpc>
                <a:spcPct val="90000"/>
              </a:lnSpc>
              <a:buClrTx/>
            </a:pPr>
            <a:r>
              <a:rPr lang="zh-CN" altLang="en-US" b="1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久病失治、误治</a:t>
            </a:r>
            <a:r>
              <a:rPr lang="en-US" altLang="zh-CN" b="1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→</a:t>
            </a:r>
            <a:r>
              <a:rPr lang="zh-CN" altLang="en-US" b="1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损伤正气</a:t>
            </a:r>
            <a:endParaRPr lang="zh-CN" altLang="en-US" b="1" strike="noStrike" noProof="1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 lvl="0" algn="just" fontAlgn="base">
              <a:lnSpc>
                <a:spcPct val="90000"/>
              </a:lnSpc>
              <a:buClrTx/>
            </a:pPr>
            <a:r>
              <a:rPr lang="zh-CN" altLang="en-US" b="1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大吐、大泻、大汗、出血、失精</a:t>
            </a:r>
            <a:r>
              <a:rPr lang="en-US" altLang="zh-CN" b="1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→</a:t>
            </a:r>
            <a:r>
              <a:rPr lang="zh-CN" altLang="en-US" b="1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阴液气血耗损</a:t>
            </a:r>
            <a:endParaRPr lang="zh-CN" altLang="en-US" b="1" strike="noStrike" noProof="1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77155" name="矩形 177154"/>
          <p:cNvSpPr/>
          <p:nvPr/>
        </p:nvSpPr>
        <p:spPr>
          <a:xfrm>
            <a:off x="755650" y="2420938"/>
            <a:ext cx="1098550" cy="6413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fontAlgn="base"/>
            <a:r>
              <a:rPr lang="zh-CN" altLang="en-US" sz="3600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病因</a:t>
            </a:r>
            <a:endParaRPr lang="zh-CN" altLang="en-US" sz="3600" strike="noStrike" noProof="1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77157" name="矩形 177156"/>
          <p:cNvSpPr/>
          <p:nvPr/>
        </p:nvSpPr>
        <p:spPr>
          <a:xfrm>
            <a:off x="755650" y="765175"/>
            <a:ext cx="8001000" cy="1143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600" b="1" u="none" kern="1200" baseline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 fontAlgn="base">
              <a:spcBef>
                <a:spcPct val="20000"/>
              </a:spcBef>
            </a:pPr>
            <a:r>
              <a:rPr lang="zh-CN" altLang="en-US" strike="noStrike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虚证</a:t>
            </a:r>
            <a:endParaRPr lang="zh-CN" altLang="en-US" strike="noStrike" noProof="1" dirty="0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1250" name="标题 181249"/>
          <p:cNvSpPr>
            <a:spLocks noGrp="1"/>
          </p:cNvSpPr>
          <p:nvPr>
            <p:ph type="title"/>
          </p:nvPr>
        </p:nvSpPr>
        <p:spPr/>
        <p:txBody>
          <a:bodyPr anchor="b" anchorCtr="0"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kern="1200" cap="none" spc="0" normalizeH="0" baseline="0" noProof="1" dirty="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临床表现</a:t>
            </a:r>
            <a:endParaRPr kumimoji="0" lang="zh-CN" altLang="en-US" sz="3600" b="1" i="0" u="none" strike="noStrike" kern="1200" cap="none" spc="0" normalizeH="0" baseline="0" noProof="1" dirty="0">
              <a:solidFill>
                <a:schemeClr val="tx2"/>
              </a:solidFill>
              <a:effectLst>
                <a:outerShdw blurRad="38100" dist="38100" dir="2700000">
                  <a:srgbClr val="C0C0C0"/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181251" name="文本占位符 181250"/>
          <p:cNvSpPr>
            <a:spLocks noGrp="1"/>
          </p:cNvSpPr>
          <p:nvPr>
            <p:ph idx="1"/>
          </p:nvPr>
        </p:nvSpPr>
        <p:spPr>
          <a:xfrm>
            <a:off x="684213" y="2708275"/>
            <a:ext cx="8135938" cy="3673475"/>
          </a:xfrm>
        </p:spPr>
        <p:txBody>
          <a:bodyPr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</a:pP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各种虚证的表现极不一致</a:t>
            </a:r>
            <a:endParaRPr kumimoji="0" lang="zh-CN" altLang="en-US" sz="2800" b="1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+mn-lt"/>
              <a:ea typeface="+mn-ea"/>
              <a:cs typeface="+mn-cs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</a:pP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各脏腑虚证的表现各不相同</a:t>
            </a:r>
            <a:endParaRPr kumimoji="0" lang="zh-CN" altLang="en-US" sz="2800" b="1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+mn-lt"/>
              <a:ea typeface="+mn-ea"/>
              <a:cs typeface="+mn-cs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</a:pP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所以很难用几个症状全面概括</a:t>
            </a:r>
            <a:endParaRPr kumimoji="0" lang="zh-CN" altLang="en-US" sz="2800" b="1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+mn-lt"/>
              <a:ea typeface="+mn-ea"/>
              <a:cs typeface="+mn-cs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</a:pP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rPr>
              <a:t>常见的有：心悸、脉结代；咳嗽痰少、颧赤盗汗；食少、腹胀、便溏；眩晕、耳鸣、视力减退、月经量少；腰痛、阳痿、肢冷。</a:t>
            </a:r>
            <a:endParaRPr kumimoji="0" lang="zh-CN" altLang="en-US" sz="2800" b="1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+mn-lt"/>
              <a:ea typeface="+mn-ea"/>
              <a:cs typeface="+mn-cs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</a:pPr>
            <a:endParaRPr kumimoji="0" lang="zh-CN" altLang="en-US" sz="2800" b="1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1" name="标题 254977"/>
          <p:cNvSpPr>
            <a:spLocks noGrp="1"/>
          </p:cNvSpPr>
          <p:nvPr>
            <p:ph type="title"/>
          </p:nvPr>
        </p:nvSpPr>
        <p:spPr/>
        <p:txBody>
          <a:bodyPr anchor="b" anchorCtr="0"/>
          <a:p>
            <a:r>
              <a:rPr lang="zh-CN" altLang="en-US" dirty="0"/>
              <a:t>虚证</a:t>
            </a:r>
            <a:endParaRPr lang="zh-CN" altLang="en-US" dirty="0"/>
          </a:p>
        </p:txBody>
      </p:sp>
      <p:sp>
        <p:nvSpPr>
          <p:cNvPr id="40962" name="文本占位符 254978"/>
          <p:cNvSpPr>
            <a:spLocks noGrp="1"/>
          </p:cNvSpPr>
          <p:nvPr>
            <p:ph idx="1"/>
          </p:nvPr>
        </p:nvSpPr>
        <p:spPr/>
        <p:txBody>
          <a:bodyPr anchor="t" anchorCtr="0"/>
          <a:p>
            <a:r>
              <a:rPr lang="zh-CN" altLang="en-US" b="1" dirty="0"/>
              <a:t>辩证要点可归纳为两大类：</a:t>
            </a:r>
            <a:endParaRPr lang="zh-CN" altLang="en-US" b="1" dirty="0"/>
          </a:p>
          <a:p>
            <a:r>
              <a:rPr lang="zh-CN" altLang="en-US" b="1" dirty="0"/>
              <a:t>阳气不足</a:t>
            </a:r>
            <a:r>
              <a:rPr lang="en-US" altLang="zh-CN">
                <a:latin typeface="Times New Roman" panose="02020603050405020304" pitchFamily="18" charset="0"/>
              </a:rPr>
              <a:t>——</a:t>
            </a:r>
            <a:r>
              <a:rPr lang="zh-CN" altLang="en-US" dirty="0"/>
              <a:t>面色恍白，神疲乏力，气短自汗，形寒肢冷，尿清便溏，舌淡胖、嫩，脉虚弱沉迟。</a:t>
            </a:r>
            <a:endParaRPr lang="zh-CN" altLang="en-US" dirty="0"/>
          </a:p>
          <a:p>
            <a:r>
              <a:rPr lang="zh-CN" altLang="en-US" b="1" dirty="0"/>
              <a:t>阴血不足</a:t>
            </a:r>
            <a:r>
              <a:rPr lang="en-US" altLang="zh-CN">
                <a:latin typeface="Times New Roman" panose="02020603050405020304" pitchFamily="18" charset="0"/>
              </a:rPr>
              <a:t>——</a:t>
            </a:r>
            <a:r>
              <a:rPr lang="zh-CN" altLang="en-US" dirty="0"/>
              <a:t>面色淡白或萎黄，形体消瘦，潮热盗汗，五心烦热，舌红少苔，脉细数。</a:t>
            </a:r>
            <a:endParaRPr lang="zh-CN" altLang="en-US" dirty="0"/>
          </a:p>
          <a:p>
            <a:pPr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9986" name="标题 169985"/>
          <p:cNvSpPr>
            <a:spLocks noGrp="1"/>
          </p:cNvSpPr>
          <p:nvPr>
            <p:ph type="title"/>
          </p:nvPr>
        </p:nvSpPr>
        <p:spPr/>
        <p:txBody>
          <a:bodyPr anchor="b" anchorCtr="0"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kern="1200" cap="none" spc="0" normalizeH="0" baseline="0" noProof="1" dirty="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+mj-ea"/>
                <a:cs typeface="+mj-cs"/>
              </a:rPr>
              <a:t>实证</a:t>
            </a:r>
            <a:endParaRPr kumimoji="0" lang="zh-CN" altLang="en-US" sz="3600" b="1" i="0" u="none" strike="noStrike" kern="1200" cap="none" spc="0" normalizeH="0" baseline="0" noProof="1" dirty="0">
              <a:solidFill>
                <a:schemeClr val="tx2"/>
              </a:solidFill>
              <a:effectLst>
                <a:outerShdw blurRad="38100" dist="38100" dir="2700000">
                  <a:srgbClr val="C0C0C0"/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169987" name="文本占位符 169986"/>
          <p:cNvSpPr>
            <a:spLocks noGrp="1"/>
          </p:cNvSpPr>
          <p:nvPr>
            <p:ph idx="1"/>
          </p:nvPr>
        </p:nvSpPr>
        <p:spPr>
          <a:xfrm>
            <a:off x="684213" y="2492375"/>
            <a:ext cx="4967288" cy="1584325"/>
          </a:xfrm>
        </p:spPr>
        <p:txBody>
          <a:bodyPr/>
          <a:p>
            <a:pPr marL="342900" marR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Char char="l"/>
            </a:pP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人体感受外邪</a:t>
            </a:r>
            <a:endParaRPr kumimoji="0" lang="zh-CN" altLang="en-US" sz="2800" b="1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Char char="l"/>
            </a:pP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或疾病过程中阴阳气血失调</a:t>
            </a:r>
            <a:endParaRPr kumimoji="0" lang="zh-CN" altLang="en-US" sz="2800" b="1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Char char="l"/>
            </a:pP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或体内病理产物蓄积</a:t>
            </a:r>
            <a:endParaRPr kumimoji="0" lang="zh-CN" altLang="en-US" sz="2800" b="1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None/>
            </a:pPr>
            <a:endParaRPr kumimoji="0" lang="zh-CN" altLang="en-US" sz="2800" b="1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+mn-lt"/>
              <a:ea typeface="+mn-ea"/>
              <a:cs typeface="+mn-cs"/>
            </a:endParaRPr>
          </a:p>
        </p:txBody>
      </p:sp>
      <p:sp>
        <p:nvSpPr>
          <p:cNvPr id="169988" name="矩形 169987"/>
          <p:cNvSpPr/>
          <p:nvPr/>
        </p:nvSpPr>
        <p:spPr>
          <a:xfrm>
            <a:off x="5724525" y="2708275"/>
            <a:ext cx="3095625" cy="10668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fontAlgn="base"/>
            <a:r>
              <a:rPr lang="zh-CN" altLang="en-US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所形成的各种</a:t>
            </a:r>
            <a:endParaRPr lang="zh-CN" altLang="en-US" strike="noStrike" noProof="1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 fontAlgn="base"/>
            <a:r>
              <a:rPr lang="zh-CN" altLang="en-US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临床证候的概括</a:t>
            </a:r>
            <a:endParaRPr lang="zh-CN" altLang="en-US" strike="noStrike" noProof="1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41988" name="右大括号 169988"/>
          <p:cNvSpPr/>
          <p:nvPr/>
        </p:nvSpPr>
        <p:spPr>
          <a:xfrm>
            <a:off x="5435600" y="2636838"/>
            <a:ext cx="73025" cy="1223962"/>
          </a:xfrm>
          <a:prstGeom prst="rightBrace">
            <a:avLst>
              <a:gd name="adj1" fmla="val 139518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p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3" name="标题 256001"/>
          <p:cNvSpPr>
            <a:spLocks noGrp="1"/>
          </p:cNvSpPr>
          <p:nvPr>
            <p:ph type="title"/>
          </p:nvPr>
        </p:nvSpPr>
        <p:spPr/>
        <p:txBody>
          <a:bodyPr anchor="b" anchorCtr="0"/>
          <a:p>
            <a:r>
              <a:rPr lang="zh-CN" altLang="en-US" dirty="0"/>
              <a:t>实证</a:t>
            </a:r>
            <a:endParaRPr lang="zh-CN" altLang="en-US" dirty="0"/>
          </a:p>
        </p:txBody>
      </p:sp>
      <p:sp>
        <p:nvSpPr>
          <p:cNvPr id="44034" name="文本占位符 256002"/>
          <p:cNvSpPr>
            <a:spLocks noGrp="1"/>
          </p:cNvSpPr>
          <p:nvPr>
            <p:ph idx="1"/>
          </p:nvPr>
        </p:nvSpPr>
        <p:spPr/>
        <p:txBody>
          <a:bodyPr anchor="t" anchorCtr="0"/>
          <a:p>
            <a:r>
              <a:rPr lang="zh-CN" altLang="en-US" b="1" dirty="0"/>
              <a:t>形成原因：</a:t>
            </a:r>
            <a:endParaRPr lang="zh-CN" altLang="en-US" b="1" dirty="0"/>
          </a:p>
          <a:p>
            <a:r>
              <a:rPr lang="zh-CN" altLang="en-US" dirty="0"/>
              <a:t>一、外邪入侵人体的初期或中期，邪气亢盛而正气尚未虚衰，邪正相争处于剧烈阶段。</a:t>
            </a:r>
            <a:endParaRPr lang="zh-CN" altLang="en-US" dirty="0"/>
          </a:p>
          <a:p>
            <a:r>
              <a:rPr lang="zh-CN" altLang="en-US" dirty="0"/>
              <a:t>二、内脏功能失调，以致瘀血、痰饮、水湿等病理产物停留于体内。</a:t>
            </a:r>
            <a:endParaRPr lang="zh-CN" altLang="en-US" dirty="0"/>
          </a:p>
          <a:p>
            <a:r>
              <a:rPr lang="zh-CN" altLang="en-US" dirty="0"/>
              <a:t>三、因食积、虫处于体内所致。</a:t>
            </a:r>
            <a:endParaRPr lang="zh-CN" alt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3058" name="标题 173057"/>
          <p:cNvSpPr>
            <a:spLocks noGrp="1"/>
          </p:cNvSpPr>
          <p:nvPr>
            <p:ph type="title"/>
          </p:nvPr>
        </p:nvSpPr>
        <p:spPr>
          <a:xfrm>
            <a:off x="963613" y="549275"/>
            <a:ext cx="8001000" cy="1143000"/>
          </a:xfrm>
        </p:spPr>
        <p:txBody>
          <a:bodyPr anchor="b" anchorCtr="0"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kern="1200" cap="none" spc="0" normalizeH="0" baseline="0" noProof="1" dirty="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+mj-ea"/>
                <a:cs typeface="+mj-cs"/>
              </a:rPr>
              <a:t>临床表现</a:t>
            </a:r>
            <a:endParaRPr kumimoji="0" lang="zh-CN" altLang="en-US" sz="3600" b="1" i="0" u="none" strike="noStrike" kern="1200" cap="none" spc="0" normalizeH="0" baseline="0" noProof="1" dirty="0">
              <a:solidFill>
                <a:schemeClr val="tx2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+mj-ea"/>
              <a:cs typeface="+mj-cs"/>
            </a:endParaRPr>
          </a:p>
        </p:txBody>
      </p:sp>
      <p:sp>
        <p:nvSpPr>
          <p:cNvPr id="173059" name="文本占位符 173058"/>
          <p:cNvSpPr>
            <a:spLocks noGrp="1"/>
          </p:cNvSpPr>
          <p:nvPr>
            <p:ph idx="1"/>
          </p:nvPr>
        </p:nvSpPr>
        <p:spPr>
          <a:xfrm>
            <a:off x="539750" y="2349500"/>
            <a:ext cx="8001000" cy="1871663"/>
          </a:xfrm>
        </p:spPr>
        <p:txBody>
          <a:bodyPr/>
          <a:p>
            <a:pPr marL="342900" marR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Char char="l"/>
            </a:pP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常见的主要有：发热，腹胀痛拒按，胸闷烦躁，甚至神昏谵语，呼吸气粗，痰涎壅盛，大便秘结，或下利、里急后重，小便不利，或淋沥涩痛，舌质苍老，舌苔厚腻，脉实有力。</a:t>
            </a:r>
            <a:endParaRPr kumimoji="0" lang="zh-CN" altLang="en-US" sz="2800" b="1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+mn-lt"/>
              <a:ea typeface="+mn-ea"/>
              <a:cs typeface="+mn-cs"/>
            </a:endParaRPr>
          </a:p>
        </p:txBody>
      </p:sp>
      <p:sp>
        <p:nvSpPr>
          <p:cNvPr id="173060" name="矩形 173059"/>
          <p:cNvSpPr/>
          <p:nvPr/>
        </p:nvSpPr>
        <p:spPr>
          <a:xfrm>
            <a:off x="539750" y="4652963"/>
            <a:ext cx="4968875" cy="15843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80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Tx/>
              <a:buChar char="–"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Tx/>
              <a:buChar char="–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fontAlgn="base">
              <a:buClrTx/>
            </a:pPr>
            <a:r>
              <a:rPr lang="zh-CN" altLang="en-US" b="1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感邪性质的差异</a:t>
            </a:r>
            <a:endParaRPr lang="zh-CN" altLang="en-US" b="1" strike="noStrike" noProof="1" dirty="0">
              <a:effectLst>
                <a:outerShdw blurRad="38100" dist="38100" dir="2700000">
                  <a:srgbClr val="C0C0C0"/>
                </a:outerShdw>
              </a:effectLst>
            </a:endParaRPr>
          </a:p>
          <a:p>
            <a:pPr lvl="0" fontAlgn="base">
              <a:buClrTx/>
            </a:pPr>
            <a:r>
              <a:rPr lang="zh-CN" altLang="en-US" b="1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致病的病理因素不同</a:t>
            </a:r>
            <a:endParaRPr lang="zh-CN" altLang="en-US" b="1" strike="noStrike" noProof="1" dirty="0">
              <a:effectLst>
                <a:outerShdw blurRad="38100" dist="38100" dir="2700000">
                  <a:srgbClr val="C0C0C0"/>
                </a:outerShdw>
              </a:effectLst>
            </a:endParaRPr>
          </a:p>
          <a:p>
            <a:pPr lvl="0" fontAlgn="base">
              <a:buClrTx/>
            </a:pPr>
            <a:r>
              <a:rPr lang="zh-CN" altLang="en-US" b="1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病邪侵袭、停积部位的差别</a:t>
            </a:r>
            <a:endParaRPr lang="zh-CN" altLang="en-US" b="1" strike="noStrike" noProof="1" dirty="0">
              <a:effectLst>
                <a:outerShdw blurRad="38100" dist="38100" dir="2700000">
                  <a:srgbClr val="C0C0C0"/>
                </a:outerShdw>
              </a:effectLst>
            </a:endParaRPr>
          </a:p>
        </p:txBody>
      </p:sp>
      <p:sp>
        <p:nvSpPr>
          <p:cNvPr id="173062" name="矩形 173061"/>
          <p:cNvSpPr/>
          <p:nvPr/>
        </p:nvSpPr>
        <p:spPr>
          <a:xfrm>
            <a:off x="5724525" y="4581525"/>
            <a:ext cx="3095625" cy="1439863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80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Tx/>
              <a:buChar char="–"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Tx/>
              <a:buChar char="–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fontAlgn="base">
              <a:buClrTx/>
              <a:buNone/>
            </a:pPr>
            <a:r>
              <a:rPr lang="zh-CN" altLang="en-US" b="1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证候表现各不相同</a:t>
            </a:r>
            <a:endParaRPr lang="zh-CN" altLang="en-US" b="1" strike="noStrike" noProof="1" dirty="0">
              <a:effectLst>
                <a:outerShdw blurRad="38100" dist="38100" dir="2700000">
                  <a:srgbClr val="C0C0C0"/>
                </a:outerShdw>
              </a:effectLst>
            </a:endParaRPr>
          </a:p>
          <a:p>
            <a:pPr lvl="0" fontAlgn="base">
              <a:buClrTx/>
              <a:buNone/>
            </a:pPr>
            <a:r>
              <a:rPr lang="zh-CN" altLang="en-US" b="1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很难以哪个症状</a:t>
            </a:r>
            <a:endParaRPr lang="zh-CN" altLang="en-US" b="1" strike="noStrike" noProof="1" dirty="0">
              <a:effectLst>
                <a:outerShdw blurRad="38100" dist="38100" dir="2700000">
                  <a:srgbClr val="C0C0C0"/>
                </a:outerShdw>
              </a:effectLst>
            </a:endParaRPr>
          </a:p>
          <a:p>
            <a:pPr lvl="0" fontAlgn="base">
              <a:buClrTx/>
              <a:buNone/>
            </a:pPr>
            <a:r>
              <a:rPr lang="zh-CN" altLang="en-US" b="1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作为实证的代表</a:t>
            </a:r>
            <a:endParaRPr lang="zh-CN" altLang="en-US" b="1" strike="noStrike" noProof="1" dirty="0">
              <a:effectLst>
                <a:outerShdw blurRad="38100" dist="38100" dir="2700000">
                  <a:srgbClr val="C0C0C0"/>
                </a:outerShdw>
              </a:effectLst>
            </a:endParaRPr>
          </a:p>
        </p:txBody>
      </p:sp>
      <p:sp>
        <p:nvSpPr>
          <p:cNvPr id="45061" name="右大括号 173062"/>
          <p:cNvSpPr/>
          <p:nvPr/>
        </p:nvSpPr>
        <p:spPr>
          <a:xfrm>
            <a:off x="5292725" y="4725988"/>
            <a:ext cx="144463" cy="1295400"/>
          </a:xfrm>
          <a:prstGeom prst="rightBrace">
            <a:avLst>
              <a:gd name="adj1" fmla="val 74641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p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1" name="标题 269313"/>
          <p:cNvSpPr>
            <a:spLocks noGrp="1"/>
          </p:cNvSpPr>
          <p:nvPr>
            <p:ph type="title"/>
          </p:nvPr>
        </p:nvSpPr>
        <p:spPr/>
        <p:txBody>
          <a:bodyPr anchor="b" anchorCtr="0"/>
          <a:p>
            <a:r>
              <a:rPr lang="zh-CN" altLang="en-US" dirty="0"/>
              <a:t>实证</a:t>
            </a:r>
            <a:endParaRPr lang="zh-CN" altLang="en-US" dirty="0"/>
          </a:p>
        </p:txBody>
      </p:sp>
      <p:sp>
        <p:nvSpPr>
          <p:cNvPr id="46082" name="文本占位符 269314"/>
          <p:cNvSpPr>
            <a:spLocks noGrp="1"/>
          </p:cNvSpPr>
          <p:nvPr>
            <p:ph idx="1"/>
          </p:nvPr>
        </p:nvSpPr>
        <p:spPr/>
        <p:txBody>
          <a:bodyPr anchor="t" anchorCtr="0"/>
          <a:p>
            <a:r>
              <a:rPr lang="zh-CN" altLang="en-US" b="1" dirty="0"/>
              <a:t>辨证要点：</a:t>
            </a:r>
            <a:endParaRPr lang="zh-CN" altLang="en-US" b="1" dirty="0"/>
          </a:p>
          <a:p>
            <a:r>
              <a:rPr lang="zh-CN" altLang="en-US" dirty="0"/>
              <a:t>实证是邪实正未虚，正邪剧争所致</a:t>
            </a:r>
            <a:endParaRPr lang="zh-CN" altLang="en-US" dirty="0"/>
          </a:p>
          <a:p>
            <a:r>
              <a:rPr lang="zh-CN" altLang="en-US" dirty="0"/>
              <a:t>病邪性质各异，症见多端，具体要详细参详</a:t>
            </a:r>
            <a:endParaRPr lang="zh-CN" alt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2274" name="标题 182273"/>
          <p:cNvSpPr>
            <a:spLocks noGrp="1"/>
          </p:cNvSpPr>
          <p:nvPr>
            <p:ph type="title"/>
          </p:nvPr>
        </p:nvSpPr>
        <p:spPr>
          <a:xfrm>
            <a:off x="468313" y="765175"/>
            <a:ext cx="6983413" cy="1143000"/>
          </a:xfrm>
        </p:spPr>
        <p:txBody>
          <a:bodyPr anchor="b" anchorCtr="0"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kern="1200" cap="none" spc="0" normalizeH="0" baseline="0" noProof="1" dirty="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+mj-ea"/>
                <a:cs typeface="+mj-cs"/>
              </a:rPr>
              <a:t>虚实证鉴别要点</a:t>
            </a:r>
            <a:endParaRPr kumimoji="0" lang="zh-CN" altLang="en-US" sz="3600" b="1" i="0" u="none" strike="noStrike" kern="1200" cap="none" spc="0" normalizeH="0" baseline="0" noProof="1" dirty="0">
              <a:solidFill>
                <a:schemeClr val="tx2"/>
              </a:solidFill>
              <a:effectLst>
                <a:outerShdw blurRad="38100" dist="38100" dir="2700000">
                  <a:srgbClr val="C0C0C0"/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182275" name="文本占位符 182274"/>
          <p:cNvSpPr>
            <a:spLocks noGrp="1"/>
          </p:cNvSpPr>
          <p:nvPr>
            <p:ph idx="1"/>
          </p:nvPr>
        </p:nvSpPr>
        <p:spPr>
          <a:xfrm>
            <a:off x="971550" y="2708275"/>
            <a:ext cx="7416800" cy="3167063"/>
          </a:xfrm>
        </p:spPr>
        <p:txBody>
          <a:bodyPr/>
          <a:p>
            <a:pPr marL="342900" marR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None/>
            </a:pP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一般说来：</a:t>
            </a:r>
            <a:endParaRPr kumimoji="0" lang="zh-CN" altLang="en-US" sz="2800" b="1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Char char="l"/>
            </a:pP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虚证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——</a:t>
            </a: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身体虚弱，实证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——</a:t>
            </a: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身体粗壮。</a:t>
            </a:r>
            <a:endParaRPr kumimoji="0" lang="zh-CN" altLang="en-US" sz="2800" b="1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Char char="l"/>
            </a:pP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虚证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——</a:t>
            </a: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声息低微，实证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——</a:t>
            </a: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声高息粗。</a:t>
            </a:r>
            <a:endParaRPr kumimoji="0" lang="zh-CN" altLang="en-US" sz="2800" b="1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Char char="l"/>
            </a:pP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久病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——</a:t>
            </a: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虚，暴病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——</a:t>
            </a: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实。</a:t>
            </a:r>
            <a:endParaRPr kumimoji="0" lang="zh-CN" altLang="en-US" sz="2800" b="1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Char char="l"/>
            </a:pP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舌质淡嫩，脉象无力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——</a:t>
            </a: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虚；</a:t>
            </a:r>
            <a:endParaRPr kumimoji="0" lang="zh-CN" altLang="en-US" sz="2800" b="1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Char char="l"/>
            </a:pP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舌质苍老，脉象有力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——</a:t>
            </a: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实。</a:t>
            </a:r>
            <a:endParaRPr kumimoji="0" lang="zh-CN" altLang="en-US" sz="2800" b="1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3298" name="标题 183297"/>
          <p:cNvSpPr>
            <a:spLocks noGrp="1"/>
          </p:cNvSpPr>
          <p:nvPr>
            <p:ph type="title"/>
          </p:nvPr>
        </p:nvSpPr>
        <p:spPr>
          <a:xfrm>
            <a:off x="2843213" y="836613"/>
            <a:ext cx="3873500" cy="706438"/>
          </a:xfrm>
          <a:solidFill>
            <a:schemeClr val="accent1">
              <a:alpha val="50000"/>
            </a:schemeClr>
          </a:solidFill>
        </p:spPr>
        <p:txBody>
          <a:bodyPr anchor="b" anchorCtr="0"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kern="1200" cap="none" spc="0" normalizeH="0" baseline="0" noProof="1" dirty="0">
                <a:solidFill>
                  <a:schemeClr val="tx2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+mj-ea"/>
                <a:cs typeface="+mj-cs"/>
              </a:rPr>
              <a:t>虚证与实证鉴别表</a:t>
            </a:r>
            <a:r>
              <a:rPr kumimoji="0" lang="zh-CN" altLang="en-US" sz="3600" b="1" i="0" u="none" strike="noStrike" kern="1200" cap="none" spc="0" normalizeH="0" baseline="0" noProof="1" dirty="0">
                <a:solidFill>
                  <a:schemeClr val="tx2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+mj-lt"/>
                <a:ea typeface="+mj-ea"/>
                <a:cs typeface="+mj-cs"/>
              </a:rPr>
              <a:t> </a:t>
            </a:r>
            <a:endParaRPr kumimoji="0" lang="zh-CN" altLang="en-US" sz="3600" b="1" i="0" u="none" strike="noStrike" kern="1200" cap="none" spc="0" normalizeH="0" baseline="0" noProof="1" dirty="0">
              <a:solidFill>
                <a:schemeClr val="tx2"/>
              </a:solidFill>
              <a:effectLst>
                <a:outerShdw blurRad="38100" dist="38100" dir="2700000">
                  <a:srgbClr val="000000"/>
                </a:outerShdw>
              </a:effectLst>
              <a:latin typeface="+mj-lt"/>
              <a:ea typeface="+mj-ea"/>
              <a:cs typeface="+mj-cs"/>
            </a:endParaRPr>
          </a:p>
        </p:txBody>
      </p:sp>
      <p:graphicFrame>
        <p:nvGraphicFramePr>
          <p:cNvPr id="183401" name="表格 183400"/>
          <p:cNvGraphicFramePr/>
          <p:nvPr/>
        </p:nvGraphicFramePr>
        <p:xfrm>
          <a:off x="755650" y="1773238"/>
          <a:ext cx="7850188" cy="4608513"/>
        </p:xfrm>
        <a:graphic>
          <a:graphicData uri="http://schemas.openxmlformats.org/drawingml/2006/table">
            <a:tbl>
              <a:tblPr/>
              <a:tblGrid>
                <a:gridCol w="720725"/>
                <a:gridCol w="647700"/>
                <a:gridCol w="636588"/>
                <a:gridCol w="627062"/>
                <a:gridCol w="625475"/>
                <a:gridCol w="557213"/>
                <a:gridCol w="904875"/>
                <a:gridCol w="903287"/>
                <a:gridCol w="696913"/>
                <a:gridCol w="833437"/>
                <a:gridCol w="696913"/>
              </a:tblGrid>
              <a:tr h="1030288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800" b="1" dirty="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rPr>
                        <a:t>证</a:t>
                      </a:r>
                      <a:endParaRPr lang="zh-CN" altLang="en-US" sz="2800" b="1" dirty="0">
                        <a:effectLst>
                          <a:outerShdw blurRad="38100" dist="38100" dir="2700000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zh-CN" altLang="en-US" sz="2800" b="1" dirty="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rPr>
                        <a:t>型</a:t>
                      </a:r>
                      <a:endParaRPr lang="zh-CN" altLang="en-US" sz="2800" b="1" dirty="0"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800" b="1" dirty="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rPr>
                        <a:t>病</a:t>
                      </a:r>
                      <a:endParaRPr lang="zh-CN" altLang="en-US" sz="2800" b="1" dirty="0">
                        <a:effectLst>
                          <a:outerShdw blurRad="38100" dist="38100" dir="2700000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zh-CN" altLang="en-US" sz="2800" b="1" dirty="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rPr>
                        <a:t>程</a:t>
                      </a:r>
                      <a:endParaRPr lang="zh-CN" altLang="en-US" sz="2800" b="1" dirty="0"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800" b="1" dirty="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rPr>
                        <a:t>体</a:t>
                      </a:r>
                      <a:endParaRPr lang="zh-CN" altLang="en-US" sz="2800" b="1" dirty="0">
                        <a:effectLst>
                          <a:outerShdw blurRad="38100" dist="38100" dir="2700000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zh-CN" altLang="en-US" sz="2800" b="1" dirty="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rPr>
                        <a:t>质</a:t>
                      </a:r>
                      <a:endParaRPr lang="zh-CN" altLang="en-US" sz="2800" b="1" dirty="0">
                        <a:effectLst>
                          <a:outerShdw blurRad="38100" dist="38100" dir="2700000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800" b="1" dirty="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rPr>
                        <a:t>精</a:t>
                      </a:r>
                      <a:endParaRPr lang="zh-CN" altLang="en-US" sz="2800" b="1" dirty="0">
                        <a:effectLst>
                          <a:outerShdw blurRad="38100" dist="38100" dir="2700000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zh-CN" altLang="en-US" sz="2800" b="1" dirty="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rPr>
                        <a:t>神</a:t>
                      </a:r>
                      <a:endParaRPr lang="zh-CN" altLang="en-US" sz="2800" b="1" dirty="0">
                        <a:effectLst>
                          <a:outerShdw blurRad="38100" dist="38100" dir="2700000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800" b="1" dirty="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rPr>
                        <a:t>声</a:t>
                      </a:r>
                      <a:endParaRPr lang="zh-CN" altLang="en-US" sz="2800" b="1" dirty="0">
                        <a:effectLst>
                          <a:outerShdw blurRad="38100" dist="38100" dir="2700000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zh-CN" altLang="en-US" sz="2800" b="1" dirty="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rPr>
                        <a:t>息</a:t>
                      </a:r>
                      <a:endParaRPr lang="zh-CN" altLang="en-US" sz="2800" b="1" dirty="0">
                        <a:effectLst>
                          <a:outerShdw blurRad="38100" dist="38100" dir="2700000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800" b="1" dirty="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rPr>
                        <a:t>疼</a:t>
                      </a:r>
                      <a:endParaRPr lang="zh-CN" altLang="en-US" sz="2800" b="1" dirty="0">
                        <a:effectLst>
                          <a:outerShdw blurRad="38100" dist="38100" dir="2700000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zh-CN" altLang="en-US" sz="2800" b="1" dirty="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rPr>
                        <a:t>痛</a:t>
                      </a:r>
                      <a:endParaRPr lang="zh-CN" altLang="en-US" sz="2800" b="1" dirty="0">
                        <a:effectLst>
                          <a:outerShdw blurRad="38100" dist="38100" dir="2700000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800" b="1" dirty="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rPr>
                        <a:t>脘</a:t>
                      </a:r>
                      <a:endParaRPr lang="zh-CN" altLang="en-US" sz="2800" b="1" dirty="0">
                        <a:effectLst>
                          <a:outerShdw blurRad="38100" dist="38100" dir="2700000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zh-CN" altLang="en-US" sz="2800" b="1" dirty="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rPr>
                        <a:t>腹</a:t>
                      </a:r>
                      <a:endParaRPr lang="zh-CN" altLang="en-US" sz="2800" b="1" dirty="0">
                        <a:effectLst>
                          <a:outerShdw blurRad="38100" dist="38100" dir="2700000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800" b="1" dirty="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rPr>
                        <a:t>发</a:t>
                      </a:r>
                      <a:endParaRPr lang="zh-CN" altLang="en-US" sz="2800" b="1" dirty="0">
                        <a:effectLst>
                          <a:outerShdw blurRad="38100" dist="38100" dir="2700000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zh-CN" altLang="en-US" sz="2800" b="1" dirty="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rPr>
                        <a:t>热</a:t>
                      </a:r>
                      <a:endParaRPr lang="zh-CN" altLang="en-US" sz="2800" b="1" dirty="0">
                        <a:effectLst>
                          <a:outerShdw blurRad="38100" dist="38100" dir="2700000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800" b="1" dirty="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rPr>
                        <a:t>恶</a:t>
                      </a:r>
                      <a:endParaRPr lang="zh-CN" altLang="en-US" sz="2800" b="1" dirty="0">
                        <a:effectLst>
                          <a:outerShdw blurRad="38100" dist="38100" dir="2700000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zh-CN" altLang="en-US" sz="2800" b="1" dirty="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rPr>
                        <a:t>寒</a:t>
                      </a:r>
                      <a:endParaRPr lang="zh-CN" altLang="en-US" sz="2800" b="1" dirty="0">
                        <a:effectLst>
                          <a:outerShdw blurRad="38100" dist="38100" dir="2700000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800" b="1" dirty="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rPr>
                        <a:t>舌</a:t>
                      </a:r>
                      <a:endParaRPr lang="zh-CN" altLang="en-US" sz="2800" b="1" dirty="0">
                        <a:effectLst>
                          <a:outerShdw blurRad="38100" dist="38100" dir="2700000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zh-CN" altLang="en-US" sz="2800" b="1" dirty="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rPr>
                        <a:t>象</a:t>
                      </a:r>
                      <a:endParaRPr lang="zh-CN" altLang="en-US" sz="2800" b="1" dirty="0">
                        <a:effectLst>
                          <a:outerShdw blurRad="38100" dist="38100" dir="2700000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800" b="1" dirty="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rPr>
                        <a:t>脉</a:t>
                      </a:r>
                      <a:endParaRPr lang="zh-CN" altLang="en-US" sz="2800" b="1" dirty="0">
                        <a:effectLst>
                          <a:outerShdw blurRad="38100" dist="38100" dir="2700000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zh-CN" altLang="en-US" sz="2800" b="1" dirty="0"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rPr>
                        <a:t>象</a:t>
                      </a:r>
                      <a:endParaRPr lang="zh-CN" altLang="en-US" sz="2800" b="1" dirty="0"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</a:tr>
              <a:tr h="1798637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800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zh-CN" altLang="en-US" sz="2800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虚</a:t>
                      </a:r>
                      <a:endParaRPr lang="zh-CN" altLang="en-US" sz="2800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  <a:p>
                      <a:pPr marL="0" lvl="0" indent="0">
                        <a:buNone/>
                      </a:pPr>
                      <a:r>
                        <a:rPr lang="zh-CN" altLang="en-US" sz="2800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 </a:t>
                      </a:r>
                      <a:endParaRPr lang="zh-CN" altLang="en-US" sz="2800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  <a:p>
                      <a:pPr marL="0" lvl="0" indent="0">
                        <a:buNone/>
                      </a:pPr>
                      <a:r>
                        <a:rPr lang="zh-CN" altLang="en-US" sz="2800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 证</a:t>
                      </a:r>
                      <a:endParaRPr lang="zh-CN" altLang="en-US" sz="2800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800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宋体" panose="02010600030101010101" pitchFamily="2" charset="-122"/>
                        </a:rPr>
                        <a:t>长</a:t>
                      </a:r>
                      <a:endParaRPr lang="zh-CN" altLang="en-US" sz="2800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宋体" panose="02010600030101010101" pitchFamily="2" charset="-122"/>
                      </a:endParaRPr>
                    </a:p>
                    <a:p>
                      <a:pPr marL="0" lvl="0" indent="0">
                        <a:buNone/>
                      </a:pPr>
                      <a:r>
                        <a:rPr lang="zh-CN" altLang="en-US" sz="2800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宋体" panose="02010600030101010101" pitchFamily="2" charset="-122"/>
                        </a:rPr>
                        <a:t>久病</a:t>
                      </a:r>
                      <a:r>
                        <a:rPr lang="zh-CN" altLang="en-US" sz="2800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</a:rPr>
                        <a:t> </a:t>
                      </a:r>
                      <a:endParaRPr lang="zh-CN" altLang="en-US" sz="2800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800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宋体" panose="02010600030101010101" pitchFamily="2" charset="-122"/>
                        </a:rPr>
                        <a:t>多</a:t>
                      </a:r>
                      <a:endParaRPr lang="zh-CN" altLang="en-US" sz="2800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宋体" panose="02010600030101010101" pitchFamily="2" charset="-122"/>
                      </a:endParaRPr>
                    </a:p>
                    <a:p>
                      <a:pPr marL="0" lvl="0" indent="0">
                        <a:buNone/>
                      </a:pPr>
                      <a:r>
                        <a:rPr lang="zh-CN" altLang="en-US" sz="2800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宋体" panose="02010600030101010101" pitchFamily="2" charset="-122"/>
                        </a:rPr>
                        <a:t>虚</a:t>
                      </a:r>
                      <a:endParaRPr lang="zh-CN" altLang="en-US" sz="2800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宋体" panose="02010600030101010101" pitchFamily="2" charset="-122"/>
                      </a:endParaRPr>
                    </a:p>
                    <a:p>
                      <a:pPr marL="0" lvl="0" indent="0">
                        <a:buNone/>
                      </a:pPr>
                      <a:r>
                        <a:rPr lang="zh-CN" altLang="en-US" sz="2800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宋体" panose="02010600030101010101" pitchFamily="2" charset="-122"/>
                        </a:rPr>
                        <a:t>弱</a:t>
                      </a:r>
                      <a:endParaRPr lang="zh-CN" altLang="en-US" sz="2800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800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宋体" panose="02010600030101010101" pitchFamily="2" charset="-122"/>
                        </a:rPr>
                        <a:t>萎</a:t>
                      </a:r>
                      <a:endParaRPr lang="zh-CN" altLang="en-US" sz="2800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宋体" panose="02010600030101010101" pitchFamily="2" charset="-122"/>
                      </a:endParaRPr>
                    </a:p>
                    <a:p>
                      <a:pPr marL="0" lvl="0" indent="0">
                        <a:buNone/>
                      </a:pPr>
                      <a:r>
                        <a:rPr lang="zh-CN" altLang="en-US" sz="2800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宋体" panose="02010600030101010101" pitchFamily="2" charset="-122"/>
                        </a:rPr>
                        <a:t>靡</a:t>
                      </a:r>
                      <a:endParaRPr lang="zh-CN" altLang="en-US" sz="2800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宋体" panose="02010600030101010101" pitchFamily="2" charset="-122"/>
                        </a:rPr>
                        <a:t>声</a:t>
                      </a:r>
                      <a:endParaRPr lang="zh-CN" altLang="en-US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宋体" panose="02010600030101010101" pitchFamily="2" charset="-122"/>
                      </a:endParaRPr>
                    </a:p>
                    <a:p>
                      <a:pPr marL="0" lvl="0" indent="0">
                        <a:buNone/>
                      </a:pPr>
                      <a:r>
                        <a:rPr lang="zh-CN" altLang="en-US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宋体" panose="02010600030101010101" pitchFamily="2" charset="-122"/>
                        </a:rPr>
                        <a:t>低</a:t>
                      </a:r>
                      <a:endParaRPr lang="zh-CN" altLang="en-US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宋体" panose="02010600030101010101" pitchFamily="2" charset="-122"/>
                      </a:endParaRPr>
                    </a:p>
                    <a:p>
                      <a:pPr marL="0" lvl="0" indent="0">
                        <a:buNone/>
                      </a:pPr>
                      <a:r>
                        <a:rPr lang="zh-CN" altLang="en-US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宋体" panose="02010600030101010101" pitchFamily="2" charset="-122"/>
                        </a:rPr>
                        <a:t>息</a:t>
                      </a:r>
                      <a:endParaRPr lang="zh-CN" altLang="en-US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宋体" panose="02010600030101010101" pitchFamily="2" charset="-122"/>
                      </a:endParaRPr>
                    </a:p>
                    <a:p>
                      <a:pPr marL="0" lvl="0" indent="0">
                        <a:buNone/>
                      </a:pPr>
                      <a:r>
                        <a:rPr lang="zh-CN" altLang="en-US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宋体" panose="02010600030101010101" pitchFamily="2" charset="-122"/>
                        </a:rPr>
                        <a:t>微</a:t>
                      </a:r>
                      <a:r>
                        <a:rPr lang="zh-CN" altLang="en-US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</a:rPr>
                        <a:t> </a:t>
                      </a:r>
                      <a:endParaRPr lang="zh-CN" altLang="en-US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800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宋体" panose="02010600030101010101" pitchFamily="2" charset="-122"/>
                        </a:rPr>
                        <a:t>喜</a:t>
                      </a:r>
                      <a:endParaRPr lang="zh-CN" altLang="en-US" sz="2800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宋体" panose="02010600030101010101" pitchFamily="2" charset="-122"/>
                      </a:endParaRPr>
                    </a:p>
                    <a:p>
                      <a:pPr marL="0" lvl="0" indent="0">
                        <a:buNone/>
                      </a:pPr>
                      <a:r>
                        <a:rPr lang="zh-CN" altLang="en-US" sz="2800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宋体" panose="02010600030101010101" pitchFamily="2" charset="-122"/>
                        </a:rPr>
                        <a:t>按</a:t>
                      </a:r>
                      <a:endParaRPr lang="zh-CN" altLang="en-US" sz="2800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宋体" panose="02010600030101010101" pitchFamily="2" charset="-122"/>
                        </a:rPr>
                        <a:t>按之</a:t>
                      </a:r>
                      <a:endParaRPr lang="zh-CN" altLang="en-US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宋体" panose="02010600030101010101" pitchFamily="2" charset="-122"/>
                      </a:endParaRPr>
                    </a:p>
                    <a:p>
                      <a:pPr marL="0" lvl="0" indent="0">
                        <a:buNone/>
                      </a:pPr>
                      <a:r>
                        <a:rPr lang="zh-CN" altLang="en-US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宋体" panose="02010600030101010101" pitchFamily="2" charset="-122"/>
                        </a:rPr>
                        <a:t>不痛</a:t>
                      </a:r>
                      <a:endParaRPr lang="zh-CN" altLang="en-US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宋体" panose="02010600030101010101" pitchFamily="2" charset="-122"/>
                      </a:endParaRPr>
                    </a:p>
                    <a:p>
                      <a:pPr marL="0" lvl="0" indent="0">
                        <a:buNone/>
                      </a:pPr>
                      <a:r>
                        <a:rPr lang="zh-CN" altLang="en-US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宋体" panose="02010600030101010101" pitchFamily="2" charset="-122"/>
                        </a:rPr>
                        <a:t>胀满</a:t>
                      </a:r>
                      <a:endParaRPr lang="zh-CN" altLang="en-US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宋体" panose="02010600030101010101" pitchFamily="2" charset="-122"/>
                      </a:endParaRPr>
                    </a:p>
                    <a:p>
                      <a:pPr marL="0" lvl="0" indent="0">
                        <a:buNone/>
                      </a:pPr>
                      <a:r>
                        <a:rPr lang="zh-CN" altLang="en-US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宋体" panose="02010600030101010101" pitchFamily="2" charset="-122"/>
                        </a:rPr>
                        <a:t>时减</a:t>
                      </a:r>
                      <a:endParaRPr lang="zh-CN" altLang="en-US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800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宋体" panose="02010600030101010101" pitchFamily="2" charset="-122"/>
                        </a:rPr>
                        <a:t>五心烦热午后微热</a:t>
                      </a:r>
                      <a:r>
                        <a:rPr lang="zh-CN" altLang="en-US" sz="2800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</a:rPr>
                        <a:t> </a:t>
                      </a:r>
                      <a:endParaRPr lang="zh-CN" altLang="en-US" sz="2800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800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</a:rPr>
                        <a:t>畏</a:t>
                      </a:r>
                      <a:endParaRPr lang="zh-CN" altLang="en-US" sz="2800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</a:endParaRPr>
                    </a:p>
                    <a:p>
                      <a:pPr marL="0" lvl="0" indent="0">
                        <a:buNone/>
                      </a:pPr>
                      <a:r>
                        <a:rPr lang="zh-CN" altLang="en-US" sz="2800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</a:rPr>
                        <a:t>寒</a:t>
                      </a:r>
                      <a:endParaRPr lang="zh-CN" altLang="en-US" sz="2800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宋体" panose="02010600030101010101" pitchFamily="2" charset="-122"/>
                        </a:rPr>
                        <a:t>质嫩</a:t>
                      </a:r>
                      <a:endParaRPr lang="zh-CN" altLang="en-US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宋体" panose="02010600030101010101" pitchFamily="2" charset="-122"/>
                      </a:endParaRPr>
                    </a:p>
                    <a:p>
                      <a:pPr marL="0" lvl="0" indent="0">
                        <a:buNone/>
                      </a:pPr>
                      <a:r>
                        <a:rPr lang="zh-CN" altLang="en-US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宋体" panose="02010600030101010101" pitchFamily="2" charset="-122"/>
                        </a:rPr>
                        <a:t>少苔</a:t>
                      </a:r>
                      <a:endParaRPr lang="zh-CN" altLang="en-US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宋体" panose="02010600030101010101" pitchFamily="2" charset="-122"/>
                      </a:endParaRPr>
                    </a:p>
                    <a:p>
                      <a:pPr marL="0" lvl="0" indent="0">
                        <a:buNone/>
                      </a:pPr>
                      <a:r>
                        <a:rPr lang="zh-CN" altLang="en-US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宋体" panose="02010600030101010101" pitchFamily="2" charset="-122"/>
                        </a:rPr>
                        <a:t>或</a:t>
                      </a:r>
                      <a:endParaRPr lang="zh-CN" altLang="en-US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宋体" panose="02010600030101010101" pitchFamily="2" charset="-122"/>
                      </a:endParaRPr>
                    </a:p>
                    <a:p>
                      <a:pPr marL="0" lvl="0" indent="0">
                        <a:buNone/>
                      </a:pPr>
                      <a:r>
                        <a:rPr lang="zh-CN" altLang="en-US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宋体" panose="02010600030101010101" pitchFamily="2" charset="-122"/>
                        </a:rPr>
                        <a:t>无苔</a:t>
                      </a:r>
                      <a:endParaRPr lang="zh-CN" altLang="en-US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800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无</a:t>
                      </a:r>
                      <a:endParaRPr lang="zh-CN" altLang="en-US" sz="2800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zh-CN" altLang="en-US" sz="2800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力</a:t>
                      </a:r>
                      <a:endParaRPr lang="zh-CN" altLang="en-US" sz="2800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779588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800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实</a:t>
                      </a:r>
                      <a:endParaRPr lang="zh-CN" altLang="en-US" sz="2800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  <a:p>
                      <a:pPr marL="0" lvl="0" indent="0" algn="ctr">
                        <a:buNone/>
                      </a:pPr>
                      <a:endParaRPr lang="zh-CN" altLang="en-US" sz="2800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zh-CN" altLang="en-US" sz="2800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证</a:t>
                      </a:r>
                      <a:endParaRPr lang="zh-CN" altLang="en-US" sz="2800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800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宋体" panose="02010600030101010101" pitchFamily="2" charset="-122"/>
                        </a:rPr>
                        <a:t>短新病</a:t>
                      </a:r>
                      <a:endParaRPr lang="zh-CN" altLang="en-US" sz="2800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800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宋体" panose="02010600030101010101" pitchFamily="2" charset="-122"/>
                        </a:rPr>
                        <a:t>多</a:t>
                      </a:r>
                      <a:endParaRPr lang="zh-CN" altLang="en-US" sz="2800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宋体" panose="02010600030101010101" pitchFamily="2" charset="-122"/>
                      </a:endParaRPr>
                    </a:p>
                    <a:p>
                      <a:pPr marL="0" lvl="0" indent="0">
                        <a:buNone/>
                      </a:pPr>
                      <a:r>
                        <a:rPr lang="zh-CN" altLang="en-US" sz="2800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宋体" panose="02010600030101010101" pitchFamily="2" charset="-122"/>
                        </a:rPr>
                        <a:t>壮</a:t>
                      </a:r>
                      <a:endParaRPr lang="zh-CN" altLang="en-US" sz="2800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宋体" panose="02010600030101010101" pitchFamily="2" charset="-122"/>
                      </a:endParaRPr>
                    </a:p>
                    <a:p>
                      <a:pPr marL="0" lvl="0" indent="0">
                        <a:buNone/>
                      </a:pPr>
                      <a:r>
                        <a:rPr lang="zh-CN" altLang="en-US" sz="2800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宋体" panose="02010600030101010101" pitchFamily="2" charset="-122"/>
                        </a:rPr>
                        <a:t>实</a:t>
                      </a:r>
                      <a:endParaRPr lang="zh-CN" altLang="en-US" sz="2800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800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宋体" panose="02010600030101010101" pitchFamily="2" charset="-122"/>
                        </a:rPr>
                        <a:t>兴</a:t>
                      </a:r>
                      <a:endParaRPr lang="zh-CN" altLang="en-US" sz="2800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宋体" panose="02010600030101010101" pitchFamily="2" charset="-122"/>
                      </a:endParaRPr>
                    </a:p>
                    <a:p>
                      <a:pPr marL="0" lvl="0" indent="0">
                        <a:buNone/>
                      </a:pPr>
                      <a:r>
                        <a:rPr lang="zh-CN" altLang="en-US" sz="2800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宋体" panose="02010600030101010101" pitchFamily="2" charset="-122"/>
                        </a:rPr>
                        <a:t>奋</a:t>
                      </a:r>
                      <a:r>
                        <a:rPr lang="zh-CN" altLang="en-US" sz="2800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</a:rPr>
                        <a:t> </a:t>
                      </a:r>
                      <a:endParaRPr lang="zh-CN" altLang="en-US" sz="2800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宋体" panose="02010600030101010101" pitchFamily="2" charset="-122"/>
                        </a:rPr>
                        <a:t>声</a:t>
                      </a:r>
                      <a:endParaRPr lang="zh-CN" altLang="en-US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宋体" panose="02010600030101010101" pitchFamily="2" charset="-122"/>
                      </a:endParaRPr>
                    </a:p>
                    <a:p>
                      <a:pPr marL="0" lvl="0" indent="0">
                        <a:buNone/>
                      </a:pPr>
                      <a:r>
                        <a:rPr lang="zh-CN" altLang="en-US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宋体" panose="02010600030101010101" pitchFamily="2" charset="-122"/>
                        </a:rPr>
                        <a:t>高</a:t>
                      </a:r>
                      <a:endParaRPr lang="zh-CN" altLang="en-US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宋体" panose="02010600030101010101" pitchFamily="2" charset="-122"/>
                      </a:endParaRPr>
                    </a:p>
                    <a:p>
                      <a:pPr marL="0" lvl="0" indent="0">
                        <a:buNone/>
                      </a:pPr>
                      <a:r>
                        <a:rPr lang="zh-CN" altLang="en-US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宋体" panose="02010600030101010101" pitchFamily="2" charset="-122"/>
                        </a:rPr>
                        <a:t>气</a:t>
                      </a:r>
                      <a:endParaRPr lang="zh-CN" altLang="en-US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宋体" panose="02010600030101010101" pitchFamily="2" charset="-122"/>
                      </a:endParaRPr>
                    </a:p>
                    <a:p>
                      <a:pPr marL="0" lvl="0" indent="0">
                        <a:buNone/>
                      </a:pPr>
                      <a:r>
                        <a:rPr lang="zh-CN" altLang="en-US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宋体" panose="02010600030101010101" pitchFamily="2" charset="-122"/>
                        </a:rPr>
                        <a:t>粗</a:t>
                      </a:r>
                      <a:r>
                        <a:rPr lang="zh-CN" altLang="en-US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</a:rPr>
                        <a:t> </a:t>
                      </a:r>
                      <a:endParaRPr lang="zh-CN" altLang="en-US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800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宋体" panose="02010600030101010101" pitchFamily="2" charset="-122"/>
                        </a:rPr>
                        <a:t>拒</a:t>
                      </a:r>
                      <a:endParaRPr lang="zh-CN" altLang="en-US" sz="2800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宋体" panose="02010600030101010101" pitchFamily="2" charset="-122"/>
                      </a:endParaRPr>
                    </a:p>
                    <a:p>
                      <a:pPr marL="0" lvl="0" indent="0">
                        <a:buNone/>
                      </a:pPr>
                      <a:r>
                        <a:rPr lang="zh-CN" altLang="en-US" sz="2800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宋体" panose="02010600030101010101" pitchFamily="2" charset="-122"/>
                        </a:rPr>
                        <a:t>按</a:t>
                      </a:r>
                      <a:r>
                        <a:rPr lang="zh-CN" altLang="en-US" sz="2800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</a:rPr>
                        <a:t> </a:t>
                      </a:r>
                      <a:endParaRPr lang="zh-CN" altLang="en-US" sz="2800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宋体" panose="02010600030101010101" pitchFamily="2" charset="-122"/>
                        </a:rPr>
                        <a:t>按之</a:t>
                      </a:r>
                      <a:endParaRPr lang="zh-CN" altLang="en-US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宋体" panose="02010600030101010101" pitchFamily="2" charset="-122"/>
                      </a:endParaRPr>
                    </a:p>
                    <a:p>
                      <a:pPr marL="0" lvl="0" indent="0">
                        <a:buNone/>
                      </a:pPr>
                      <a:r>
                        <a:rPr lang="zh-CN" altLang="en-US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宋体" panose="02010600030101010101" pitchFamily="2" charset="-122"/>
                        </a:rPr>
                        <a:t>疼痛</a:t>
                      </a:r>
                      <a:endParaRPr lang="zh-CN" altLang="en-US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宋体" panose="02010600030101010101" pitchFamily="2" charset="-122"/>
                      </a:endParaRPr>
                    </a:p>
                    <a:p>
                      <a:pPr marL="0" lvl="0" indent="0">
                        <a:buNone/>
                      </a:pPr>
                      <a:r>
                        <a:rPr lang="zh-CN" altLang="en-US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宋体" panose="02010600030101010101" pitchFamily="2" charset="-122"/>
                        </a:rPr>
                        <a:t>胀满</a:t>
                      </a:r>
                      <a:endParaRPr lang="zh-CN" altLang="en-US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宋体" panose="02010600030101010101" pitchFamily="2" charset="-122"/>
                      </a:endParaRPr>
                    </a:p>
                    <a:p>
                      <a:pPr marL="0" lvl="0" indent="0">
                        <a:buNone/>
                      </a:pPr>
                      <a:r>
                        <a:rPr lang="zh-CN" altLang="en-US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宋体" panose="02010600030101010101" pitchFamily="2" charset="-122"/>
                        </a:rPr>
                        <a:t>不减</a:t>
                      </a:r>
                      <a:endParaRPr lang="zh-CN" altLang="en-US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800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蒸蒸状热</a:t>
                      </a:r>
                      <a:r>
                        <a:rPr lang="zh-CN" altLang="en-US" sz="2800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</a:rPr>
                        <a:t> </a:t>
                      </a:r>
                      <a:endParaRPr lang="zh-CN" altLang="en-US" sz="2800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800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</a:rPr>
                        <a:t>恶</a:t>
                      </a:r>
                      <a:endParaRPr lang="zh-CN" altLang="en-US" sz="2800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zh-CN" altLang="en-US" sz="2800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</a:rPr>
                        <a:t>寒</a:t>
                      </a:r>
                      <a:endParaRPr lang="zh-CN" altLang="en-US" sz="2800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宋体" panose="02010600030101010101" pitchFamily="2" charset="-122"/>
                        </a:rPr>
                        <a:t>质老苔厚腻</a:t>
                      </a:r>
                      <a:endParaRPr lang="zh-CN" altLang="en-US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800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zh-CN" altLang="en-US" sz="2800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有</a:t>
                      </a:r>
                      <a:endParaRPr lang="zh-CN" altLang="en-US" sz="2800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  <a:p>
                      <a:pPr marL="0" lvl="0" indent="0">
                        <a:buNone/>
                      </a:pPr>
                      <a:r>
                        <a:rPr lang="zh-CN" altLang="en-US" sz="2800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 力</a:t>
                      </a:r>
                      <a:endParaRPr lang="zh-CN" altLang="en-US" sz="2800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3" name="标题 257025"/>
          <p:cNvSpPr>
            <a:spLocks noGrp="1"/>
          </p:cNvSpPr>
          <p:nvPr>
            <p:ph type="title"/>
          </p:nvPr>
        </p:nvSpPr>
        <p:spPr/>
        <p:txBody>
          <a:bodyPr anchor="b" anchorCtr="0"/>
          <a:p>
            <a:r>
              <a:rPr lang="zh-CN" altLang="en-US" dirty="0"/>
              <a:t>虚实之间的关系</a:t>
            </a:r>
            <a:endParaRPr lang="zh-CN" altLang="en-US" dirty="0"/>
          </a:p>
        </p:txBody>
      </p:sp>
      <p:sp>
        <p:nvSpPr>
          <p:cNvPr id="49154" name="文本占位符 257026"/>
          <p:cNvSpPr>
            <a:spLocks noGrp="1"/>
          </p:cNvSpPr>
          <p:nvPr>
            <p:ph idx="1"/>
          </p:nvPr>
        </p:nvSpPr>
        <p:spPr/>
        <p:txBody>
          <a:bodyPr anchor="t" anchorCtr="0"/>
          <a:p>
            <a:r>
              <a:rPr lang="zh-CN" altLang="en-US" b="1" dirty="0"/>
              <a:t>虚实夹杂</a:t>
            </a:r>
            <a:endParaRPr lang="zh-CN" altLang="en-US" b="1" dirty="0"/>
          </a:p>
          <a:p>
            <a:r>
              <a:rPr lang="zh-CN" altLang="en-US" b="1" dirty="0"/>
              <a:t>虚实转化</a:t>
            </a:r>
            <a:endParaRPr lang="zh-CN" altLang="en-US" b="1" dirty="0"/>
          </a:p>
          <a:p>
            <a:r>
              <a:rPr lang="zh-CN" altLang="en-US" b="1" dirty="0"/>
              <a:t>虚实真假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2" name="文本占位符 46081"/>
          <p:cNvSpPr>
            <a:spLocks noGrp="1"/>
          </p:cNvSpPr>
          <p:nvPr>
            <p:ph idx="1"/>
          </p:nvPr>
        </p:nvSpPr>
        <p:spPr>
          <a:xfrm>
            <a:off x="684213" y="2349500"/>
            <a:ext cx="8135938" cy="3455988"/>
          </a:xfrm>
        </p:spPr>
        <p:txBody>
          <a:bodyPr/>
          <a:p>
            <a:pPr marL="342900" marR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Char char="l"/>
            </a:pP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阴阳辩证施概括证候类别的一对纲领，由于阴、阳分别代表事物相互对立的两个方面，故疾病的性质、临床的证候，一般都可归属于阴或阳的范畴。</a:t>
            </a:r>
            <a:endParaRPr kumimoji="0" lang="zh-CN" altLang="en-US" sz="2800" b="1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Char char="l"/>
            </a:pP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阴阳辨证是基本辨证大法，也是八纲辨证中的总纲</a:t>
            </a:r>
            <a:endParaRPr kumimoji="0" lang="zh-CN" altLang="en-US" sz="2800" b="1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+mn-lt"/>
              <a:ea typeface="+mn-ea"/>
              <a:cs typeface="+mn-cs"/>
            </a:endParaRPr>
          </a:p>
        </p:txBody>
      </p:sp>
      <p:sp>
        <p:nvSpPr>
          <p:cNvPr id="50178" name="矩形 46083"/>
          <p:cNvSpPr/>
          <p:nvPr/>
        </p:nvSpPr>
        <p:spPr>
          <a:xfrm>
            <a:off x="900113" y="981075"/>
            <a:ext cx="3586162" cy="855663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>
              <a:lnSpc>
                <a:spcPct val="90000"/>
              </a:lnSpc>
            </a:pPr>
            <a:r>
              <a:rPr lang="zh-CN" altLang="en-US" sz="3600" dirty="0">
                <a:solidFill>
                  <a:schemeClr val="tx2"/>
                </a:solidFill>
                <a:latin typeface="Times New Roman" panose="02020603050405020304" pitchFamily="18" charset="0"/>
              </a:rPr>
              <a:t>阴阳辨证</a:t>
            </a:r>
            <a:endParaRPr lang="zh-CN" altLang="en-US" sz="3600" dirty="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7394" name="标题 187393"/>
          <p:cNvSpPr>
            <a:spLocks noGrp="1"/>
          </p:cNvSpPr>
          <p:nvPr>
            <p:ph type="title"/>
          </p:nvPr>
        </p:nvSpPr>
        <p:spPr>
          <a:xfrm>
            <a:off x="684213" y="692150"/>
            <a:ext cx="3873500" cy="1143000"/>
          </a:xfrm>
        </p:spPr>
        <p:txBody>
          <a:bodyPr anchor="b" anchorCtr="0"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4400" b="1" i="0" u="none" strike="noStrike" kern="1200" cap="none" spc="0" normalizeH="0" baseline="0" noProof="1" dirty="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阳证</a:t>
            </a:r>
            <a:endParaRPr kumimoji="0" lang="zh-CN" altLang="en-US" sz="4400" b="1" i="0" u="none" strike="noStrike" kern="1200" cap="none" spc="0" normalizeH="0" baseline="0" noProof="1" dirty="0">
              <a:solidFill>
                <a:schemeClr val="tx2"/>
              </a:solidFill>
              <a:effectLst>
                <a:outerShdw blurRad="38100" dist="38100" dir="2700000">
                  <a:srgbClr val="C0C0C0"/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187395" name="文本占位符 187394"/>
          <p:cNvSpPr>
            <a:spLocks noGrp="1"/>
          </p:cNvSpPr>
          <p:nvPr>
            <p:ph idx="1"/>
          </p:nvPr>
        </p:nvSpPr>
        <p:spPr>
          <a:xfrm>
            <a:off x="900113" y="4581525"/>
            <a:ext cx="3513138" cy="635000"/>
          </a:xfrm>
        </p:spPr>
        <p:txBody>
          <a:bodyPr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</a:pP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病邪性质为阳邪致病</a:t>
            </a:r>
            <a:endParaRPr kumimoji="0" lang="zh-CN" altLang="en-US" sz="2800" b="1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87396" name="矩形 187395"/>
          <p:cNvSpPr/>
          <p:nvPr/>
        </p:nvSpPr>
        <p:spPr>
          <a:xfrm>
            <a:off x="900113" y="2689225"/>
            <a:ext cx="4451350" cy="9461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fontAlgn="base"/>
            <a:r>
              <a:rPr lang="zh-CN" altLang="en-US" sz="2800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兴奋、躁动、亢进、明亮等</a:t>
            </a:r>
            <a:endParaRPr lang="zh-CN" altLang="en-US" sz="2800" strike="noStrike" noProof="1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 fontAlgn="base"/>
            <a:r>
              <a:rPr lang="zh-CN" altLang="en-US" sz="2800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表现的表证、热证、实证</a:t>
            </a:r>
            <a:endParaRPr lang="zh-CN" altLang="en-US" sz="2800" strike="noStrike" noProof="1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87397" name="矩形 187396"/>
          <p:cNvSpPr/>
          <p:nvPr/>
        </p:nvSpPr>
        <p:spPr>
          <a:xfrm>
            <a:off x="900113" y="3860800"/>
            <a:ext cx="58737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fontAlgn="base"/>
            <a:r>
              <a:rPr lang="zh-CN" altLang="en-US" sz="2800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症状表现于外的、向上的、容易发现</a:t>
            </a:r>
            <a:endParaRPr lang="zh-CN" altLang="en-US" sz="2800" strike="noStrike" noProof="1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87398" name="矩形 187397"/>
          <p:cNvSpPr/>
          <p:nvPr/>
        </p:nvSpPr>
        <p:spPr>
          <a:xfrm>
            <a:off x="7235825" y="2852738"/>
            <a:ext cx="576263" cy="2665413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80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Tx/>
              <a:buChar char="–"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Tx/>
              <a:buChar char="–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fontAlgn="base">
              <a:lnSpc>
                <a:spcPct val="90000"/>
              </a:lnSpc>
              <a:buNone/>
            </a:pPr>
            <a:r>
              <a:rPr lang="zh-CN" altLang="en-US" b="1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归</a:t>
            </a:r>
            <a:endParaRPr lang="zh-CN" altLang="en-US" b="1" strike="noStrike" noProof="1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 lvl="0" fontAlgn="base">
              <a:lnSpc>
                <a:spcPct val="90000"/>
              </a:lnSpc>
              <a:buNone/>
            </a:pPr>
            <a:r>
              <a:rPr lang="zh-CN" altLang="en-US" b="1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属</a:t>
            </a:r>
            <a:endParaRPr lang="zh-CN" altLang="en-US" b="1" strike="noStrike" noProof="1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 lvl="0" fontAlgn="base">
              <a:lnSpc>
                <a:spcPct val="90000"/>
              </a:lnSpc>
              <a:buNone/>
            </a:pPr>
            <a:r>
              <a:rPr lang="zh-CN" altLang="en-US" b="1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为</a:t>
            </a:r>
            <a:endParaRPr lang="zh-CN" altLang="en-US" b="1" strike="noStrike" noProof="1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 lvl="0" fontAlgn="base">
              <a:lnSpc>
                <a:spcPct val="90000"/>
              </a:lnSpc>
              <a:buNone/>
            </a:pPr>
            <a:r>
              <a:rPr lang="zh-CN" altLang="en-US" b="1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阳</a:t>
            </a:r>
            <a:endParaRPr lang="zh-CN" altLang="en-US" b="1" strike="noStrike" noProof="1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 lvl="0" fontAlgn="base">
              <a:lnSpc>
                <a:spcPct val="90000"/>
              </a:lnSpc>
              <a:buNone/>
            </a:pPr>
            <a:r>
              <a:rPr lang="zh-CN" altLang="en-US" b="1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证</a:t>
            </a:r>
            <a:endParaRPr lang="zh-CN" altLang="en-US" b="1" strike="noStrike" noProof="1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87399" name="矩形 187398"/>
          <p:cNvSpPr/>
          <p:nvPr/>
        </p:nvSpPr>
        <p:spPr>
          <a:xfrm>
            <a:off x="900113" y="5229225"/>
            <a:ext cx="2708275" cy="6350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80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Tx/>
              <a:buChar char="–"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Tx/>
              <a:buChar char="–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fontAlgn="base">
              <a:buNone/>
            </a:pPr>
            <a:r>
              <a:rPr lang="zh-CN" altLang="en-US" b="1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病情变化较快</a:t>
            </a:r>
            <a:endParaRPr lang="zh-CN" altLang="en-US" b="1" strike="noStrike" noProof="1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51207" name="双大括号 187399"/>
          <p:cNvSpPr/>
          <p:nvPr/>
        </p:nvSpPr>
        <p:spPr>
          <a:xfrm>
            <a:off x="611188" y="2852738"/>
            <a:ext cx="6408737" cy="2665412"/>
          </a:xfrm>
          <a:prstGeom prst="bracePair">
            <a:avLst>
              <a:gd name="adj" fmla="val 8333"/>
            </a:avLst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p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5346" name="标题 185345"/>
          <p:cNvSpPr>
            <a:spLocks noGrp="1"/>
          </p:cNvSpPr>
          <p:nvPr>
            <p:ph type="title"/>
          </p:nvPr>
        </p:nvSpPr>
        <p:spPr>
          <a:xfrm>
            <a:off x="684213" y="692150"/>
            <a:ext cx="3873500" cy="1143000"/>
          </a:xfrm>
        </p:spPr>
        <p:txBody>
          <a:bodyPr anchor="b" anchorCtr="0"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4400" b="1" i="0" u="none" strike="noStrike" kern="1200" cap="none" spc="0" normalizeH="0" baseline="0" noProof="1" dirty="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阴证</a:t>
            </a:r>
            <a:endParaRPr kumimoji="0" lang="zh-CN" altLang="en-US" sz="4400" b="1" i="0" u="none" strike="noStrike" kern="1200" cap="none" spc="0" normalizeH="0" baseline="0" noProof="1" dirty="0">
              <a:solidFill>
                <a:schemeClr val="tx2"/>
              </a:solidFill>
              <a:effectLst>
                <a:outerShdw blurRad="38100" dist="38100" dir="2700000">
                  <a:srgbClr val="C0C0C0"/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185347" name="文本占位符 185346"/>
          <p:cNvSpPr>
            <a:spLocks noGrp="1"/>
          </p:cNvSpPr>
          <p:nvPr>
            <p:ph idx="1"/>
          </p:nvPr>
        </p:nvSpPr>
        <p:spPr>
          <a:xfrm>
            <a:off x="900113" y="4581525"/>
            <a:ext cx="3513138" cy="635000"/>
          </a:xfrm>
        </p:spPr>
        <p:txBody>
          <a:bodyPr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</a:pP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病邪性质为阴邪致病</a:t>
            </a:r>
            <a:endParaRPr kumimoji="0" lang="zh-CN" altLang="en-US" sz="2800" b="1" i="0" u="none" strike="noStrike" kern="1200" cap="none" spc="0" normalizeH="0" baseline="0" noProof="1" dirty="0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85348" name="矩形 185347"/>
          <p:cNvSpPr/>
          <p:nvPr/>
        </p:nvSpPr>
        <p:spPr>
          <a:xfrm>
            <a:off x="900113" y="2689225"/>
            <a:ext cx="4451350" cy="9461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fontAlgn="base"/>
            <a:r>
              <a:rPr lang="zh-CN" altLang="en-US" sz="2800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抑制、沉静、衰退、晦暗</a:t>
            </a:r>
            <a:endParaRPr lang="zh-CN" altLang="en-US" sz="2800" strike="noStrike" noProof="1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 fontAlgn="base"/>
            <a:r>
              <a:rPr lang="zh-CN" altLang="en-US" sz="2800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等表现的里证、寒证、虚证</a:t>
            </a:r>
            <a:endParaRPr lang="zh-CN" altLang="en-US" sz="2800" strike="noStrike" noProof="1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85349" name="矩形 185348"/>
          <p:cNvSpPr/>
          <p:nvPr/>
        </p:nvSpPr>
        <p:spPr>
          <a:xfrm>
            <a:off x="900113" y="3860800"/>
            <a:ext cx="58737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fontAlgn="base"/>
            <a:r>
              <a:rPr lang="zh-CN" altLang="en-US" sz="2800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症状表现于内的、向下的、不易发现</a:t>
            </a:r>
            <a:endParaRPr lang="zh-CN" altLang="en-US" sz="2800" strike="noStrike" noProof="1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85350" name="矩形 185349"/>
          <p:cNvSpPr/>
          <p:nvPr/>
        </p:nvSpPr>
        <p:spPr>
          <a:xfrm>
            <a:off x="7235825" y="2852738"/>
            <a:ext cx="576263" cy="2665413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80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Tx/>
              <a:buChar char="–"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Tx/>
              <a:buChar char="–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fontAlgn="base">
              <a:lnSpc>
                <a:spcPct val="90000"/>
              </a:lnSpc>
              <a:buNone/>
            </a:pPr>
            <a:r>
              <a:rPr lang="zh-CN" altLang="en-US" b="1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归</a:t>
            </a:r>
            <a:endParaRPr lang="zh-CN" altLang="en-US" b="1" strike="noStrike" noProof="1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 lvl="0" fontAlgn="base">
              <a:lnSpc>
                <a:spcPct val="90000"/>
              </a:lnSpc>
              <a:buNone/>
            </a:pPr>
            <a:r>
              <a:rPr lang="zh-CN" altLang="en-US" b="1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属</a:t>
            </a:r>
            <a:endParaRPr lang="zh-CN" altLang="en-US" b="1" strike="noStrike" noProof="1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 lvl="0" fontAlgn="base">
              <a:lnSpc>
                <a:spcPct val="90000"/>
              </a:lnSpc>
              <a:buNone/>
            </a:pPr>
            <a:r>
              <a:rPr lang="zh-CN" altLang="en-US" b="1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为</a:t>
            </a:r>
            <a:endParaRPr lang="zh-CN" altLang="en-US" b="1" strike="noStrike" noProof="1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 lvl="0" fontAlgn="base">
              <a:lnSpc>
                <a:spcPct val="90000"/>
              </a:lnSpc>
              <a:buNone/>
            </a:pPr>
            <a:r>
              <a:rPr lang="zh-CN" altLang="en-US" b="1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阴</a:t>
            </a:r>
            <a:endParaRPr lang="zh-CN" altLang="en-US" b="1" strike="noStrike" noProof="1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 lvl="0" fontAlgn="base">
              <a:lnSpc>
                <a:spcPct val="90000"/>
              </a:lnSpc>
              <a:buNone/>
            </a:pPr>
            <a:r>
              <a:rPr lang="zh-CN" altLang="en-US" b="1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证</a:t>
            </a:r>
            <a:endParaRPr lang="zh-CN" altLang="en-US" b="1" strike="noStrike" noProof="1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85351" name="矩形 185350"/>
          <p:cNvSpPr/>
          <p:nvPr/>
        </p:nvSpPr>
        <p:spPr>
          <a:xfrm>
            <a:off x="900113" y="5229225"/>
            <a:ext cx="2708275" cy="6350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80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Tx/>
              <a:buChar char="–"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Tx/>
              <a:buChar char="–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fontAlgn="base">
              <a:buNone/>
            </a:pPr>
            <a:r>
              <a:rPr lang="zh-CN" altLang="en-US" b="1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病情变化较慢</a:t>
            </a:r>
            <a:endParaRPr lang="zh-CN" altLang="en-US" b="1" strike="noStrike" noProof="1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52231" name="双大括号 185351"/>
          <p:cNvSpPr/>
          <p:nvPr/>
        </p:nvSpPr>
        <p:spPr>
          <a:xfrm>
            <a:off x="611188" y="2852738"/>
            <a:ext cx="6408737" cy="2665412"/>
          </a:xfrm>
          <a:prstGeom prst="bracePair">
            <a:avLst>
              <a:gd name="adj" fmla="val 8333"/>
            </a:avLst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p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49" name="标题 258049"/>
          <p:cNvSpPr>
            <a:spLocks noGrp="1"/>
          </p:cNvSpPr>
          <p:nvPr>
            <p:ph type="title"/>
          </p:nvPr>
        </p:nvSpPr>
        <p:spPr/>
        <p:txBody>
          <a:bodyPr anchor="b" anchorCtr="0"/>
          <a:p>
            <a:r>
              <a:rPr lang="zh-CN" altLang="en-US" dirty="0"/>
              <a:t>阴证</a:t>
            </a:r>
            <a:endParaRPr lang="zh-CN" altLang="en-US" dirty="0"/>
          </a:p>
        </p:txBody>
      </p:sp>
      <p:sp>
        <p:nvSpPr>
          <p:cNvPr id="53250" name="文本占位符 258050"/>
          <p:cNvSpPr>
            <a:spLocks noGrp="1"/>
          </p:cNvSpPr>
          <p:nvPr>
            <p:ph idx="1"/>
          </p:nvPr>
        </p:nvSpPr>
        <p:spPr/>
        <p:txBody>
          <a:bodyPr anchor="t" anchorCtr="0"/>
          <a:p>
            <a:r>
              <a:rPr lang="zh-CN" altLang="en-US" b="1" dirty="0"/>
              <a:t>概念：是指机体阳气虚衰，阴寒内盛所表现的证候。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3" name="标题 186369"/>
          <p:cNvSpPr>
            <a:spLocks noGrp="1"/>
          </p:cNvSpPr>
          <p:nvPr>
            <p:ph type="title"/>
          </p:nvPr>
        </p:nvSpPr>
        <p:spPr/>
        <p:txBody>
          <a:bodyPr anchor="b" anchorCtr="0"/>
          <a:p>
            <a:r>
              <a:rPr lang="zh-CN" altLang="en-US" dirty="0"/>
              <a:t>临床表现</a:t>
            </a:r>
            <a:endParaRPr lang="zh-CN" altLang="en-US" dirty="0"/>
          </a:p>
        </p:txBody>
      </p:sp>
      <p:sp>
        <p:nvSpPr>
          <p:cNvPr id="54274" name="文本占位符 186370"/>
          <p:cNvSpPr>
            <a:spLocks noGrp="1"/>
          </p:cNvSpPr>
          <p:nvPr>
            <p:ph idx="1"/>
          </p:nvPr>
        </p:nvSpPr>
        <p:spPr>
          <a:xfrm>
            <a:off x="611188" y="2420938"/>
            <a:ext cx="8001000" cy="2087562"/>
          </a:xfrm>
        </p:spPr>
        <p:txBody>
          <a:bodyPr anchor="t" anchorCtr="0"/>
          <a:p>
            <a:pPr>
              <a:buNone/>
            </a:pPr>
            <a:r>
              <a:rPr lang="en-US" altLang="zh-CN" b="1" dirty="0"/>
              <a:t>   </a:t>
            </a:r>
            <a:r>
              <a:rPr lang="zh-CN" altLang="en-US" b="1" dirty="0"/>
              <a:t>面色苍白或暗淡，精神萎靡，身重倦卧，</a:t>
            </a:r>
            <a:endParaRPr lang="zh-CN" altLang="en-US" b="1" dirty="0"/>
          </a:p>
          <a:p>
            <a:pPr>
              <a:buNone/>
            </a:pPr>
            <a:r>
              <a:rPr lang="zh-CN" altLang="en-US" b="1" dirty="0"/>
              <a:t>   畏冷肢凉、倦怠乏力、语声低微，纳呆、</a:t>
            </a:r>
            <a:endParaRPr lang="zh-CN" altLang="en-US" b="1" dirty="0"/>
          </a:p>
          <a:p>
            <a:pPr>
              <a:buNone/>
            </a:pPr>
            <a:r>
              <a:rPr lang="zh-CN" altLang="en-US" b="1" dirty="0"/>
              <a:t>   口淡不渴，小便清长，大便溏泄气腥，</a:t>
            </a:r>
            <a:endParaRPr lang="zh-CN" altLang="en-US" b="1" dirty="0"/>
          </a:p>
          <a:p>
            <a:pPr>
              <a:buNone/>
            </a:pPr>
            <a:r>
              <a:rPr lang="zh-CN" altLang="en-US" b="1" dirty="0"/>
              <a:t>   舌淡胖嫩，脉沉迟、微弱、细。</a:t>
            </a:r>
            <a:endParaRPr lang="zh-CN" altLang="en-US" b="1" dirty="0"/>
          </a:p>
        </p:txBody>
      </p:sp>
      <p:sp>
        <p:nvSpPr>
          <p:cNvPr id="54275" name="矩形 186371"/>
          <p:cNvSpPr/>
          <p:nvPr/>
        </p:nvSpPr>
        <p:spPr>
          <a:xfrm>
            <a:off x="468313" y="4868863"/>
            <a:ext cx="8424862" cy="1439862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Arial" panose="020B0604020202020204" pitchFamily="34" charset="0"/>
              </a:rPr>
              <a:t>精神萎靡，倦怠乏力、语声低微</a:t>
            </a:r>
            <a:r>
              <a:rPr lang="en-US" altLang="zh-CN" sz="2400">
                <a:latin typeface="Times New Roman" panose="02020603050405020304" pitchFamily="18" charset="0"/>
              </a:rPr>
              <a:t>——</a:t>
            </a:r>
            <a:r>
              <a:rPr lang="zh-CN" altLang="en-US" sz="2400" dirty="0">
                <a:latin typeface="Arial" panose="020B0604020202020204" pitchFamily="34" charset="0"/>
              </a:rPr>
              <a:t>气虚</a:t>
            </a:r>
            <a:endParaRPr lang="zh-CN" altLang="en-US" sz="2400" dirty="0">
              <a:latin typeface="Arial" panose="020B0604020202020204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Arial" panose="020B0604020202020204" pitchFamily="34" charset="0"/>
              </a:rPr>
              <a:t>畏冷肢凉、口淡不渴，小便清长，大便溏泄气腥</a:t>
            </a:r>
            <a:r>
              <a:rPr lang="en-US" altLang="zh-CN" sz="2400">
                <a:latin typeface="Times New Roman" panose="02020603050405020304" pitchFamily="18" charset="0"/>
              </a:rPr>
              <a:t>——</a:t>
            </a:r>
            <a:r>
              <a:rPr lang="zh-CN" altLang="en-US" sz="2400" dirty="0">
                <a:latin typeface="Arial" panose="020B0604020202020204" pitchFamily="34" charset="0"/>
              </a:rPr>
              <a:t>里寒</a:t>
            </a:r>
            <a:endParaRPr lang="zh-CN" altLang="en-US" sz="2400" dirty="0">
              <a:latin typeface="Arial" panose="020B0604020202020204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Arial" panose="020B0604020202020204" pitchFamily="34" charset="0"/>
              </a:rPr>
              <a:t>舌淡胖嫩，脉沉迟、微弱、细</a:t>
            </a:r>
            <a:r>
              <a:rPr lang="en-US" altLang="zh-CN" sz="2400">
                <a:latin typeface="Times New Roman" panose="02020603050405020304" pitchFamily="18" charset="0"/>
              </a:rPr>
              <a:t>——</a:t>
            </a:r>
            <a:r>
              <a:rPr lang="zh-CN" altLang="en-US" sz="2400" dirty="0">
                <a:latin typeface="Arial" panose="020B0604020202020204" pitchFamily="34" charset="0"/>
              </a:rPr>
              <a:t>虚寒舌脉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7" name="标题 271361"/>
          <p:cNvSpPr>
            <a:spLocks noGrp="1"/>
          </p:cNvSpPr>
          <p:nvPr>
            <p:ph type="title"/>
          </p:nvPr>
        </p:nvSpPr>
        <p:spPr/>
        <p:txBody>
          <a:bodyPr anchor="b" anchorCtr="0"/>
          <a:p>
            <a:r>
              <a:rPr lang="zh-CN" altLang="en-US" dirty="0"/>
              <a:t>阴虚证</a:t>
            </a:r>
            <a:endParaRPr lang="zh-CN" altLang="en-US" dirty="0"/>
          </a:p>
        </p:txBody>
      </p:sp>
      <p:sp>
        <p:nvSpPr>
          <p:cNvPr id="55298" name="文本占位符 271362"/>
          <p:cNvSpPr>
            <a:spLocks noGrp="1"/>
          </p:cNvSpPr>
          <p:nvPr>
            <p:ph idx="1"/>
          </p:nvPr>
        </p:nvSpPr>
        <p:spPr/>
        <p:txBody>
          <a:bodyPr anchor="t" anchorCtr="0"/>
          <a:p>
            <a:r>
              <a:rPr lang="zh-CN" altLang="en-US" dirty="0"/>
              <a:t>概念：是指机体阴液亏虚，而导致阴不制阳的虚热证。</a:t>
            </a:r>
            <a:endParaRPr lang="zh-CN" altLang="en-US" dirty="0"/>
          </a:p>
          <a:p>
            <a:r>
              <a:rPr lang="zh-CN" altLang="en-US" dirty="0"/>
              <a:t>临床表现：常见的有形体消瘦，两颧发赤，潮热盗汗，五心烦热，眩晕心悸失眠，咽干口燥，大便干结，舌红、绛，无苔或少苔，脉细数。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1" name="标题 273409"/>
          <p:cNvSpPr>
            <a:spLocks noGrp="1"/>
          </p:cNvSpPr>
          <p:nvPr>
            <p:ph type="title"/>
          </p:nvPr>
        </p:nvSpPr>
        <p:spPr/>
        <p:txBody>
          <a:bodyPr anchor="b" anchorCtr="0"/>
          <a:p>
            <a:r>
              <a:rPr lang="zh-CN" altLang="en-US" dirty="0"/>
              <a:t>阴证与阴虚证的辨别</a:t>
            </a:r>
            <a:endParaRPr lang="zh-CN" altLang="en-US" dirty="0"/>
          </a:p>
        </p:txBody>
      </p:sp>
      <p:sp>
        <p:nvSpPr>
          <p:cNvPr id="56322" name="文本占位符 273410"/>
          <p:cNvSpPr>
            <a:spLocks noGrp="1"/>
          </p:cNvSpPr>
          <p:nvPr>
            <p:ph idx="1"/>
          </p:nvPr>
        </p:nvSpPr>
        <p:spPr/>
        <p:txBody>
          <a:bodyPr anchor="t" anchorCtr="0"/>
          <a:p>
            <a:r>
              <a:rPr lang="zh-CN" altLang="en-US" dirty="0"/>
              <a:t>以上两者截然不同。阴证是体内阳气不足，温煦不足或代谢产物停留，而阴虚是热象虚热，津液亏损，突出一个 “干” 字。其次要注重脉、舌象。</a:t>
            </a:r>
            <a:endParaRPr lang="zh-CN" altLang="en-US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5" name="标题 259073"/>
          <p:cNvSpPr>
            <a:spLocks noGrp="1"/>
          </p:cNvSpPr>
          <p:nvPr>
            <p:ph type="title"/>
          </p:nvPr>
        </p:nvSpPr>
        <p:spPr>
          <a:xfrm>
            <a:off x="900113" y="765175"/>
            <a:ext cx="8001000" cy="1143000"/>
          </a:xfrm>
        </p:spPr>
        <p:txBody>
          <a:bodyPr anchor="b" anchorCtr="0"/>
          <a:p>
            <a:r>
              <a:rPr lang="zh-CN" altLang="en-US" dirty="0"/>
              <a:t>阳证</a:t>
            </a:r>
            <a:endParaRPr lang="zh-CN" altLang="en-US" dirty="0"/>
          </a:p>
        </p:txBody>
      </p:sp>
      <p:sp>
        <p:nvSpPr>
          <p:cNvPr id="57346" name="文本占位符 259074"/>
          <p:cNvSpPr>
            <a:spLocks noGrp="1"/>
          </p:cNvSpPr>
          <p:nvPr>
            <p:ph idx="1"/>
          </p:nvPr>
        </p:nvSpPr>
        <p:spPr/>
        <p:txBody>
          <a:bodyPr anchor="t" anchorCtr="0"/>
          <a:p>
            <a:r>
              <a:rPr lang="zh-CN" altLang="en-US" b="1" dirty="0"/>
              <a:t>概念：机体阳气亢盛，脏腑功能亢进导致阳热壅盛而表现的证候。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69" name="标题 188417"/>
          <p:cNvSpPr>
            <a:spLocks noGrp="1"/>
          </p:cNvSpPr>
          <p:nvPr>
            <p:ph type="title"/>
          </p:nvPr>
        </p:nvSpPr>
        <p:spPr/>
        <p:txBody>
          <a:bodyPr anchor="b" anchorCtr="0"/>
          <a:p>
            <a:r>
              <a:rPr lang="zh-CN" altLang="en-US" dirty="0"/>
              <a:t>临床表现</a:t>
            </a:r>
            <a:endParaRPr lang="zh-CN" altLang="en-US" dirty="0"/>
          </a:p>
        </p:txBody>
      </p:sp>
      <p:sp>
        <p:nvSpPr>
          <p:cNvPr id="58370" name="文本占位符 188418"/>
          <p:cNvSpPr>
            <a:spLocks noGrp="1"/>
          </p:cNvSpPr>
          <p:nvPr>
            <p:ph idx="1"/>
          </p:nvPr>
        </p:nvSpPr>
        <p:spPr>
          <a:xfrm>
            <a:off x="611188" y="2492375"/>
            <a:ext cx="8001000" cy="1800225"/>
          </a:xfrm>
        </p:spPr>
        <p:txBody>
          <a:bodyPr anchor="t" anchorCtr="0"/>
          <a:p>
            <a:pPr>
              <a:lnSpc>
                <a:spcPct val="90000"/>
              </a:lnSpc>
              <a:buNone/>
            </a:pPr>
            <a:r>
              <a:rPr lang="en-US" altLang="zh-CN" b="1" dirty="0"/>
              <a:t>    </a:t>
            </a:r>
            <a:r>
              <a:rPr lang="zh-CN" altLang="en-US" b="1" dirty="0"/>
              <a:t>面色赤，恶寒发热，肌肤灼热，烦躁不安，</a:t>
            </a:r>
            <a:endParaRPr lang="zh-CN" altLang="en-US" b="1" dirty="0"/>
          </a:p>
          <a:p>
            <a:pPr>
              <a:lnSpc>
                <a:spcPct val="90000"/>
              </a:lnSpc>
              <a:buNone/>
            </a:pPr>
            <a:r>
              <a:rPr lang="zh-CN" altLang="en-US" b="1" dirty="0"/>
              <a:t>   口渴饮冷，小便短赤、大便秘结，语声高亢，</a:t>
            </a:r>
            <a:endParaRPr lang="zh-CN" altLang="en-US" b="1" dirty="0"/>
          </a:p>
          <a:p>
            <a:pPr>
              <a:lnSpc>
                <a:spcPct val="90000"/>
              </a:lnSpc>
              <a:buNone/>
            </a:pPr>
            <a:r>
              <a:rPr lang="zh-CN" altLang="en-US" b="1" dirty="0"/>
              <a:t>    呼吸气粗，喘促痰鸣，舌红绛苔黄黑生芒刺，脉浮数、洪大、滑实。</a:t>
            </a:r>
            <a:endParaRPr lang="zh-CN" altLang="en-US" b="1" dirty="0"/>
          </a:p>
        </p:txBody>
      </p:sp>
      <p:sp>
        <p:nvSpPr>
          <p:cNvPr id="58371" name="矩形 188419"/>
          <p:cNvSpPr/>
          <p:nvPr/>
        </p:nvSpPr>
        <p:spPr>
          <a:xfrm>
            <a:off x="468313" y="4652963"/>
            <a:ext cx="8424862" cy="1439862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Arial" panose="020B0604020202020204" pitchFamily="34" charset="0"/>
              </a:rPr>
              <a:t>面赤，肌肤灼热，烦躁不安，小便短赤</a:t>
            </a:r>
            <a:r>
              <a:rPr lang="en-US" altLang="zh-CN" sz="2400">
                <a:latin typeface="Times New Roman" panose="02020603050405020304" pitchFamily="18" charset="0"/>
              </a:rPr>
              <a:t>——</a:t>
            </a:r>
            <a:r>
              <a:rPr lang="zh-CN" altLang="en-US" sz="2400" dirty="0">
                <a:latin typeface="Arial" panose="020B0604020202020204" pitchFamily="34" charset="0"/>
              </a:rPr>
              <a:t>热证</a:t>
            </a:r>
            <a:endParaRPr lang="zh-CN" altLang="en-US" sz="2400" dirty="0">
              <a:latin typeface="Arial" panose="020B0604020202020204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Arial" panose="020B0604020202020204" pitchFamily="34" charset="0"/>
              </a:rPr>
              <a:t>语声高亢，呼吸气粗，喘促痰鸣，大便秘结</a:t>
            </a:r>
            <a:r>
              <a:rPr lang="en-US" altLang="zh-CN" sz="2400">
                <a:latin typeface="Times New Roman" panose="02020603050405020304" pitchFamily="18" charset="0"/>
              </a:rPr>
              <a:t>——</a:t>
            </a:r>
            <a:r>
              <a:rPr lang="zh-CN" altLang="en-US" sz="2400" dirty="0">
                <a:latin typeface="Arial" panose="020B0604020202020204" pitchFamily="34" charset="0"/>
              </a:rPr>
              <a:t>实证</a:t>
            </a:r>
            <a:endParaRPr lang="zh-CN" altLang="en-US" sz="2400" dirty="0">
              <a:latin typeface="Arial" panose="020B0604020202020204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Arial" panose="020B0604020202020204" pitchFamily="34" charset="0"/>
              </a:rPr>
              <a:t>舌红绛苔黄黑生芒刺，脉浮数、洪大、滑实</a:t>
            </a:r>
            <a:r>
              <a:rPr lang="en-US" altLang="zh-CN" sz="2400">
                <a:latin typeface="Times New Roman" panose="02020603050405020304" pitchFamily="18" charset="0"/>
              </a:rPr>
              <a:t>——</a:t>
            </a:r>
            <a:r>
              <a:rPr lang="zh-CN" altLang="en-US" sz="2400" dirty="0">
                <a:latin typeface="Arial" panose="020B0604020202020204" pitchFamily="34" charset="0"/>
              </a:rPr>
              <a:t>高热舌脉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393" name="标题 272385"/>
          <p:cNvSpPr>
            <a:spLocks noGrp="1"/>
          </p:cNvSpPr>
          <p:nvPr>
            <p:ph type="title"/>
          </p:nvPr>
        </p:nvSpPr>
        <p:spPr/>
        <p:txBody>
          <a:bodyPr anchor="b" anchorCtr="0"/>
          <a:p>
            <a:r>
              <a:rPr lang="zh-CN" altLang="en-US" dirty="0"/>
              <a:t>阳虚证</a:t>
            </a:r>
            <a:endParaRPr lang="zh-CN" altLang="en-US" dirty="0"/>
          </a:p>
        </p:txBody>
      </p:sp>
      <p:sp>
        <p:nvSpPr>
          <p:cNvPr id="59394" name="文本占位符 272386"/>
          <p:cNvSpPr>
            <a:spLocks noGrp="1"/>
          </p:cNvSpPr>
          <p:nvPr>
            <p:ph idx="1"/>
          </p:nvPr>
        </p:nvSpPr>
        <p:spPr/>
        <p:txBody>
          <a:bodyPr anchor="t" anchorCtr="0"/>
          <a:p>
            <a:r>
              <a:rPr lang="zh-CN" altLang="en-US" dirty="0"/>
              <a:t>概念：阳虚是机体阳气不足，阳不制阴的病变和证候，又称虚寒证。</a:t>
            </a:r>
            <a:endParaRPr lang="zh-CN" altLang="en-US" dirty="0"/>
          </a:p>
          <a:p>
            <a:r>
              <a:rPr lang="zh-CN" altLang="en-US" dirty="0"/>
              <a:t>临床表现：常见的有面色恍白，形寒肢冷，喜踡卧，神疲乏力，痛处喜温喜按，小便清长，大便溏泄，舌淡苔白，脉微或沉迟无力。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0417" name="标题 274433"/>
          <p:cNvSpPr>
            <a:spLocks noGrp="1"/>
          </p:cNvSpPr>
          <p:nvPr>
            <p:ph type="title"/>
          </p:nvPr>
        </p:nvSpPr>
        <p:spPr/>
        <p:txBody>
          <a:bodyPr anchor="b" anchorCtr="0"/>
          <a:p>
            <a:r>
              <a:rPr lang="zh-CN" altLang="en-US" dirty="0"/>
              <a:t>阳证与阳虚证的辨别</a:t>
            </a:r>
            <a:endParaRPr lang="zh-CN" altLang="en-US" dirty="0"/>
          </a:p>
        </p:txBody>
      </p:sp>
      <p:sp>
        <p:nvSpPr>
          <p:cNvPr id="60418" name="文本占位符 274434"/>
          <p:cNvSpPr>
            <a:spLocks noGrp="1"/>
          </p:cNvSpPr>
          <p:nvPr>
            <p:ph idx="1"/>
          </p:nvPr>
        </p:nvSpPr>
        <p:spPr/>
        <p:txBody>
          <a:bodyPr anchor="t" anchorCtr="0"/>
          <a:p>
            <a:r>
              <a:rPr lang="zh-CN" altLang="en-US" dirty="0"/>
              <a:t>两者均叫阳证，但性质截然不同。</a:t>
            </a:r>
            <a:endParaRPr lang="zh-CN" altLang="en-US" dirty="0"/>
          </a:p>
          <a:p>
            <a:r>
              <a:rPr lang="zh-CN" altLang="en-US" dirty="0"/>
              <a:t>阳证表现实热证，是阳气亢盛，功能亢进</a:t>
            </a:r>
            <a:endParaRPr lang="zh-CN" altLang="en-US" dirty="0"/>
          </a:p>
          <a:p>
            <a:r>
              <a:rPr lang="zh-CN" altLang="en-US" dirty="0"/>
              <a:t>阳虚证是阳气不足失于温煦</a:t>
            </a:r>
            <a:endParaRPr lang="zh-CN" altLang="en-US" dirty="0"/>
          </a:p>
          <a:p>
            <a:r>
              <a:rPr lang="zh-CN" altLang="en-US" dirty="0"/>
              <a:t>其次注重脉、舌象</a:t>
            </a:r>
            <a:endParaRPr lang="zh-CN" altLang="en-US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41" name="标题 54304"/>
          <p:cNvSpPr>
            <a:spLocks noGrp="1"/>
          </p:cNvSpPr>
          <p:nvPr>
            <p:ph type="title"/>
          </p:nvPr>
        </p:nvSpPr>
        <p:spPr>
          <a:xfrm>
            <a:off x="827088" y="549275"/>
            <a:ext cx="8001000" cy="711200"/>
          </a:xfrm>
        </p:spPr>
        <p:txBody>
          <a:bodyPr anchor="b" anchorCtr="0"/>
          <a:p>
            <a:pPr algn="ctr"/>
            <a:r>
              <a:rPr lang="zh-CN" altLang="en-US" dirty="0">
                <a:latin typeface="宋体" panose="02010600030101010101" pitchFamily="2" charset="-122"/>
              </a:rPr>
              <a:t>阳证与阴证鉴别表</a:t>
            </a:r>
            <a:r>
              <a:rPr lang="zh-CN" altLang="en-US" dirty="0"/>
              <a:t> </a:t>
            </a:r>
            <a:endParaRPr lang="zh-CN" altLang="en-US" dirty="0"/>
          </a:p>
        </p:txBody>
      </p:sp>
      <p:graphicFrame>
        <p:nvGraphicFramePr>
          <p:cNvPr id="54399" name="表格 54398"/>
          <p:cNvGraphicFramePr/>
          <p:nvPr/>
        </p:nvGraphicFramePr>
        <p:xfrm>
          <a:off x="215900" y="1458913"/>
          <a:ext cx="8748713" cy="4979988"/>
        </p:xfrm>
        <a:graphic>
          <a:graphicData uri="http://schemas.openxmlformats.org/drawingml/2006/table">
            <a:tbl>
              <a:tblPr/>
              <a:tblGrid>
                <a:gridCol w="842963"/>
                <a:gridCol w="4476750"/>
                <a:gridCol w="3429000"/>
              </a:tblGrid>
              <a:tr h="517525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defTabSz="989330">
                        <a:buNone/>
                      </a:pPr>
                      <a:r>
                        <a:rPr lang="zh-CN" altLang="en-US" b="1" dirty="0">
                          <a:solidFill>
                            <a:srgbClr val="CC0000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四诊</a:t>
                      </a:r>
                      <a:endParaRPr lang="zh-CN" altLang="en-US" b="1" dirty="0">
                        <a:solidFill>
                          <a:srgbClr val="CC0000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800" b="1" dirty="0">
                          <a:solidFill>
                            <a:srgbClr val="CC0000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阴证</a:t>
                      </a:r>
                      <a:endParaRPr lang="zh-CN" altLang="en-US" sz="2800" b="1" dirty="0">
                        <a:solidFill>
                          <a:srgbClr val="CC0000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800" b="1" dirty="0">
                          <a:solidFill>
                            <a:srgbClr val="CC0000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</a:rPr>
                        <a:t>阳证</a:t>
                      </a:r>
                      <a:endParaRPr lang="zh-CN" altLang="en-US" sz="2800" b="1" dirty="0">
                        <a:solidFill>
                          <a:srgbClr val="CC0000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</a:tr>
              <a:tr h="1331913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800" b="1" dirty="0">
                          <a:solidFill>
                            <a:srgbClr val="CC0000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rPr>
                        <a:t>问</a:t>
                      </a:r>
                      <a:endParaRPr lang="zh-CN" altLang="en-US" sz="2800" b="1" dirty="0">
                        <a:solidFill>
                          <a:srgbClr val="CC0000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b="1" dirty="0">
                          <a:latin typeface="Times New Roman" panose="02020603050405020304" pitchFamily="18" charset="0"/>
                        </a:rPr>
                        <a:t>恶寒畏冷，喜温，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zh-CN" altLang="en-US" b="1" dirty="0">
                          <a:latin typeface="Times New Roman" panose="02020603050405020304" pitchFamily="18" charset="0"/>
                        </a:rPr>
                        <a:t>食少乏味，不渴或喜热饮，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zh-CN" altLang="en-US" b="1" dirty="0">
                          <a:latin typeface="Times New Roman" panose="02020603050405020304" pitchFamily="18" charset="0"/>
                        </a:rPr>
                        <a:t>小便清长或短少，大便溏泻气腥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b="1" dirty="0"/>
                        <a:t>身热，恶热喜凉，恶食心烦，口渴饮冷，</a:t>
                      </a:r>
                      <a:endParaRPr lang="zh-CN" altLang="en-US" b="1" dirty="0"/>
                    </a:p>
                    <a:p>
                      <a:pPr marL="0" lvl="0" indent="0">
                        <a:buNone/>
                      </a:pPr>
                      <a:r>
                        <a:rPr lang="zh-CN" altLang="en-US" b="1" dirty="0"/>
                        <a:t>小便短赤、大便秘结，</a:t>
                      </a:r>
                      <a:endParaRPr lang="zh-CN" altLang="en-US" b="1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331912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800" b="1" dirty="0">
                          <a:solidFill>
                            <a:srgbClr val="CC0000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rPr>
                        <a:t>望</a:t>
                      </a:r>
                      <a:endParaRPr lang="zh-CN" altLang="en-US" sz="2800" b="1" dirty="0">
                        <a:solidFill>
                          <a:srgbClr val="CC0000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b="1" dirty="0"/>
                        <a:t>面色苍白或暗淡，身重倦卧，</a:t>
                      </a:r>
                      <a:endParaRPr lang="zh-CN" altLang="en-US" b="1" dirty="0"/>
                    </a:p>
                    <a:p>
                      <a:pPr marL="0" lvl="0" indent="0" algn="ctr">
                        <a:buNone/>
                      </a:pPr>
                      <a:r>
                        <a:rPr lang="zh-CN" altLang="en-US" b="1" dirty="0"/>
                        <a:t>精神萎靡，倦怠乏力、</a:t>
                      </a:r>
                      <a:endParaRPr lang="zh-CN" altLang="en-US" b="1" dirty="0"/>
                    </a:p>
                    <a:p>
                      <a:pPr marL="0" lvl="0" indent="0" algn="ctr">
                        <a:buNone/>
                      </a:pPr>
                      <a:r>
                        <a:rPr lang="zh-CN" altLang="en-US" b="1" dirty="0"/>
                        <a:t>舌淡胖嫩，  </a:t>
                      </a:r>
                      <a:endParaRPr lang="zh-CN" altLang="en-US" b="1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b="1" dirty="0"/>
                        <a:t>面色赤，烦躁不安，</a:t>
                      </a:r>
                      <a:endParaRPr lang="zh-CN" altLang="en-US" b="1" dirty="0"/>
                    </a:p>
                    <a:p>
                      <a:pPr marL="0" lvl="0" indent="0">
                        <a:buNone/>
                      </a:pPr>
                      <a:r>
                        <a:rPr lang="zh-CN" altLang="en-US" b="1" dirty="0"/>
                        <a:t>舌红绛苔黄黑生芒刺，</a:t>
                      </a:r>
                      <a:endParaRPr lang="zh-CN" altLang="en-US" b="1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893763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800" b="1" dirty="0">
                          <a:solidFill>
                            <a:srgbClr val="CC0000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rPr>
                        <a:t>闻</a:t>
                      </a:r>
                      <a:endParaRPr lang="zh-CN" altLang="en-US" sz="2800" b="1" dirty="0">
                        <a:solidFill>
                          <a:srgbClr val="CC0000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b="1" dirty="0"/>
                        <a:t>语声低微，</a:t>
                      </a:r>
                      <a:endParaRPr lang="zh-CN" altLang="en-US" b="1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b="1" dirty="0"/>
                        <a:t>语声高亢，烦而多言，</a:t>
                      </a:r>
                      <a:endParaRPr lang="zh-CN" altLang="en-US" b="1" dirty="0"/>
                    </a:p>
                    <a:p>
                      <a:pPr marL="0" lvl="0" indent="0">
                        <a:buNone/>
                      </a:pPr>
                      <a:r>
                        <a:rPr lang="zh-CN" altLang="en-US" b="1" dirty="0"/>
                        <a:t>呼吸气粗，喘促痰鸣，</a:t>
                      </a:r>
                      <a:endParaRPr lang="zh-CN" altLang="en-US" b="1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893762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800" b="1" dirty="0">
                          <a:solidFill>
                            <a:srgbClr val="CC0000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</a:rPr>
                        <a:t>切</a:t>
                      </a:r>
                      <a:endParaRPr lang="zh-CN" altLang="en-US" sz="2800" b="1" dirty="0">
                        <a:solidFill>
                          <a:srgbClr val="CC0000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b="1" dirty="0"/>
                        <a:t>腹痛喜按，肢凉，</a:t>
                      </a:r>
                      <a:endParaRPr lang="zh-CN" altLang="en-US" b="1" dirty="0"/>
                    </a:p>
                    <a:p>
                      <a:pPr marL="0" lvl="0" indent="0" algn="ctr">
                        <a:buNone/>
                      </a:pPr>
                      <a:r>
                        <a:rPr lang="zh-CN" altLang="en-US" b="1" dirty="0"/>
                        <a:t>脉沉迟、微弱、细。</a:t>
                      </a:r>
                      <a:endParaRPr lang="zh-CN" altLang="en-US" b="1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b="1" dirty="0"/>
                        <a:t>腹痛拒按，肌肤灼热，</a:t>
                      </a:r>
                      <a:endParaRPr lang="zh-CN" altLang="en-US" b="1" dirty="0"/>
                    </a:p>
                    <a:p>
                      <a:pPr marL="0" lvl="0" indent="0">
                        <a:buNone/>
                      </a:pPr>
                      <a:r>
                        <a:rPr lang="zh-CN" altLang="en-US" b="1" dirty="0"/>
                        <a:t>脉浮数、洪大、滑实</a:t>
                      </a:r>
                      <a:endParaRPr lang="zh-CN" altLang="en-US" b="1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465" name="标题 275457"/>
          <p:cNvSpPr>
            <a:spLocks noGrp="1"/>
          </p:cNvSpPr>
          <p:nvPr>
            <p:ph type="title"/>
          </p:nvPr>
        </p:nvSpPr>
        <p:spPr/>
        <p:txBody>
          <a:bodyPr anchor="b" anchorCtr="0"/>
          <a:p>
            <a:r>
              <a:rPr lang="zh-CN" altLang="en-US" dirty="0"/>
              <a:t>阳虚与阴虚的鉴别表</a:t>
            </a:r>
            <a:endParaRPr lang="zh-CN" altLang="en-US" dirty="0"/>
          </a:p>
        </p:txBody>
      </p:sp>
      <p:graphicFrame>
        <p:nvGraphicFramePr>
          <p:cNvPr id="275501" name="内容占位符 275500"/>
          <p:cNvGraphicFramePr/>
          <p:nvPr>
            <p:ph idx="1"/>
          </p:nvPr>
        </p:nvGraphicFramePr>
        <p:xfrm>
          <a:off x="914400" y="2362200"/>
          <a:ext cx="8001000" cy="4352925"/>
        </p:xfrm>
        <a:graphic>
          <a:graphicData uri="http://schemas.openxmlformats.org/drawingml/2006/table">
            <a:tbl>
              <a:tblPr/>
              <a:tblGrid>
                <a:gridCol w="1000125"/>
                <a:gridCol w="1000125"/>
                <a:gridCol w="1000125"/>
                <a:gridCol w="1000125"/>
                <a:gridCol w="1000125"/>
                <a:gridCol w="1000125"/>
                <a:gridCol w="1000125"/>
                <a:gridCol w="1000125"/>
              </a:tblGrid>
              <a:tr h="1244600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dirty="0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dirty="0"/>
                        <a:t>面色</a:t>
                      </a:r>
                      <a:endParaRPr lang="zh-CN" altLang="en-US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dirty="0"/>
                        <a:t>寒热</a:t>
                      </a:r>
                      <a:endParaRPr lang="zh-CN" altLang="en-US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dirty="0"/>
                        <a:t>口渴</a:t>
                      </a:r>
                      <a:endParaRPr lang="zh-CN" altLang="en-US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dirty="0"/>
                        <a:t>出汗</a:t>
                      </a:r>
                      <a:endParaRPr lang="zh-CN" altLang="en-US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dirty="0"/>
                        <a:t>两便</a:t>
                      </a:r>
                      <a:endParaRPr lang="zh-CN" altLang="en-US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dirty="0"/>
                        <a:t>舌</a:t>
                      </a:r>
                      <a:endParaRPr lang="zh-CN" altLang="en-US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dirty="0"/>
                        <a:t>脉</a:t>
                      </a:r>
                      <a:endParaRPr lang="zh-CN" altLang="en-US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550988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dirty="0"/>
                        <a:t>阳虚</a:t>
                      </a:r>
                      <a:endParaRPr lang="zh-CN" altLang="en-US" dirty="0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dirty="0"/>
                        <a:t>淡白</a:t>
                      </a:r>
                      <a:endParaRPr lang="zh-CN" altLang="en-US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dirty="0"/>
                        <a:t>形寒肢冷</a:t>
                      </a:r>
                      <a:endParaRPr lang="zh-CN" altLang="en-US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dirty="0"/>
                        <a:t>口淡不渴</a:t>
                      </a:r>
                      <a:endParaRPr lang="zh-CN" altLang="en-US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dirty="0"/>
                        <a:t>自汗</a:t>
                      </a:r>
                      <a:endParaRPr lang="zh-CN" altLang="en-US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dirty="0"/>
                        <a:t>小便清长大便溏</a:t>
                      </a:r>
                      <a:endParaRPr lang="zh-CN" altLang="en-US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dirty="0"/>
                        <a:t>舌淡苔白</a:t>
                      </a:r>
                      <a:endParaRPr lang="zh-CN" altLang="en-US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dirty="0"/>
                        <a:t>沉迟无力或微</a:t>
                      </a:r>
                      <a:endParaRPr lang="zh-CN" altLang="en-US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550987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dirty="0"/>
                        <a:t>阴虚</a:t>
                      </a:r>
                      <a:endParaRPr lang="zh-CN" altLang="en-US" dirty="0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dirty="0"/>
                        <a:t>两颧发赤</a:t>
                      </a:r>
                      <a:endParaRPr lang="zh-CN" altLang="en-US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dirty="0"/>
                        <a:t>午后潮热五心烦热</a:t>
                      </a:r>
                      <a:endParaRPr lang="zh-CN" altLang="en-US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dirty="0"/>
                        <a:t>咽干口燥</a:t>
                      </a:r>
                      <a:endParaRPr lang="zh-CN" altLang="en-US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dirty="0"/>
                        <a:t>盗汗</a:t>
                      </a:r>
                      <a:endParaRPr lang="zh-CN" altLang="en-US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dirty="0"/>
                        <a:t>小便黄赤大便干</a:t>
                      </a:r>
                      <a:endParaRPr lang="zh-CN" altLang="en-US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dirty="0"/>
                        <a:t>舌红少苔</a:t>
                      </a:r>
                      <a:endParaRPr lang="zh-CN" altLang="en-US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dirty="0"/>
                        <a:t>细数</a:t>
                      </a:r>
                      <a:endParaRPr lang="zh-CN" altLang="en-US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3489" name="标题 260097"/>
          <p:cNvSpPr>
            <a:spLocks noGrp="1"/>
          </p:cNvSpPr>
          <p:nvPr>
            <p:ph type="title"/>
          </p:nvPr>
        </p:nvSpPr>
        <p:spPr/>
        <p:txBody>
          <a:bodyPr anchor="b" anchorCtr="0"/>
          <a:p>
            <a:r>
              <a:rPr lang="zh-CN" altLang="en-US" dirty="0"/>
              <a:t>亡阴亡阳</a:t>
            </a:r>
            <a:endParaRPr lang="zh-CN" altLang="en-US" dirty="0"/>
          </a:p>
        </p:txBody>
      </p:sp>
      <p:sp>
        <p:nvSpPr>
          <p:cNvPr id="63490" name="文本占位符 260098"/>
          <p:cNvSpPr>
            <a:spLocks noGrp="1"/>
          </p:cNvSpPr>
          <p:nvPr>
            <p:ph idx="1"/>
          </p:nvPr>
        </p:nvSpPr>
        <p:spPr/>
        <p:txBody>
          <a:bodyPr anchor="t" anchorCtr="0"/>
          <a:p>
            <a:r>
              <a:rPr lang="zh-CN" altLang="en-US" b="1" dirty="0"/>
              <a:t>亡阴亡阳是疾病发展过程中，由于阴液与阳气衰竭而出现的危重证候。</a:t>
            </a:r>
            <a:endParaRPr lang="zh-CN" altLang="en-US" b="1" dirty="0"/>
          </a:p>
          <a:p>
            <a:pPr>
              <a:buNone/>
            </a:pPr>
            <a:endParaRPr lang="zh-CN" alt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4513" name="标题 261121"/>
          <p:cNvSpPr>
            <a:spLocks noGrp="1"/>
          </p:cNvSpPr>
          <p:nvPr>
            <p:ph type="title"/>
          </p:nvPr>
        </p:nvSpPr>
        <p:spPr/>
        <p:txBody>
          <a:bodyPr anchor="b" anchorCtr="0"/>
          <a:p>
            <a:r>
              <a:rPr lang="zh-CN" altLang="en-US" dirty="0"/>
              <a:t>亡阴</a:t>
            </a:r>
            <a:endParaRPr lang="zh-CN" altLang="en-US" dirty="0"/>
          </a:p>
        </p:txBody>
      </p:sp>
      <p:sp>
        <p:nvSpPr>
          <p:cNvPr id="64514" name="文本占位符 261122"/>
          <p:cNvSpPr>
            <a:spLocks noGrp="1"/>
          </p:cNvSpPr>
          <p:nvPr>
            <p:ph idx="1"/>
          </p:nvPr>
        </p:nvSpPr>
        <p:spPr/>
        <p:txBody>
          <a:bodyPr anchor="t" anchorCtr="0"/>
          <a:p>
            <a:pPr>
              <a:lnSpc>
                <a:spcPct val="90000"/>
              </a:lnSpc>
            </a:pPr>
            <a:r>
              <a:rPr lang="zh-CN" altLang="en-US" b="1" dirty="0"/>
              <a:t>亡阴证</a:t>
            </a:r>
            <a:r>
              <a:rPr lang="en-US" altLang="zh-CN">
                <a:latin typeface="Times New Roman" panose="02020603050405020304" pitchFamily="18" charset="0"/>
              </a:rPr>
              <a:t>——</a:t>
            </a:r>
            <a:r>
              <a:rPr lang="zh-CN" altLang="en-US" dirty="0"/>
              <a:t>是机体阴液衰竭所表现的一种危重证候。</a:t>
            </a:r>
            <a:endParaRPr lang="zh-CN" altLang="en-US" dirty="0"/>
          </a:p>
          <a:p>
            <a:pPr>
              <a:lnSpc>
                <a:spcPct val="90000"/>
              </a:lnSpc>
            </a:pPr>
            <a:r>
              <a:rPr lang="zh-CN" altLang="en-US" b="1" dirty="0"/>
              <a:t>临床表现</a:t>
            </a:r>
            <a:r>
              <a:rPr lang="zh-CN" altLang="en-US" dirty="0"/>
              <a:t>：大汗出，汗热而粘，手足温，口渴喜冷饮，呼吸气粗，舌红干，脉细数无力。</a:t>
            </a:r>
            <a:endParaRPr lang="zh-CN" altLang="en-US" dirty="0"/>
          </a:p>
          <a:p>
            <a:pPr>
              <a:lnSpc>
                <a:spcPct val="90000"/>
              </a:lnSpc>
            </a:pPr>
            <a:r>
              <a:rPr lang="zh-CN" altLang="en-US" b="1" dirty="0"/>
              <a:t>亡阴原因</a:t>
            </a:r>
            <a:r>
              <a:rPr lang="zh-CN" altLang="en-US" dirty="0"/>
              <a:t>：一是高热、大汗、大泻、大出血等致阴液迅速丧失；</a:t>
            </a:r>
            <a:endParaRPr lang="zh-CN" altLang="en-US" dirty="0"/>
          </a:p>
          <a:p>
            <a:pPr>
              <a:lnSpc>
                <a:spcPct val="90000"/>
              </a:lnSpc>
              <a:buNone/>
            </a:pPr>
            <a:r>
              <a:rPr lang="zh-CN" altLang="en-US" dirty="0"/>
              <a:t>                      二是阴亏日久，渐至枯竭</a:t>
            </a:r>
            <a:endParaRPr lang="zh-CN" altLang="en-US" dirty="0"/>
          </a:p>
          <a:p>
            <a:pPr>
              <a:lnSpc>
                <a:spcPct val="90000"/>
              </a:lnSpc>
              <a:buNone/>
            </a:pPr>
            <a:r>
              <a:rPr lang="zh-CN" altLang="en-US" dirty="0"/>
              <a:t>                      三是阳虚日久，反致阴液耗竭。</a:t>
            </a:r>
            <a:endParaRPr lang="zh-CN" altLang="en-US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537" name="标题 262145"/>
          <p:cNvSpPr>
            <a:spLocks noGrp="1"/>
          </p:cNvSpPr>
          <p:nvPr>
            <p:ph type="title"/>
          </p:nvPr>
        </p:nvSpPr>
        <p:spPr/>
        <p:txBody>
          <a:bodyPr anchor="b" anchorCtr="0"/>
          <a:p>
            <a:r>
              <a:rPr lang="zh-CN" altLang="en-US" dirty="0"/>
              <a:t>亡阳</a:t>
            </a:r>
            <a:endParaRPr lang="zh-CN" altLang="en-US" dirty="0"/>
          </a:p>
        </p:txBody>
      </p:sp>
      <p:sp>
        <p:nvSpPr>
          <p:cNvPr id="65538" name="文本占位符 262146"/>
          <p:cNvSpPr>
            <a:spLocks noGrp="1"/>
          </p:cNvSpPr>
          <p:nvPr>
            <p:ph idx="1"/>
          </p:nvPr>
        </p:nvSpPr>
        <p:spPr/>
        <p:txBody>
          <a:bodyPr anchor="t" anchorCtr="0"/>
          <a:p>
            <a:r>
              <a:rPr lang="zh-CN" altLang="en-US" b="1" dirty="0"/>
              <a:t>亡阳</a:t>
            </a:r>
            <a:r>
              <a:rPr lang="zh-CN" altLang="en-US" dirty="0"/>
              <a:t>是机体阳气暴脱所表现的一种危重证候。</a:t>
            </a:r>
            <a:endParaRPr lang="zh-CN" altLang="en-US" dirty="0"/>
          </a:p>
          <a:p>
            <a:r>
              <a:rPr lang="zh-CN" altLang="en-US" b="1" dirty="0"/>
              <a:t>临床表现</a:t>
            </a:r>
            <a:r>
              <a:rPr lang="zh-CN" altLang="en-US" dirty="0"/>
              <a:t>：大汗淋漓，汗冷而清稀，肌肤冷，手足厥冷，口淡不渴，或喜热饮，气微，舌淡暗，脉微欲绝。</a:t>
            </a:r>
            <a:endParaRPr lang="zh-CN" altLang="en-US" dirty="0"/>
          </a:p>
          <a:p>
            <a:r>
              <a:rPr lang="zh-CN" altLang="en-US" b="1" dirty="0"/>
              <a:t>亡阳原因</a:t>
            </a:r>
            <a:r>
              <a:rPr lang="zh-CN" altLang="en-US" dirty="0"/>
              <a:t>：一是邪气极盛，暴伤阳气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                      二是阳虚日久，渐至亡脱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                      三是亡阴导致亡阳</a:t>
            </a:r>
            <a:endParaRPr lang="zh-CN" altLang="en-US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6561" name="标题 263169"/>
          <p:cNvSpPr>
            <a:spLocks noGrp="1"/>
          </p:cNvSpPr>
          <p:nvPr>
            <p:ph type="title"/>
          </p:nvPr>
        </p:nvSpPr>
        <p:spPr/>
        <p:txBody>
          <a:bodyPr anchor="b" anchorCtr="0"/>
          <a:p>
            <a:r>
              <a:rPr lang="zh-CN" altLang="en-US" dirty="0"/>
              <a:t>亡阴亡阳的鉴别</a:t>
            </a:r>
            <a:endParaRPr lang="zh-CN" altLang="en-US" dirty="0"/>
          </a:p>
        </p:txBody>
      </p:sp>
      <p:graphicFrame>
        <p:nvGraphicFramePr>
          <p:cNvPr id="263248" name="表格 263247"/>
          <p:cNvGraphicFramePr/>
          <p:nvPr/>
        </p:nvGraphicFramePr>
        <p:xfrm>
          <a:off x="914400" y="2362200"/>
          <a:ext cx="8001000" cy="3733800"/>
        </p:xfrm>
        <a:graphic>
          <a:graphicData uri="http://schemas.openxmlformats.org/drawingml/2006/table">
            <a:tbl>
              <a:tblPr/>
              <a:tblGrid>
                <a:gridCol w="889000"/>
                <a:gridCol w="889000"/>
                <a:gridCol w="889000"/>
                <a:gridCol w="889000"/>
                <a:gridCol w="889000"/>
                <a:gridCol w="889000"/>
                <a:gridCol w="889000"/>
                <a:gridCol w="889000"/>
                <a:gridCol w="889000"/>
              </a:tblGrid>
              <a:tr h="1244600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dirty="0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dirty="0"/>
                        <a:t>汗</a:t>
                      </a:r>
                      <a:endParaRPr lang="zh-CN" altLang="en-US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dirty="0"/>
                        <a:t>面色</a:t>
                      </a:r>
                      <a:endParaRPr lang="zh-CN" altLang="en-US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dirty="0"/>
                        <a:t>四肢</a:t>
                      </a:r>
                      <a:endParaRPr lang="zh-CN" altLang="en-US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dirty="0"/>
                        <a:t>神志</a:t>
                      </a:r>
                      <a:endParaRPr lang="zh-CN" altLang="en-US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dirty="0"/>
                        <a:t>呼吸</a:t>
                      </a:r>
                      <a:endParaRPr lang="zh-CN" altLang="en-US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dirty="0"/>
                        <a:t>口渴</a:t>
                      </a:r>
                      <a:endParaRPr lang="zh-CN" altLang="en-US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dirty="0"/>
                        <a:t>舌象</a:t>
                      </a:r>
                      <a:endParaRPr lang="zh-CN" altLang="en-US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dirty="0"/>
                        <a:t>脉象</a:t>
                      </a:r>
                      <a:endParaRPr lang="zh-CN" altLang="en-US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244600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dirty="0"/>
                        <a:t>亡阴</a:t>
                      </a:r>
                      <a:endParaRPr lang="zh-CN" altLang="en-US" dirty="0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dirty="0"/>
                        <a:t>汗热</a:t>
                      </a:r>
                      <a:endParaRPr lang="zh-CN" altLang="en-US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dirty="0"/>
                        <a:t>潮红</a:t>
                      </a:r>
                      <a:endParaRPr lang="zh-CN" altLang="en-US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dirty="0"/>
                        <a:t>温和</a:t>
                      </a:r>
                      <a:endParaRPr lang="zh-CN" altLang="en-US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dirty="0"/>
                        <a:t>躁妄不安</a:t>
                      </a:r>
                      <a:endParaRPr lang="zh-CN" altLang="en-US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dirty="0"/>
                        <a:t>喘息气短</a:t>
                      </a:r>
                      <a:endParaRPr lang="zh-CN" altLang="en-US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dirty="0"/>
                        <a:t>口渴</a:t>
                      </a:r>
                      <a:endParaRPr lang="zh-CN" altLang="en-US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dirty="0"/>
                        <a:t>红干</a:t>
                      </a:r>
                      <a:endParaRPr lang="zh-CN" altLang="en-US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dirty="0"/>
                        <a:t>细数疾</a:t>
                      </a:r>
                      <a:endParaRPr lang="zh-CN" altLang="en-US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244600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dirty="0"/>
                        <a:t>亡阳</a:t>
                      </a:r>
                      <a:endParaRPr lang="zh-CN" altLang="en-US" dirty="0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dirty="0"/>
                        <a:t>汗凉</a:t>
                      </a:r>
                      <a:endParaRPr lang="zh-CN" altLang="en-US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dirty="0"/>
                        <a:t>苍白</a:t>
                      </a:r>
                      <a:endParaRPr lang="zh-CN" altLang="en-US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dirty="0"/>
                        <a:t>厥冷</a:t>
                      </a:r>
                      <a:endParaRPr lang="zh-CN" altLang="en-US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dirty="0"/>
                        <a:t>神识昏迷</a:t>
                      </a:r>
                      <a:endParaRPr lang="zh-CN" altLang="en-US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dirty="0"/>
                        <a:t>气息微弱</a:t>
                      </a:r>
                      <a:endParaRPr lang="zh-CN" altLang="en-US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dirty="0"/>
                        <a:t>不渴</a:t>
                      </a:r>
                      <a:endParaRPr lang="zh-CN" altLang="en-US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dirty="0"/>
                        <a:t>淡润</a:t>
                      </a:r>
                      <a:endParaRPr lang="zh-CN" altLang="en-US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–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Tx/>
                        <a:buChar char="–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1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dirty="0"/>
                        <a:t>微欲绝</a:t>
                      </a:r>
                      <a:endParaRPr lang="zh-CN" altLang="en-US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585" name="标题 265217"/>
          <p:cNvSpPr>
            <a:spLocks noGrp="1"/>
          </p:cNvSpPr>
          <p:nvPr>
            <p:ph type="title"/>
          </p:nvPr>
        </p:nvSpPr>
        <p:spPr/>
        <p:txBody>
          <a:bodyPr anchor="b" anchorCtr="0"/>
          <a:p>
            <a:r>
              <a:rPr lang="zh-CN" altLang="en-US" dirty="0"/>
              <a:t>思考题</a:t>
            </a:r>
            <a:endParaRPr lang="zh-CN" altLang="en-US" dirty="0"/>
          </a:p>
        </p:txBody>
      </p:sp>
      <p:sp>
        <p:nvSpPr>
          <p:cNvPr id="67586" name="文本占位符 265218"/>
          <p:cNvSpPr>
            <a:spLocks noGrp="1"/>
          </p:cNvSpPr>
          <p:nvPr>
            <p:ph idx="1"/>
          </p:nvPr>
        </p:nvSpPr>
        <p:spPr/>
        <p:txBody>
          <a:bodyPr anchor="t" anchorCtr="0"/>
          <a:p>
            <a:r>
              <a:rPr lang="zh-CN" altLang="en-US" dirty="0"/>
              <a:t>什么叫八纲？</a:t>
            </a:r>
            <a:endParaRPr lang="zh-CN" altLang="en-US" dirty="0"/>
          </a:p>
          <a:p>
            <a:r>
              <a:rPr lang="zh-CN" altLang="en-US" dirty="0"/>
              <a:t>什么是表证，怎样识别表证？</a:t>
            </a:r>
            <a:endParaRPr lang="zh-CN" altLang="en-US" dirty="0"/>
          </a:p>
          <a:p>
            <a:r>
              <a:rPr lang="zh-CN" altLang="en-US" dirty="0"/>
              <a:t>寒证、热证的临床表现如何？</a:t>
            </a:r>
            <a:endParaRPr lang="zh-CN" altLang="en-US" dirty="0"/>
          </a:p>
          <a:p>
            <a:r>
              <a:rPr lang="zh-CN" altLang="en-US" dirty="0"/>
              <a:t>什么叫亡阴、亡阳？并如何鉴别？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8609" name="标题 277505"/>
          <p:cNvSpPr>
            <a:spLocks noGrp="1"/>
          </p:cNvSpPr>
          <p:nvPr>
            <p:ph type="title"/>
          </p:nvPr>
        </p:nvSpPr>
        <p:spPr/>
        <p:txBody>
          <a:bodyPr anchor="b" anchorCtr="0"/>
          <a:p>
            <a:r>
              <a:rPr lang="zh-CN" altLang="en-US" dirty="0"/>
              <a:t>附注：八纲研究进展</a:t>
            </a:r>
            <a:endParaRPr lang="zh-CN" altLang="en-US" dirty="0"/>
          </a:p>
        </p:txBody>
      </p:sp>
      <p:sp>
        <p:nvSpPr>
          <p:cNvPr id="68610" name="文本占位符 277506"/>
          <p:cNvSpPr>
            <a:spLocks noGrp="1"/>
          </p:cNvSpPr>
          <p:nvPr>
            <p:ph idx="1"/>
          </p:nvPr>
        </p:nvSpPr>
        <p:spPr/>
        <p:txBody>
          <a:bodyPr anchor="t" anchorCtr="0"/>
          <a:p>
            <a:pPr>
              <a:lnSpc>
                <a:spcPct val="90000"/>
              </a:lnSpc>
            </a:pPr>
            <a:r>
              <a:rPr lang="zh-CN" altLang="en-US" dirty="0"/>
              <a:t>八纲是中医辨证论治的总纲。有人认为它源于</a:t>
            </a:r>
            <a:r>
              <a:rPr lang="en-US" altLang="zh-CN"/>
              <a:t>《</a:t>
            </a:r>
            <a:r>
              <a:rPr lang="zh-CN" altLang="en-US" dirty="0"/>
              <a:t>内经</a:t>
            </a:r>
            <a:r>
              <a:rPr lang="en-US" altLang="zh-CN"/>
              <a:t>》</a:t>
            </a:r>
            <a:r>
              <a:rPr lang="zh-CN" altLang="en-US" dirty="0"/>
              <a:t>，发展于仲景，规范于宋，完善于明，推普于清。</a:t>
            </a:r>
            <a:endParaRPr lang="zh-CN" altLang="en-US" dirty="0"/>
          </a:p>
          <a:p>
            <a:pPr>
              <a:lnSpc>
                <a:spcPct val="90000"/>
              </a:lnSpc>
              <a:buNone/>
            </a:pPr>
            <a:r>
              <a:rPr lang="zh-CN" altLang="en-US" dirty="0"/>
              <a:t>（一）八纲的现代理解</a:t>
            </a:r>
            <a:endParaRPr lang="zh-CN" altLang="en-US" dirty="0"/>
          </a:p>
          <a:p>
            <a:pPr>
              <a:lnSpc>
                <a:spcPct val="90000"/>
              </a:lnSpc>
              <a:buNone/>
            </a:pPr>
            <a:r>
              <a:rPr lang="zh-CN" altLang="en-US"/>
              <a:t>           </a:t>
            </a:r>
            <a:r>
              <a:rPr lang="en-US" altLang="zh-CN"/>
              <a:t>1.</a:t>
            </a:r>
            <a:r>
              <a:rPr lang="zh-CN" altLang="en-US" dirty="0"/>
              <a:t>对八纲辩证的“证”的理解</a:t>
            </a:r>
            <a:endParaRPr lang="zh-CN" altLang="en-US" dirty="0"/>
          </a:p>
          <a:p>
            <a:pPr>
              <a:lnSpc>
                <a:spcPct val="90000"/>
              </a:lnSpc>
              <a:buNone/>
            </a:pPr>
            <a:r>
              <a:rPr lang="zh-CN" altLang="en-US"/>
              <a:t>           </a:t>
            </a:r>
            <a:r>
              <a:rPr lang="en-US" altLang="zh-CN"/>
              <a:t>2.“</a:t>
            </a:r>
            <a:r>
              <a:rPr lang="zh-CN" altLang="en-US" dirty="0"/>
              <a:t>三论”在八纲中的解释</a:t>
            </a:r>
            <a:endParaRPr lang="zh-CN" altLang="en-US" dirty="0"/>
          </a:p>
          <a:p>
            <a:pPr>
              <a:lnSpc>
                <a:spcPct val="90000"/>
              </a:lnSpc>
              <a:buNone/>
            </a:pPr>
            <a:r>
              <a:rPr lang="zh-CN" altLang="en-US"/>
              <a:t>           </a:t>
            </a:r>
            <a:r>
              <a:rPr lang="en-US" altLang="zh-CN"/>
              <a:t>3.</a:t>
            </a:r>
            <a:r>
              <a:rPr lang="zh-CN" altLang="en-US" dirty="0"/>
              <a:t>机体反应性的解释</a:t>
            </a:r>
            <a:endParaRPr lang="zh-CN" altLang="en-US" dirty="0"/>
          </a:p>
          <a:p>
            <a:pPr>
              <a:lnSpc>
                <a:spcPct val="90000"/>
              </a:lnSpc>
              <a:buNone/>
            </a:pPr>
            <a:r>
              <a:rPr lang="zh-CN" altLang="en-US" dirty="0"/>
              <a:t>（二）八纲证的科学基础</a:t>
            </a:r>
            <a:endParaRPr lang="zh-CN" altLang="en-US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MGNlMTQ4MWFiYjE4NDEzNmRmZmViYWJlNGM1MDEwMzUifQ=="/>
  <p:tag name="KSO_WPP_MARK_KEY" val="6bf8988f-5fda-4fe4-a99b-039828e21bbc"/>
</p:tagLst>
</file>

<file path=ppt/theme/theme1.xml><?xml version="1.0" encoding="utf-8"?>
<a:theme xmlns:a="http://schemas.openxmlformats.org/drawingml/2006/main" name="Capsules">
  <a:themeElements>
    <a:clrScheme name="">
      <a:dk1>
        <a:srgbClr val="003366"/>
      </a:dk1>
      <a:lt1>
        <a:srgbClr val="FFFFFF"/>
      </a:lt1>
      <a:dk2>
        <a:srgbClr val="006666"/>
      </a:dk2>
      <a:lt2>
        <a:srgbClr val="003366"/>
      </a:lt2>
      <a:accent1>
        <a:srgbClr val="99CC99"/>
      </a:accent1>
      <a:accent2>
        <a:srgbClr val="33CCCC"/>
      </a:accent2>
      <a:accent3>
        <a:srgbClr val="FFFFFF"/>
      </a:accent3>
      <a:accent4>
        <a:srgbClr val="002A57"/>
      </a:accent4>
      <a:accent5>
        <a:srgbClr val="CAE2CA"/>
      </a:accent5>
      <a:accent6>
        <a:srgbClr val="2DB7B7"/>
      </a:accent6>
      <a:hlink>
        <a:srgbClr val="666699"/>
      </a:hlink>
      <a:folHlink>
        <a:srgbClr val="CC99FF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FFFFEB"/>
        </a:dk1>
        <a:lt1>
          <a:srgbClr val="336699"/>
        </a:lt1>
        <a:dk2>
          <a:srgbClr val="FFFFEB"/>
        </a:dk2>
        <a:lt2>
          <a:srgbClr val="000066"/>
        </a:lt2>
        <a:accent1>
          <a:srgbClr val="666699"/>
        </a:accent1>
        <a:accent2>
          <a:srgbClr val="99CCFF"/>
        </a:accent2>
        <a:accent3>
          <a:srgbClr val="ADB9CA"/>
        </a:accent3>
        <a:accent4>
          <a:srgbClr val="DCDCCA"/>
        </a:accent4>
        <a:accent5>
          <a:srgbClr val="B9B9CA"/>
        </a:accent5>
        <a:accent6>
          <a:srgbClr val="89B7E5"/>
        </a:accent6>
        <a:hlink>
          <a:srgbClr val="CCCCFF"/>
        </a:hlink>
        <a:folHlink>
          <a:srgbClr val="C68D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366"/>
        </a:dk1>
        <a:lt1>
          <a:srgbClr val="FFFFFF"/>
        </a:lt1>
        <a:dk2>
          <a:srgbClr val="006666"/>
        </a:dk2>
        <a:lt2>
          <a:srgbClr val="003366"/>
        </a:lt2>
        <a:accent1>
          <a:srgbClr val="99CC99"/>
        </a:accent1>
        <a:accent2>
          <a:srgbClr val="33CCCC"/>
        </a:accent2>
        <a:accent3>
          <a:srgbClr val="FFFFFF"/>
        </a:accent3>
        <a:accent4>
          <a:srgbClr val="002A57"/>
        </a:accent4>
        <a:accent5>
          <a:srgbClr val="CAE2CA"/>
        </a:accent5>
        <a:accent6>
          <a:srgbClr val="2DB7B7"/>
        </a:accent6>
        <a:hlink>
          <a:srgbClr val="666699"/>
        </a:hlink>
        <a:folHlink>
          <a:srgbClr val="CC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C0C0C0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727272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9900CC"/>
        </a:dk2>
        <a:lt2>
          <a:srgbClr val="0033CC"/>
        </a:lt2>
        <a:accent1>
          <a:srgbClr val="FFCC66"/>
        </a:accent1>
        <a:accent2>
          <a:srgbClr val="33CC33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2DB72D"/>
        </a:accent6>
        <a:hlink>
          <a:srgbClr val="9900CC"/>
        </a:hlink>
        <a:folHlink>
          <a:srgbClr val="9900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Designs\Capsules.pot</Template>
  <TotalTime>0</TotalTime>
  <Words>5438</Words>
  <Application>WPS 演示</Application>
  <PresentationFormat>在屏幕上显示</PresentationFormat>
  <Paragraphs>819</Paragraphs>
  <Slides>63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63</vt:i4>
      </vt:variant>
    </vt:vector>
  </HeadingPairs>
  <TitlesOfParts>
    <vt:vector size="70" baseType="lpstr">
      <vt:lpstr>Arial</vt:lpstr>
      <vt:lpstr>宋体</vt:lpstr>
      <vt:lpstr>Wingdings</vt:lpstr>
      <vt:lpstr>Times New Roman</vt:lpstr>
      <vt:lpstr>微软雅黑</vt:lpstr>
      <vt:lpstr>Arial Unicode MS</vt:lpstr>
      <vt:lpstr>Capsules</vt:lpstr>
      <vt:lpstr>　中医基础理论</vt:lpstr>
      <vt:lpstr>辩证论治</vt:lpstr>
      <vt:lpstr>八纲辨证的概念与源流 </vt:lpstr>
      <vt:lpstr>八纲辨证的概念与源流</vt:lpstr>
      <vt:lpstr>八纲辨证的源流</vt:lpstr>
      <vt:lpstr>八纲辨证的基本内容 </vt:lpstr>
      <vt:lpstr>表里辨证 </vt:lpstr>
      <vt:lpstr>适用范畴</vt:lpstr>
      <vt:lpstr>表证 </vt:lpstr>
      <vt:lpstr>临床表现 </vt:lpstr>
      <vt:lpstr>表证的共同特征</vt:lpstr>
      <vt:lpstr>辩证要点</vt:lpstr>
      <vt:lpstr>里证</vt:lpstr>
      <vt:lpstr>  里证的成因</vt:lpstr>
      <vt:lpstr>临床表现</vt:lpstr>
      <vt:lpstr>里证</vt:lpstr>
      <vt:lpstr>表证和里证的关系</vt:lpstr>
      <vt:lpstr>表证和里证的关系</vt:lpstr>
      <vt:lpstr>半表半里证</vt:lpstr>
      <vt:lpstr>临床表现</vt:lpstr>
      <vt:lpstr>寒热辨证 </vt:lpstr>
      <vt:lpstr>寒证</vt:lpstr>
      <vt:lpstr>寒证</vt:lpstr>
      <vt:lpstr>寒证</vt:lpstr>
      <vt:lpstr>热证</vt:lpstr>
      <vt:lpstr>热证原因</vt:lpstr>
      <vt:lpstr>热证</vt:lpstr>
      <vt:lpstr>热证</vt:lpstr>
      <vt:lpstr>寒热证鉴别要点</vt:lpstr>
      <vt:lpstr>辨别寒证与热证的重要依据：</vt:lpstr>
      <vt:lpstr>寒证与热证鉴别表 </vt:lpstr>
      <vt:lpstr>寒热之间的关系</vt:lpstr>
      <vt:lpstr>虚实辨证</vt:lpstr>
      <vt:lpstr>虚证</vt:lpstr>
      <vt:lpstr>PowerPoint 演示文稿</vt:lpstr>
      <vt:lpstr>临床表现</vt:lpstr>
      <vt:lpstr>虚证</vt:lpstr>
      <vt:lpstr>实证</vt:lpstr>
      <vt:lpstr>实证</vt:lpstr>
      <vt:lpstr>临床表现</vt:lpstr>
      <vt:lpstr>实证</vt:lpstr>
      <vt:lpstr>虚实证鉴别要点</vt:lpstr>
      <vt:lpstr>虚证与实证鉴别表 </vt:lpstr>
      <vt:lpstr>虚实之间的关系</vt:lpstr>
      <vt:lpstr>PowerPoint 演示文稿</vt:lpstr>
      <vt:lpstr>阳证</vt:lpstr>
      <vt:lpstr>阴证</vt:lpstr>
      <vt:lpstr>阴证</vt:lpstr>
      <vt:lpstr>临床表现</vt:lpstr>
      <vt:lpstr>阴虚证</vt:lpstr>
      <vt:lpstr>阴证与阴虚证的辨别</vt:lpstr>
      <vt:lpstr>阳证</vt:lpstr>
      <vt:lpstr>临床表现</vt:lpstr>
      <vt:lpstr>阳虚证</vt:lpstr>
      <vt:lpstr>阳证与阳虚证的辨别</vt:lpstr>
      <vt:lpstr>阳证与阴证鉴别表 </vt:lpstr>
      <vt:lpstr>阳虚与阴虚的鉴别表</vt:lpstr>
      <vt:lpstr>亡阴亡阳</vt:lpstr>
      <vt:lpstr>亡阴</vt:lpstr>
      <vt:lpstr>亡阳</vt:lpstr>
      <vt:lpstr>亡阴亡阳的鉴别</vt:lpstr>
      <vt:lpstr>思考题</vt:lpstr>
      <vt:lpstr>附注：八纲研究进展</vt:lpstr>
    </vt:vector>
  </TitlesOfParts>
  <Company> 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第五章　八 纲 辨 证 </dc:title>
  <dc:creator> </dc:creator>
  <cp:lastModifiedBy>Administrator</cp:lastModifiedBy>
  <cp:revision>270</cp:revision>
  <dcterms:created xsi:type="dcterms:W3CDTF">2004-05-04T00:35:00Z</dcterms:created>
  <dcterms:modified xsi:type="dcterms:W3CDTF">2023-07-18T04:17:56Z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CDBE0040ED3F48BC85D1F481B4D8D0D5</vt:lpwstr>
  </property>
  <property fmtid="{D5CDD505-2E9C-101B-9397-08002B2CF9AE}" pid="3" name="KSOProductBuildVer">
    <vt:lpwstr>2052-11.1.0.14309</vt:lpwstr>
  </property>
</Properties>
</file>