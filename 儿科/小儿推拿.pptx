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9"/>
  </p:notesMasterIdLst>
  <p:sldIdLst>
    <p:sldId id="656" r:id="rId2"/>
    <p:sldId id="511" r:id="rId3"/>
    <p:sldId id="734" r:id="rId4"/>
    <p:sldId id="510" r:id="rId5"/>
    <p:sldId id="512" r:id="rId6"/>
    <p:sldId id="509" r:id="rId7"/>
    <p:sldId id="513" r:id="rId8"/>
    <p:sldId id="740" r:id="rId9"/>
    <p:sldId id="514" r:id="rId10"/>
    <p:sldId id="516" r:id="rId11"/>
    <p:sldId id="741" r:id="rId12"/>
    <p:sldId id="709" r:id="rId13"/>
    <p:sldId id="715" r:id="rId14"/>
    <p:sldId id="515" r:id="rId15"/>
    <p:sldId id="714" r:id="rId16"/>
    <p:sldId id="713" r:id="rId17"/>
    <p:sldId id="712" r:id="rId18"/>
    <p:sldId id="742" r:id="rId19"/>
    <p:sldId id="711" r:id="rId20"/>
    <p:sldId id="743" r:id="rId21"/>
    <p:sldId id="710" r:id="rId22"/>
    <p:sldId id="708" r:id="rId23"/>
    <p:sldId id="707" r:id="rId24"/>
    <p:sldId id="744" r:id="rId25"/>
    <p:sldId id="706" r:id="rId26"/>
    <p:sldId id="745" r:id="rId27"/>
    <p:sldId id="705" r:id="rId28"/>
    <p:sldId id="746" r:id="rId29"/>
    <p:sldId id="704" r:id="rId30"/>
    <p:sldId id="732" r:id="rId31"/>
    <p:sldId id="731" r:id="rId32"/>
    <p:sldId id="747" r:id="rId33"/>
    <p:sldId id="730" r:id="rId34"/>
    <p:sldId id="748" r:id="rId35"/>
    <p:sldId id="729" r:id="rId36"/>
    <p:sldId id="728" r:id="rId37"/>
    <p:sldId id="750" r:id="rId38"/>
    <p:sldId id="727" r:id="rId39"/>
    <p:sldId id="749" r:id="rId40"/>
    <p:sldId id="751" r:id="rId41"/>
    <p:sldId id="726" r:id="rId42"/>
    <p:sldId id="725" r:id="rId43"/>
    <p:sldId id="724" r:id="rId44"/>
    <p:sldId id="723" r:id="rId45"/>
    <p:sldId id="722" r:id="rId46"/>
    <p:sldId id="721" r:id="rId47"/>
    <p:sldId id="720" r:id="rId48"/>
    <p:sldId id="719" r:id="rId49"/>
    <p:sldId id="718" r:id="rId50"/>
    <p:sldId id="717" r:id="rId51"/>
    <p:sldId id="772" r:id="rId52"/>
    <p:sldId id="716" r:id="rId53"/>
    <p:sldId id="733" r:id="rId54"/>
    <p:sldId id="773" r:id="rId55"/>
    <p:sldId id="739" r:id="rId56"/>
    <p:sldId id="776" r:id="rId57"/>
    <p:sldId id="774" r:id="rId58"/>
    <p:sldId id="517" r:id="rId59"/>
    <p:sldId id="752" r:id="rId60"/>
    <p:sldId id="775" r:id="rId61"/>
    <p:sldId id="758" r:id="rId62"/>
    <p:sldId id="777" r:id="rId63"/>
    <p:sldId id="757" r:id="rId64"/>
    <p:sldId id="756" r:id="rId65"/>
    <p:sldId id="778" r:id="rId66"/>
    <p:sldId id="755" r:id="rId67"/>
    <p:sldId id="754" r:id="rId68"/>
    <p:sldId id="768" r:id="rId69"/>
    <p:sldId id="767" r:id="rId70"/>
    <p:sldId id="770" r:id="rId71"/>
    <p:sldId id="769" r:id="rId72"/>
    <p:sldId id="771" r:id="rId73"/>
    <p:sldId id="779" r:id="rId74"/>
    <p:sldId id="780" r:id="rId75"/>
    <p:sldId id="760" r:id="rId76"/>
    <p:sldId id="761" r:id="rId77"/>
    <p:sldId id="764" r:id="rId78"/>
    <p:sldId id="763" r:id="rId79"/>
    <p:sldId id="762" r:id="rId80"/>
    <p:sldId id="781" r:id="rId81"/>
    <p:sldId id="782" r:id="rId82"/>
    <p:sldId id="783" r:id="rId83"/>
    <p:sldId id="789" r:id="rId84"/>
    <p:sldId id="788" r:id="rId85"/>
    <p:sldId id="787" r:id="rId86"/>
    <p:sldId id="786" r:id="rId87"/>
    <p:sldId id="785" r:id="rId88"/>
    <p:sldId id="784" r:id="rId89"/>
    <p:sldId id="796" r:id="rId90"/>
    <p:sldId id="795" r:id="rId91"/>
    <p:sldId id="794" r:id="rId92"/>
    <p:sldId id="793" r:id="rId93"/>
    <p:sldId id="792" r:id="rId94"/>
    <p:sldId id="790" r:id="rId95"/>
    <p:sldId id="805" r:id="rId96"/>
    <p:sldId id="804" r:id="rId97"/>
    <p:sldId id="803" r:id="rId98"/>
    <p:sldId id="802" r:id="rId99"/>
    <p:sldId id="801" r:id="rId100"/>
    <p:sldId id="806" r:id="rId101"/>
    <p:sldId id="800" r:id="rId102"/>
    <p:sldId id="811" r:id="rId103"/>
    <p:sldId id="810" r:id="rId104"/>
    <p:sldId id="809" r:id="rId105"/>
    <p:sldId id="808" r:id="rId106"/>
    <p:sldId id="807" r:id="rId107"/>
    <p:sldId id="799" r:id="rId10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9" autoAdjust="0"/>
    <p:restoredTop sz="94609" autoAdjust="0"/>
  </p:normalViewPr>
  <p:slideViewPr>
    <p:cSldViewPr>
      <p:cViewPr varScale="1">
        <p:scale>
          <a:sx n="44" d="100"/>
          <a:sy n="44" d="100"/>
        </p:scale>
        <p:origin x="-762"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7D30B6-26A4-4CA1-B581-2260D89901D5}" type="datetimeFigureOut">
              <a:rPr lang="zh-CN" altLang="en-US" smtClean="0"/>
              <a:pPr/>
              <a:t>2015/12/6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97EAAC-768A-43F2-9433-F8D70B74D66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zh-CN" altLang="zh-CN" sz="2400">
                  <a:latin typeface="Times New Roman" pitchFamily="18" charset="0"/>
                </a:endParaRPr>
              </a:p>
            </p:txBody>
          </p:sp>
        </p:grpSp>
      </p:grpSp>
      <p:sp>
        <p:nvSpPr>
          <p:cNvPr id="821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8212"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smtClean="0"/>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smtClean="0"/>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smtClean="0"/>
            </a:lvl1pPr>
          </a:lstStyle>
          <a:p>
            <a:pPr>
              <a:defRPr/>
            </a:pPr>
            <a:fld id="{CEDBA282-8066-43B7-991F-65102C680A52}"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06015DE3-77BC-402F-BE13-14EB912EFAA2}"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D145AFD-2338-4D54-8CD8-8474CC58BE4C}"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0EEA62BA-6E16-4B5C-80E2-B596AC2F904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FCE01721-F15C-46F8-91E6-487EBE5A9F61}"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EEC07CED-4855-42CA-96E4-B6B6D4886688}"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FEDEC28E-4358-47CA-9DF7-5E6F0B327FB9}"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729D423D-FAFF-4AFA-96ED-8D012832110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3E46FF8-CEFD-4917-B419-09AA1464C5B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55F35CC-FAF9-4A17-9C64-93AC608966C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28FD1A9-D6E6-4B81-AA82-15032A1EBC12}"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lvl1pPr>
          </a:lstStyle>
          <a:p>
            <a:pPr>
              <a:defRPr/>
            </a:pPr>
            <a:endParaRPr lang="en-US" altLang="zh-CN"/>
          </a:p>
        </p:txBody>
      </p:sp>
      <p:sp>
        <p:nvSpPr>
          <p:cNvPr id="7171"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Black" pitchFamily="34" charset="0"/>
              </a:defRPr>
            </a:lvl1pPr>
          </a:lstStyle>
          <a:p>
            <a:pPr>
              <a:defRPr/>
            </a:pPr>
            <a:fld id="{4C0C48F2-BC86-408C-9BC8-D17D162D5551}"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717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a:latin typeface="Times New Roman" pitchFamily="18" charset="0"/>
              </a:endParaRPr>
            </a:p>
          </p:txBody>
        </p:sp>
        <p:sp>
          <p:nvSpPr>
            <p:cNvPr id="717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zh-CN" altLang="zh-CN" sz="2400">
                <a:latin typeface="Times New Roman" pitchFamily="18" charset="0"/>
              </a:endParaRPr>
            </a:p>
          </p:txBody>
        </p:sp>
        <p:sp>
          <p:nvSpPr>
            <p:cNvPr id="717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zh-CN" altLang="zh-CN">
                <a:solidFill>
                  <a:schemeClr val="hlink"/>
                </a:solidFill>
              </a:endParaRPr>
            </a:p>
          </p:txBody>
        </p:sp>
        <p:sp>
          <p:nvSpPr>
            <p:cNvPr id="717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zh-CN" altLang="zh-CN">
                <a:solidFill>
                  <a:schemeClr val="hlink"/>
                </a:solidFill>
              </a:endParaRPr>
            </a:p>
          </p:txBody>
        </p:sp>
        <p:sp>
          <p:nvSpPr>
            <p:cNvPr id="717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zh-CN" altLang="zh-CN">
                <a:solidFill>
                  <a:schemeClr val="accent2"/>
                </a:solidFill>
              </a:endParaRPr>
            </a:p>
          </p:txBody>
        </p:sp>
        <p:sp>
          <p:nvSpPr>
            <p:cNvPr id="717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zh-CN" altLang="zh-CN">
                <a:solidFill>
                  <a:schemeClr val="hlink"/>
                </a:solidFill>
              </a:endParaRPr>
            </a:p>
          </p:txBody>
        </p:sp>
        <p:sp>
          <p:nvSpPr>
            <p:cNvPr id="717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zh-CN" altLang="zh-CN" sz="2400">
                <a:latin typeface="Times New Roman" pitchFamily="18" charset="0"/>
              </a:endParaRPr>
            </a:p>
          </p:txBody>
        </p:sp>
        <p:sp>
          <p:nvSpPr>
            <p:cNvPr id="718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zh-CN" altLang="zh-CN">
                <a:solidFill>
                  <a:schemeClr val="accent2"/>
                </a:solidFill>
              </a:endParaRPr>
            </a:p>
          </p:txBody>
        </p:sp>
        <p:sp>
          <p:nvSpPr>
            <p:cNvPr id="718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184"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381000" y="685800"/>
            <a:ext cx="8305800" cy="5486400"/>
          </a:xfrm>
        </p:spPr>
        <p:txBody>
          <a:bodyPr/>
          <a:lstStyle/>
          <a:p>
            <a:pPr>
              <a:buNone/>
            </a:pPr>
            <a:r>
              <a:rPr lang="zh-CN" altLang="en-US" dirty="0" smtClean="0"/>
              <a:t>                          </a:t>
            </a:r>
            <a:r>
              <a:rPr lang="zh-CN" altLang="en-US" b="1" dirty="0" smtClean="0"/>
              <a:t>小儿推拿</a:t>
            </a:r>
            <a:endParaRPr lang="en-US" altLang="zh-CN" b="1" dirty="0" smtClean="0"/>
          </a:p>
          <a:p>
            <a:pPr>
              <a:lnSpc>
                <a:spcPct val="125000"/>
              </a:lnSpc>
            </a:pPr>
            <a:r>
              <a:rPr lang="en-US" altLang="zh-CN" dirty="0" smtClean="0"/>
              <a:t>14</a:t>
            </a:r>
            <a:r>
              <a:rPr lang="zh-CN" altLang="en-US" dirty="0" smtClean="0"/>
              <a:t>周岁以下，</a:t>
            </a:r>
            <a:r>
              <a:rPr lang="en-US" altLang="zh-CN" dirty="0" smtClean="0"/>
              <a:t>6</a:t>
            </a:r>
            <a:r>
              <a:rPr lang="zh-CN" altLang="en-US" dirty="0" smtClean="0"/>
              <a:t>周岁以下，</a:t>
            </a:r>
            <a:r>
              <a:rPr lang="en-US" altLang="zh-CN" dirty="0" smtClean="0"/>
              <a:t>3</a:t>
            </a:r>
            <a:r>
              <a:rPr lang="zh-CN" altLang="en-US" dirty="0" smtClean="0"/>
              <a:t>周岁以下                胎 儿 期</a:t>
            </a:r>
            <a:r>
              <a:rPr lang="en-US" altLang="zh-CN" dirty="0" smtClean="0"/>
              <a:t>——</a:t>
            </a:r>
            <a:r>
              <a:rPr lang="zh-CN" altLang="en-US" dirty="0" smtClean="0"/>
              <a:t>从受孕到分娩约</a:t>
            </a:r>
            <a:r>
              <a:rPr lang="en-US" altLang="zh-CN" dirty="0" smtClean="0"/>
              <a:t>40</a:t>
            </a:r>
            <a:r>
              <a:rPr lang="zh-CN" altLang="en-US" dirty="0" smtClean="0"/>
              <a:t>周。</a:t>
            </a:r>
          </a:p>
          <a:p>
            <a:pPr>
              <a:lnSpc>
                <a:spcPct val="125000"/>
              </a:lnSpc>
              <a:buNone/>
            </a:pPr>
            <a:r>
              <a:rPr lang="zh-CN" altLang="en-US" dirty="0" smtClean="0"/>
              <a:t>    新生儿期</a:t>
            </a:r>
            <a:r>
              <a:rPr lang="en-US" altLang="zh-CN" dirty="0" smtClean="0"/>
              <a:t>——</a:t>
            </a:r>
            <a:r>
              <a:rPr lang="zh-CN" altLang="en-US" dirty="0" smtClean="0"/>
              <a:t>从出生到</a:t>
            </a:r>
            <a:r>
              <a:rPr lang="en-US" altLang="zh-CN" dirty="0" smtClean="0"/>
              <a:t>28</a:t>
            </a:r>
            <a:r>
              <a:rPr lang="zh-CN" altLang="en-US" dirty="0" smtClean="0"/>
              <a:t>天。</a:t>
            </a:r>
          </a:p>
          <a:p>
            <a:pPr>
              <a:lnSpc>
                <a:spcPct val="125000"/>
              </a:lnSpc>
            </a:pPr>
            <a:r>
              <a:rPr lang="zh-CN" altLang="en-US" dirty="0" smtClean="0"/>
              <a:t> 婴 儿 期</a:t>
            </a:r>
            <a:r>
              <a:rPr lang="en-US" altLang="zh-CN" dirty="0" smtClean="0"/>
              <a:t>——</a:t>
            </a:r>
            <a:r>
              <a:rPr lang="zh-CN" altLang="en-US" dirty="0" smtClean="0"/>
              <a:t>从出生后第</a:t>
            </a:r>
            <a:r>
              <a:rPr lang="en-US" altLang="zh-CN" dirty="0" smtClean="0"/>
              <a:t>28</a:t>
            </a:r>
            <a:r>
              <a:rPr lang="zh-CN" altLang="en-US" dirty="0" smtClean="0"/>
              <a:t>天到一周岁。</a:t>
            </a:r>
          </a:p>
          <a:p>
            <a:pPr>
              <a:lnSpc>
                <a:spcPct val="125000"/>
              </a:lnSpc>
            </a:pPr>
            <a:r>
              <a:rPr lang="zh-CN" altLang="en-US" dirty="0" smtClean="0"/>
              <a:t> 幼 儿 期</a:t>
            </a:r>
            <a:r>
              <a:rPr lang="en-US" altLang="zh-CN" dirty="0" smtClean="0"/>
              <a:t>——</a:t>
            </a:r>
            <a:r>
              <a:rPr lang="zh-CN" altLang="en-US" dirty="0" smtClean="0"/>
              <a:t>从一周岁到三周岁。</a:t>
            </a:r>
          </a:p>
          <a:p>
            <a:pPr>
              <a:lnSpc>
                <a:spcPct val="125000"/>
              </a:lnSpc>
            </a:pPr>
            <a:r>
              <a:rPr lang="zh-CN" altLang="en-US" dirty="0" smtClean="0"/>
              <a:t> 幼 童 期</a:t>
            </a:r>
            <a:r>
              <a:rPr lang="en-US" altLang="zh-CN" dirty="0" smtClean="0"/>
              <a:t>——</a:t>
            </a:r>
            <a:r>
              <a:rPr lang="zh-CN" altLang="en-US" dirty="0" smtClean="0"/>
              <a:t>从三周岁到七周岁，学龄前期</a:t>
            </a:r>
          </a:p>
          <a:p>
            <a:pPr>
              <a:lnSpc>
                <a:spcPct val="125000"/>
              </a:lnSpc>
              <a:buNone/>
            </a:pPr>
            <a:r>
              <a:rPr lang="zh-CN" altLang="en-US" dirty="0" smtClean="0"/>
              <a:t>  儿 童 期</a:t>
            </a:r>
            <a:r>
              <a:rPr lang="en-US" altLang="zh-CN" dirty="0" smtClean="0"/>
              <a:t>——</a:t>
            </a:r>
            <a:r>
              <a:rPr lang="zh-CN" altLang="en-US" dirty="0" smtClean="0"/>
              <a:t>从七周岁到</a:t>
            </a:r>
            <a:r>
              <a:rPr lang="en-US" altLang="zh-CN" dirty="0" smtClean="0"/>
              <a:t>14</a:t>
            </a:r>
            <a:r>
              <a:rPr lang="zh-CN" altLang="en-US" dirty="0" smtClean="0"/>
              <a:t>周岁，学龄期 </a:t>
            </a:r>
          </a:p>
          <a:p>
            <a:pPr>
              <a:buNone/>
            </a:pPr>
            <a:endParaRPr lang="zh-CN" altLang="en-US" b="1"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533400" y="1600200"/>
            <a:ext cx="8229600" cy="3886200"/>
          </a:xfrm>
        </p:spPr>
        <p:txBody>
          <a:bodyPr/>
          <a:lstStyle/>
          <a:p>
            <a:pPr>
              <a:spcBef>
                <a:spcPct val="50000"/>
              </a:spcBef>
              <a:buNone/>
            </a:pPr>
            <a:r>
              <a:rPr lang="zh-CN" altLang="en-US" dirty="0" smtClean="0">
                <a:latin typeface="宋体" pitchFamily="2" charset="-122"/>
              </a:rPr>
              <a:t>小儿生长发育</a:t>
            </a:r>
            <a:endParaRPr lang="en-US" altLang="zh-CN" dirty="0" smtClean="0">
              <a:latin typeface="宋体" pitchFamily="2" charset="-122"/>
            </a:endParaRPr>
          </a:p>
          <a:p>
            <a:pPr>
              <a:spcBef>
                <a:spcPct val="50000"/>
              </a:spcBef>
            </a:pPr>
            <a:r>
              <a:rPr lang="zh-CN" altLang="en-US" dirty="0" smtClean="0">
                <a:latin typeface="宋体" pitchFamily="2" charset="-122"/>
              </a:rPr>
              <a:t>一视二听三抬头，</a:t>
            </a:r>
          </a:p>
          <a:p>
            <a:pPr>
              <a:spcBef>
                <a:spcPct val="50000"/>
              </a:spcBef>
            </a:pPr>
            <a:r>
              <a:rPr lang="zh-CN" altLang="en-US" dirty="0" smtClean="0">
                <a:latin typeface="宋体" pitchFamily="2" charset="-122"/>
              </a:rPr>
              <a:t>四握五抓六翻身，</a:t>
            </a:r>
          </a:p>
          <a:p>
            <a:pPr>
              <a:spcBef>
                <a:spcPct val="50000"/>
              </a:spcBef>
            </a:pPr>
            <a:r>
              <a:rPr lang="zh-CN" altLang="en-US" dirty="0" smtClean="0">
                <a:latin typeface="宋体" pitchFamily="2" charset="-122"/>
              </a:rPr>
              <a:t>七坐八爬九扶站，</a:t>
            </a:r>
          </a:p>
          <a:p>
            <a:pPr>
              <a:spcBef>
                <a:spcPct val="50000"/>
              </a:spcBef>
            </a:pPr>
            <a:r>
              <a:rPr lang="zh-CN" altLang="en-US" dirty="0" smtClean="0">
                <a:latin typeface="宋体" pitchFamily="2" charset="-122"/>
              </a:rPr>
              <a:t>十捏周岁独站稳 。 </a:t>
            </a:r>
            <a:r>
              <a:rPr lang="zh-CN" altLang="en-US" dirty="0" smtClean="0"/>
              <a:t> </a:t>
            </a:r>
          </a:p>
          <a:p>
            <a:pPr>
              <a:spcBef>
                <a:spcPct val="50000"/>
              </a:spcBef>
              <a:buNone/>
            </a:pPr>
            <a:r>
              <a:rPr lang="zh-CN" altLang="en-US" dirty="0" smtClean="0">
                <a:latin typeface="宋体" pitchFamily="2" charset="-122"/>
              </a:rPr>
              <a:t> </a:t>
            </a:r>
            <a:r>
              <a:rPr lang="zh-CN" altLang="en-US" dirty="0" smtClean="0"/>
              <a:t> </a:t>
            </a:r>
            <a:endParaRPr lang="zh-CN"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533400" y="1600200"/>
            <a:ext cx="8229600" cy="3886200"/>
          </a:xfrm>
        </p:spPr>
        <p:txBody>
          <a:bodyPr/>
          <a:lstStyle/>
          <a:p>
            <a:pPr>
              <a:spcBef>
                <a:spcPct val="50000"/>
              </a:spcBef>
              <a:buNone/>
            </a:pPr>
            <a:r>
              <a:rPr lang="zh-CN" altLang="en-US" dirty="0" smtClean="0">
                <a:latin typeface="宋体" pitchFamily="2" charset="-122"/>
              </a:rPr>
              <a:t>正常成人脊柱有</a:t>
            </a:r>
            <a:r>
              <a:rPr lang="en-US" altLang="zh-CN" dirty="0" smtClean="0">
                <a:latin typeface="宋体" pitchFamily="2" charset="-122"/>
              </a:rPr>
              <a:t>4</a:t>
            </a:r>
            <a:r>
              <a:rPr lang="zh-CN" altLang="en-US" dirty="0" smtClean="0">
                <a:latin typeface="宋体" pitchFamily="2" charset="-122"/>
              </a:rPr>
              <a:t>个生理弯曲</a:t>
            </a:r>
            <a:r>
              <a:rPr lang="en-US" altLang="zh-CN" dirty="0" smtClean="0">
                <a:latin typeface="宋体" pitchFamily="2" charset="-122"/>
              </a:rPr>
              <a:t>---</a:t>
            </a:r>
            <a:r>
              <a:rPr lang="zh-CN" altLang="en-US" smtClean="0">
                <a:latin typeface="宋体" pitchFamily="2" charset="-122"/>
              </a:rPr>
              <a:t>颈曲 胸曲 腰曲 骶曲</a:t>
            </a:r>
            <a:endParaRPr lang="en-US" altLang="zh-CN" smtClean="0">
              <a:latin typeface="宋体" pitchFamily="2" charset="-122"/>
            </a:endParaRPr>
          </a:p>
          <a:p>
            <a:pPr>
              <a:spcBef>
                <a:spcPct val="50000"/>
              </a:spcBef>
              <a:buNone/>
            </a:pPr>
            <a:r>
              <a:rPr lang="zh-CN" altLang="en-US" dirty="0" smtClean="0">
                <a:latin typeface="宋体" pitchFamily="2" charset="-122"/>
              </a:rPr>
              <a:t>新生儿只有</a:t>
            </a:r>
            <a:r>
              <a:rPr lang="en-US" altLang="zh-CN" dirty="0" smtClean="0">
                <a:latin typeface="宋体" pitchFamily="2" charset="-122"/>
              </a:rPr>
              <a:t>2</a:t>
            </a:r>
            <a:r>
              <a:rPr lang="zh-CN" altLang="en-US" dirty="0" smtClean="0">
                <a:latin typeface="宋体" pitchFamily="2" charset="-122"/>
              </a:rPr>
              <a:t>个生理弯曲</a:t>
            </a:r>
            <a:endParaRPr lang="en-US" altLang="zh-CN" dirty="0" smtClean="0">
              <a:latin typeface="宋体" pitchFamily="2" charset="-122"/>
            </a:endParaRPr>
          </a:p>
          <a:p>
            <a:pPr>
              <a:spcBef>
                <a:spcPct val="50000"/>
              </a:spcBef>
              <a:buNone/>
            </a:pPr>
            <a:r>
              <a:rPr lang="zh-CN" altLang="en-US" dirty="0" smtClean="0">
                <a:latin typeface="宋体" pitchFamily="2" charset="-122"/>
              </a:rPr>
              <a:t>出生三个月，抬头时形成颈曲</a:t>
            </a:r>
            <a:endParaRPr lang="en-US" altLang="zh-CN" dirty="0" smtClean="0">
              <a:latin typeface="宋体" pitchFamily="2" charset="-122"/>
            </a:endParaRPr>
          </a:p>
          <a:p>
            <a:pPr>
              <a:spcBef>
                <a:spcPct val="50000"/>
              </a:spcBef>
              <a:buNone/>
            </a:pPr>
            <a:r>
              <a:rPr lang="zh-CN" altLang="en-US" dirty="0" smtClean="0">
                <a:latin typeface="宋体" pitchFamily="2" charset="-122"/>
              </a:rPr>
              <a:t>出生十八个月，走路时形成腰曲</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381000" y="990600"/>
            <a:ext cx="8305800" cy="5181600"/>
          </a:xfrm>
        </p:spPr>
        <p:txBody>
          <a:bodyPr/>
          <a:lstStyle/>
          <a:p>
            <a:pPr lvl="0">
              <a:buNone/>
            </a:pPr>
            <a:endParaRPr lang="en-US" altLang="zh-CN" b="1" dirty="0" smtClean="0"/>
          </a:p>
          <a:p>
            <a:pPr lvl="0">
              <a:buNone/>
            </a:pPr>
            <a:r>
              <a:rPr lang="zh-CN" altLang="en-US" b="1" dirty="0" smtClean="0"/>
              <a:t>小儿生理特点</a:t>
            </a:r>
            <a:endParaRPr lang="en-US" altLang="zh-CN" b="1" dirty="0" smtClean="0"/>
          </a:p>
          <a:p>
            <a:pPr>
              <a:lnSpc>
                <a:spcPct val="125000"/>
              </a:lnSpc>
              <a:spcBef>
                <a:spcPct val="50000"/>
              </a:spcBef>
            </a:pPr>
            <a:r>
              <a:rPr lang="en-US" altLang="zh-CN" dirty="0" smtClean="0">
                <a:latin typeface="宋体" pitchFamily="2" charset="-122"/>
              </a:rPr>
              <a:t> 1</a:t>
            </a:r>
            <a:r>
              <a:rPr lang="zh-CN" altLang="en-US" dirty="0" smtClean="0">
                <a:latin typeface="宋体" pitchFamily="2" charset="-122"/>
              </a:rPr>
              <a:t>、脏腑娇嫩，形气未充。 </a:t>
            </a:r>
          </a:p>
          <a:p>
            <a:pPr>
              <a:lnSpc>
                <a:spcPct val="125000"/>
              </a:lnSpc>
              <a:spcBef>
                <a:spcPct val="50000"/>
              </a:spcBef>
            </a:pPr>
            <a:r>
              <a:rPr lang="zh-CN" altLang="en-US" dirty="0" smtClean="0">
                <a:latin typeface="宋体" pitchFamily="2" charset="-122"/>
              </a:rPr>
              <a:t>    “稚阴稚阳”（稚阳未充、稚阴未长） </a:t>
            </a:r>
          </a:p>
          <a:p>
            <a:pPr>
              <a:lnSpc>
                <a:spcPct val="125000"/>
              </a:lnSpc>
              <a:spcBef>
                <a:spcPct val="50000"/>
              </a:spcBef>
            </a:pPr>
            <a:r>
              <a:rPr lang="zh-CN" altLang="en-US" dirty="0" smtClean="0">
                <a:latin typeface="宋体" pitchFamily="2" charset="-122"/>
              </a:rPr>
              <a:t> </a:t>
            </a:r>
            <a:r>
              <a:rPr lang="en-US" altLang="zh-CN" dirty="0" smtClean="0">
                <a:latin typeface="宋体" pitchFamily="2" charset="-122"/>
              </a:rPr>
              <a:t>2</a:t>
            </a:r>
            <a:r>
              <a:rPr lang="zh-CN" altLang="en-US" dirty="0" smtClean="0">
                <a:latin typeface="宋体" pitchFamily="2" charset="-122"/>
              </a:rPr>
              <a:t>、生机蓬勃，发育迅速。</a:t>
            </a:r>
          </a:p>
          <a:p>
            <a:pPr>
              <a:lnSpc>
                <a:spcPct val="125000"/>
              </a:lnSpc>
              <a:spcBef>
                <a:spcPct val="50000"/>
              </a:spcBef>
            </a:pPr>
            <a:r>
              <a:rPr lang="zh-CN" altLang="en-US" dirty="0" smtClean="0">
                <a:latin typeface="宋体" pitchFamily="2" charset="-122"/>
              </a:rPr>
              <a:t>    “纯阳之体” </a:t>
            </a:r>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小儿病理特点</a:t>
            </a:r>
            <a:endParaRPr lang="en-US" altLang="zh-CN" b="1" dirty="0" smtClean="0"/>
          </a:p>
          <a:p>
            <a:pPr>
              <a:lnSpc>
                <a:spcPct val="125000"/>
              </a:lnSpc>
              <a:spcBef>
                <a:spcPct val="50000"/>
              </a:spcBef>
            </a:pPr>
            <a:r>
              <a:rPr lang="en-US" altLang="zh-CN" dirty="0" smtClean="0">
                <a:latin typeface="宋体" pitchFamily="2" charset="-122"/>
              </a:rPr>
              <a:t> 1</a:t>
            </a:r>
            <a:r>
              <a:rPr lang="zh-CN" altLang="en-US" dirty="0" smtClean="0">
                <a:latin typeface="宋体" pitchFamily="2" charset="-122"/>
              </a:rPr>
              <a:t>、发病容易，传变迅速。 </a:t>
            </a:r>
          </a:p>
          <a:p>
            <a:pPr>
              <a:lnSpc>
                <a:spcPct val="125000"/>
              </a:lnSpc>
              <a:spcBef>
                <a:spcPct val="50000"/>
              </a:spcBef>
            </a:pPr>
            <a:r>
              <a:rPr lang="zh-CN" altLang="en-US" dirty="0" smtClean="0">
                <a:latin typeface="宋体" pitchFamily="2" charset="-122"/>
              </a:rPr>
              <a:t>    </a:t>
            </a:r>
          </a:p>
          <a:p>
            <a:pPr>
              <a:lnSpc>
                <a:spcPct val="125000"/>
              </a:lnSpc>
              <a:spcBef>
                <a:spcPct val="50000"/>
              </a:spcBef>
            </a:pPr>
            <a:r>
              <a:rPr lang="zh-CN" altLang="en-US" dirty="0" smtClean="0">
                <a:latin typeface="宋体" pitchFamily="2" charset="-122"/>
              </a:rPr>
              <a:t> </a:t>
            </a:r>
            <a:r>
              <a:rPr lang="en-US" altLang="zh-CN" dirty="0" smtClean="0">
                <a:latin typeface="宋体" pitchFamily="2" charset="-122"/>
              </a:rPr>
              <a:t>2</a:t>
            </a:r>
            <a:r>
              <a:rPr lang="zh-CN" altLang="en-US" dirty="0" smtClean="0">
                <a:latin typeface="宋体" pitchFamily="2" charset="-122"/>
              </a:rPr>
              <a:t>、脏气清灵，易趋康复。</a:t>
            </a:r>
          </a:p>
          <a:p>
            <a:pPr>
              <a:lnSpc>
                <a:spcPct val="125000"/>
              </a:lnSpc>
              <a:spcBef>
                <a:spcPct val="50000"/>
              </a:spcBef>
            </a:pPr>
            <a:r>
              <a:rPr lang="zh-CN" altLang="en-US" dirty="0" smtClean="0">
                <a:latin typeface="宋体" pitchFamily="2" charset="-122"/>
              </a:rPr>
              <a:t>    </a:t>
            </a:r>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辨证论治</a:t>
            </a:r>
            <a:endParaRPr lang="en-US" altLang="zh-CN" b="1" dirty="0" smtClean="0"/>
          </a:p>
          <a:p>
            <a:pPr marL="457200" indent="-457200" algn="just">
              <a:lnSpc>
                <a:spcPct val="120000"/>
              </a:lnSpc>
              <a:spcBef>
                <a:spcPct val="50000"/>
              </a:spcBef>
            </a:pPr>
            <a:r>
              <a:rPr lang="zh-CN" altLang="en-US" dirty="0" smtClean="0"/>
              <a:t>四诊：以</a:t>
            </a:r>
            <a:r>
              <a:rPr lang="zh-CN" altLang="en-US" dirty="0" smtClean="0">
                <a:solidFill>
                  <a:srgbClr val="FF6600"/>
                </a:solidFill>
              </a:rPr>
              <a:t>望</a:t>
            </a:r>
            <a:r>
              <a:rPr lang="zh-CN" altLang="en-US" dirty="0" smtClean="0"/>
              <a:t>、闻为主，问、切为辅（“哑不能言”、  </a:t>
            </a:r>
          </a:p>
          <a:p>
            <a:pPr marL="457200" indent="-457200" algn="just">
              <a:lnSpc>
                <a:spcPct val="120000"/>
              </a:lnSpc>
              <a:spcBef>
                <a:spcPct val="50000"/>
              </a:spcBef>
            </a:pPr>
            <a:r>
              <a:rPr lang="zh-CN" altLang="en-US" dirty="0" smtClean="0"/>
              <a:t>             腕部较短三部不分、啼哭影响脉象气息）。</a:t>
            </a:r>
          </a:p>
          <a:p>
            <a:pPr marL="457200" indent="-457200">
              <a:lnSpc>
                <a:spcPct val="120000"/>
              </a:lnSpc>
            </a:pPr>
            <a:endParaRPr lang="zh-CN" altLang="en-US" dirty="0" smtClean="0"/>
          </a:p>
          <a:p>
            <a:pPr marL="457200" indent="-457200" algn="just">
              <a:lnSpc>
                <a:spcPct val="120000"/>
              </a:lnSpc>
              <a:spcBef>
                <a:spcPct val="50000"/>
              </a:spcBef>
            </a:pPr>
            <a:endParaRPr lang="en-US" altLang="zh-CN" dirty="0" smtClean="0"/>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marL="457200" indent="-457200">
              <a:lnSpc>
                <a:spcPct val="120000"/>
              </a:lnSpc>
            </a:pPr>
            <a:r>
              <a:rPr lang="zh-CN" altLang="en-US" dirty="0" smtClean="0">
                <a:solidFill>
                  <a:srgbClr val="FF6600"/>
                </a:solidFill>
              </a:rPr>
              <a:t>          望指纹：</a:t>
            </a:r>
          </a:p>
          <a:p>
            <a:pPr marL="457200" indent="-457200">
              <a:lnSpc>
                <a:spcPct val="120000"/>
              </a:lnSpc>
            </a:pPr>
            <a:r>
              <a:rPr lang="zh-CN" altLang="en-US" dirty="0" smtClean="0"/>
              <a:t>①一般多用于三岁以下的婴幼儿。</a:t>
            </a:r>
          </a:p>
          <a:p>
            <a:pPr marL="457200" indent="-457200">
              <a:lnSpc>
                <a:spcPct val="120000"/>
              </a:lnSpc>
            </a:pPr>
            <a:r>
              <a:rPr lang="zh-CN" altLang="en-US" dirty="0" smtClean="0"/>
              <a:t>②指纹是指食指桡侧缘所显露的一条脉络。按指节分为三部：近掌侧一节为风关，第二节为气关，第三节为命关。</a:t>
            </a:r>
          </a:p>
          <a:p>
            <a:pPr marL="457200" indent="-457200">
              <a:lnSpc>
                <a:spcPct val="120000"/>
              </a:lnSpc>
            </a:pPr>
            <a:r>
              <a:rPr lang="zh-CN" altLang="en-US" dirty="0" smtClean="0"/>
              <a:t>③中医认为属于手太阴肺经的一个分支；现代医学认为是浅表静脉。</a:t>
            </a:r>
          </a:p>
          <a:p>
            <a:pPr marL="457200" indent="-457200">
              <a:lnSpc>
                <a:spcPct val="120000"/>
              </a:lnSpc>
            </a:pPr>
            <a:r>
              <a:rPr lang="zh-CN" altLang="en-US" dirty="0" smtClean="0"/>
              <a:t>④检查方法：将小儿的手放在光线较亮处，医生用手指轻轻从命关推向风关，使指纹容易显露。</a:t>
            </a:r>
            <a:endParaRPr lang="en-US" altLang="zh-CN" b="1" dirty="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254.jpg"/>
          <p:cNvPicPr>
            <a:picLocks noGrp="1" noChangeAspect="1"/>
          </p:cNvPicPr>
          <p:nvPr>
            <p:ph idx="1"/>
          </p:nvPr>
        </p:nvPicPr>
        <p:blipFill>
          <a:blip r:embed="rId2" cstate="print"/>
          <a:stretch>
            <a:fillRect/>
          </a:stretch>
        </p:blipFill>
        <p:spPr>
          <a:xfrm>
            <a:off x="228600" y="914400"/>
            <a:ext cx="8686798" cy="4886324"/>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3</a:t>
            </a:r>
            <a:r>
              <a:rPr lang="zh-CN" altLang="en-US" b="1" dirty="0" smtClean="0"/>
              <a:t>太阳</a:t>
            </a:r>
            <a:r>
              <a:rPr lang="en-US" altLang="zh-CN" b="1" dirty="0" smtClean="0"/>
              <a:t>---</a:t>
            </a:r>
            <a:r>
              <a:rPr lang="zh-CN" altLang="en-US" b="1" dirty="0" smtClean="0"/>
              <a:t>两眉外端的后方凹陷中，左为太阳，右为太阴。</a:t>
            </a:r>
            <a:endParaRPr lang="en-US" altLang="zh-CN" b="1" dirty="0" smtClean="0"/>
          </a:p>
          <a:p>
            <a:pPr lvl="0">
              <a:buNone/>
            </a:pPr>
            <a:endParaRPr lang="en-US" altLang="zh-CN" b="1" dirty="0" smtClean="0"/>
          </a:p>
          <a:p>
            <a:pPr lvl="0">
              <a:buNone/>
            </a:pPr>
            <a:r>
              <a:rPr lang="zh-CN" altLang="en-US" b="1" dirty="0" smtClean="0"/>
              <a:t>主治：感冒 发热 恶寒  头痛 目赤痛</a:t>
            </a:r>
            <a:endParaRPr lang="en-US" altLang="zh-CN" b="1" dirty="0" smtClean="0"/>
          </a:p>
          <a:p>
            <a:pPr lvl="0">
              <a:buNone/>
            </a:pPr>
            <a:endParaRPr lang="en-US" altLang="zh-CN" b="1" dirty="0" smtClean="0"/>
          </a:p>
          <a:p>
            <a:pPr lvl="0">
              <a:buNone/>
            </a:pPr>
            <a:r>
              <a:rPr lang="zh-CN" altLang="en-US" b="1" dirty="0" smtClean="0"/>
              <a:t>按语：用拇指指端在穴位上旋转揉运，称运太阳。向眼睛方向为补，向耳后方向为泻。以两手拇指指腹自两太阳穴向耳后方向推，称推太阳。</a:t>
            </a:r>
            <a:endParaRPr lang="en-US" altLang="zh-CN" b="1"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2</a:t>
            </a:r>
            <a:r>
              <a:rPr lang="zh-CN" altLang="en-US" b="1" dirty="0" smtClean="0"/>
              <a:t>坎宫</a:t>
            </a:r>
            <a:r>
              <a:rPr lang="en-US" altLang="zh-CN" b="1" dirty="0" smtClean="0"/>
              <a:t>---</a:t>
            </a:r>
            <a:r>
              <a:rPr lang="zh-CN" altLang="en-US" b="1" dirty="0" smtClean="0"/>
              <a:t>自眉头沿眉弓上缘至眉梢成一直线</a:t>
            </a:r>
            <a:endParaRPr lang="en-US" altLang="zh-CN" b="1" dirty="0" smtClean="0"/>
          </a:p>
          <a:p>
            <a:pPr lvl="0">
              <a:buNone/>
            </a:pPr>
            <a:endParaRPr lang="en-US" altLang="zh-CN" b="1" dirty="0" smtClean="0"/>
          </a:p>
          <a:p>
            <a:pPr lvl="0">
              <a:buNone/>
            </a:pPr>
            <a:r>
              <a:rPr lang="zh-CN" altLang="en-US" b="1" dirty="0" smtClean="0"/>
              <a:t>主治：感冒 头痛 头晕  目赤痛。</a:t>
            </a:r>
            <a:endParaRPr lang="en-US" altLang="zh-CN" b="1" dirty="0" smtClean="0"/>
          </a:p>
          <a:p>
            <a:pPr lvl="0">
              <a:buNone/>
            </a:pPr>
            <a:endParaRPr lang="en-US" altLang="zh-CN" b="1" dirty="0" smtClean="0"/>
          </a:p>
          <a:p>
            <a:pPr lvl="0">
              <a:buNone/>
            </a:pPr>
            <a:r>
              <a:rPr lang="zh-CN" altLang="en-US" b="1" dirty="0" smtClean="0"/>
              <a:t>按语：先用两拇指掐按眉毛中点片刻，再用两拇指桡侧面自眉头稍向上外分推至眉梢，称推坎宫</a:t>
            </a:r>
            <a:endParaRPr lang="en-US" altLang="zh-CN" b="1" dirty="0"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309.jpg"/>
          <p:cNvPicPr>
            <a:picLocks noGrp="1" noChangeAspect="1"/>
          </p:cNvPicPr>
          <p:nvPr>
            <p:ph idx="1"/>
          </p:nvPr>
        </p:nvPicPr>
        <p:blipFill>
          <a:blip r:embed="rId2" cstate="print"/>
          <a:stretch>
            <a:fillRect/>
          </a:stretch>
        </p:blipFill>
        <p:spPr>
          <a:xfrm rot="5400000">
            <a:off x="1371997" y="1536303"/>
            <a:ext cx="6616700" cy="3721894"/>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4</a:t>
            </a:r>
            <a:r>
              <a:rPr lang="zh-CN" altLang="en-US" b="1" dirty="0" smtClean="0"/>
              <a:t>山根</a:t>
            </a:r>
            <a:r>
              <a:rPr lang="en-US" altLang="zh-CN" b="1" dirty="0" smtClean="0"/>
              <a:t>---</a:t>
            </a:r>
            <a:r>
              <a:rPr lang="zh-CN" altLang="en-US" b="1" dirty="0" smtClean="0"/>
              <a:t>印堂之下，两眼之中间。</a:t>
            </a:r>
            <a:endParaRPr lang="en-US" altLang="zh-CN" b="1" dirty="0" smtClean="0"/>
          </a:p>
          <a:p>
            <a:pPr lvl="0">
              <a:buNone/>
            </a:pPr>
            <a:endParaRPr lang="en-US" altLang="zh-CN" b="1" dirty="0" smtClean="0"/>
          </a:p>
          <a:p>
            <a:pPr lvl="0">
              <a:buNone/>
            </a:pPr>
            <a:r>
              <a:rPr lang="zh-CN" altLang="en-US" b="1" dirty="0" smtClean="0"/>
              <a:t>主治：惊风 抽搐 目赤痛</a:t>
            </a:r>
            <a:endParaRPr lang="en-US" altLang="zh-CN" b="1" dirty="0" smtClean="0"/>
          </a:p>
          <a:p>
            <a:pPr lvl="0">
              <a:buNone/>
            </a:pPr>
            <a:endParaRPr lang="en-US" altLang="zh-CN" b="1" dirty="0" smtClean="0"/>
          </a:p>
          <a:p>
            <a:pPr lvl="0">
              <a:buNone/>
            </a:pPr>
            <a:r>
              <a:rPr lang="zh-CN" altLang="en-US" b="1" dirty="0" smtClean="0"/>
              <a:t>按语</a:t>
            </a:r>
            <a:r>
              <a:rPr lang="en-US" altLang="zh-CN" b="1" dirty="0" smtClean="0"/>
              <a:t>:</a:t>
            </a:r>
            <a:r>
              <a:rPr lang="zh-CN" altLang="en-US" b="1" dirty="0" smtClean="0"/>
              <a:t>以拇指甲掐之，称掐山根。以中指端背侧弹之，称为弹山根。操作</a:t>
            </a:r>
            <a:r>
              <a:rPr lang="en-US" altLang="zh-CN" b="1" dirty="0" smtClean="0"/>
              <a:t>3~5</a:t>
            </a:r>
            <a:r>
              <a:rPr lang="zh-CN" altLang="en-US" b="1" dirty="0" smtClean="0"/>
              <a:t>次</a:t>
            </a:r>
            <a:endParaRPr lang="en-US" altLang="zh-CN" b="1" dirty="0" smtClean="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5</a:t>
            </a:r>
            <a:r>
              <a:rPr lang="zh-CN" altLang="en-US" b="1" dirty="0" smtClean="0"/>
              <a:t>卤门</a:t>
            </a:r>
            <a:r>
              <a:rPr lang="en-US" altLang="zh-CN" b="1" dirty="0" smtClean="0"/>
              <a:t>---</a:t>
            </a:r>
            <a:r>
              <a:rPr lang="zh-CN" altLang="en-US" b="1" dirty="0" smtClean="0"/>
              <a:t>前发际正中直上，当百会穴前方凹陷中</a:t>
            </a:r>
            <a:endParaRPr lang="en-US" altLang="zh-CN" b="1" dirty="0" smtClean="0"/>
          </a:p>
          <a:p>
            <a:pPr lvl="0">
              <a:buNone/>
            </a:pPr>
            <a:endParaRPr lang="en-US" altLang="zh-CN" b="1" dirty="0" smtClean="0"/>
          </a:p>
          <a:p>
            <a:pPr lvl="0">
              <a:buNone/>
            </a:pPr>
            <a:r>
              <a:rPr lang="zh-CN" altLang="en-US" b="1" dirty="0" smtClean="0"/>
              <a:t>主治：惊风 头痛 抽搐 鼻塞 纽血</a:t>
            </a:r>
            <a:endParaRPr lang="en-US" altLang="zh-CN" b="1" dirty="0" smtClean="0"/>
          </a:p>
          <a:p>
            <a:pPr lvl="0">
              <a:buNone/>
            </a:pPr>
            <a:endParaRPr lang="en-US" altLang="zh-CN" b="1" dirty="0" smtClean="0"/>
          </a:p>
          <a:p>
            <a:pPr lvl="0">
              <a:buNone/>
            </a:pPr>
            <a:r>
              <a:rPr lang="zh-CN" altLang="en-US" b="1" dirty="0" smtClean="0"/>
              <a:t>按语：用拇指指腹轻轻揉之，称揉卤门。用两拇指指腹自发际向上轮换推至卤门（卤门未闭合时，仅推至边缘）再自卤门向两边分推，称推卤门。</a:t>
            </a:r>
            <a:endParaRPr lang="en-US" altLang="zh-CN" b="1" dirty="0" smtClean="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头面部穴位</a:t>
            </a:r>
            <a:endParaRPr lang="en-US" altLang="zh-CN" b="1" dirty="0" smtClean="0"/>
          </a:p>
          <a:p>
            <a:pPr lvl="0">
              <a:buNone/>
            </a:pPr>
            <a:endParaRPr lang="en-US" altLang="zh-CN" b="1" dirty="0" smtClean="0"/>
          </a:p>
          <a:p>
            <a:pPr lvl="0">
              <a:buNone/>
            </a:pPr>
            <a:r>
              <a:rPr lang="en-US" altLang="zh-CN" b="1" dirty="0" smtClean="0"/>
              <a:t>1</a:t>
            </a:r>
            <a:r>
              <a:rPr lang="zh-CN" altLang="en-US" b="1" dirty="0" smtClean="0"/>
              <a:t>天门</a:t>
            </a:r>
            <a:r>
              <a:rPr lang="en-US" altLang="zh-CN" b="1" dirty="0" smtClean="0"/>
              <a:t>---</a:t>
            </a:r>
            <a:r>
              <a:rPr lang="zh-CN" altLang="en-US" b="1" dirty="0" smtClean="0"/>
              <a:t>两眉间中点起，直上至前发际成一直线</a:t>
            </a:r>
            <a:endParaRPr lang="en-US" altLang="zh-CN" b="1" dirty="0" smtClean="0"/>
          </a:p>
          <a:p>
            <a:pPr lvl="0">
              <a:buNone/>
            </a:pPr>
            <a:endParaRPr lang="en-US" altLang="zh-CN" b="1" dirty="0" smtClean="0"/>
          </a:p>
          <a:p>
            <a:pPr lvl="0">
              <a:buNone/>
            </a:pPr>
            <a:r>
              <a:rPr lang="zh-CN" altLang="en-US" b="1" dirty="0" smtClean="0"/>
              <a:t>主治：头痛 发热 感冒 惊吓等。为发汗解表，止头痛的要穴，本穴发汗力强。</a:t>
            </a:r>
            <a:endParaRPr lang="en-US" altLang="zh-CN" b="1" dirty="0" smtClean="0"/>
          </a:p>
          <a:p>
            <a:pPr lvl="0">
              <a:buNone/>
            </a:pPr>
            <a:endParaRPr lang="en-US" altLang="zh-CN" b="1" dirty="0" smtClean="0"/>
          </a:p>
          <a:p>
            <a:pPr lvl="0">
              <a:buNone/>
            </a:pPr>
            <a:r>
              <a:rPr lang="zh-CN" altLang="en-US" b="1" dirty="0" smtClean="0"/>
              <a:t>按语：两拇指桡侧自下而上交替直推，称开天门。操作</a:t>
            </a:r>
            <a:r>
              <a:rPr lang="en-US" altLang="zh-CN" b="1" dirty="0" smtClean="0"/>
              <a:t>50</a:t>
            </a:r>
            <a:r>
              <a:rPr lang="zh-CN" altLang="en-US" b="1" dirty="0" smtClean="0"/>
              <a:t>次左右。</a:t>
            </a:r>
            <a:endParaRPr lang="en-US" altLang="zh-CN" b="1" dirty="0" smtClean="0"/>
          </a:p>
          <a:p>
            <a:pPr lvl="0">
              <a:buNone/>
            </a:pPr>
            <a:endParaRPr lang="en-US" altLang="zh-CN" b="1" dirty="0" smtClean="0"/>
          </a:p>
        </p:txBody>
      </p:sp>
      <p:sp>
        <p:nvSpPr>
          <p:cNvPr id="9" name="矩形 8"/>
          <p:cNvSpPr/>
          <p:nvPr/>
        </p:nvSpPr>
        <p:spPr>
          <a:xfrm>
            <a:off x="4248834" y="3244334"/>
            <a:ext cx="646331" cy="369332"/>
          </a:xfrm>
          <a:prstGeom prst="rect">
            <a:avLst/>
          </a:prstGeom>
        </p:spPr>
        <p:txBody>
          <a:bodyPr wrap="none">
            <a:spAutoFit/>
          </a:bodyPr>
          <a:lstStyle/>
          <a:p>
            <a:r>
              <a:rPr lang="zh-CN" altLang="en-US" dirty="0" smtClean="0"/>
              <a:t>扳脚</a:t>
            </a:r>
            <a:endParaRPr lang="zh-CN" altLang="en-US"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6</a:t>
            </a:r>
            <a:r>
              <a:rPr lang="zh-CN" altLang="en-US" b="1" dirty="0" smtClean="0"/>
              <a:t>耳后高骨</a:t>
            </a:r>
            <a:r>
              <a:rPr lang="en-US" altLang="zh-CN" b="1" dirty="0" smtClean="0"/>
              <a:t>---</a:t>
            </a:r>
            <a:r>
              <a:rPr lang="zh-CN" altLang="en-US" b="1" dirty="0" smtClean="0"/>
              <a:t>耳后高骨微下凹陷中</a:t>
            </a:r>
            <a:endParaRPr lang="en-US" altLang="zh-CN" b="1" dirty="0" smtClean="0"/>
          </a:p>
          <a:p>
            <a:pPr lvl="0">
              <a:buNone/>
            </a:pPr>
            <a:endParaRPr lang="en-US" altLang="zh-CN" b="1" dirty="0" smtClean="0"/>
          </a:p>
          <a:p>
            <a:pPr lvl="0">
              <a:buNone/>
            </a:pPr>
            <a:r>
              <a:rPr lang="zh-CN" altLang="en-US" b="1" dirty="0" smtClean="0"/>
              <a:t>主治：伤风感冒 惊风抽搐 烦躁不安</a:t>
            </a:r>
            <a:endParaRPr lang="en-US" altLang="zh-CN" b="1" dirty="0" smtClean="0"/>
          </a:p>
          <a:p>
            <a:pPr lvl="0">
              <a:buNone/>
            </a:pPr>
            <a:r>
              <a:rPr lang="en-US" altLang="zh-CN" b="1" dirty="0" smtClean="0"/>
              <a:t> </a:t>
            </a:r>
          </a:p>
          <a:p>
            <a:pPr lvl="0">
              <a:buNone/>
            </a:pPr>
            <a:r>
              <a:rPr lang="zh-CN" altLang="en-US" b="1" dirty="0" smtClean="0"/>
              <a:t>按语：以中指指面按于穴</a:t>
            </a:r>
            <a:r>
              <a:rPr lang="zh-CN" altLang="en-US" b="1" smtClean="0"/>
              <a:t>位上揉运，称运耳后高骨。</a:t>
            </a:r>
            <a:endParaRPr lang="en-US" altLang="zh-CN" b="1" dirty="0" smtClean="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躯干部与下肢部穴位</a:t>
            </a:r>
            <a:endParaRPr lang="en-US" altLang="zh-CN" b="1" dirty="0" smtClean="0"/>
          </a:p>
          <a:p>
            <a:pPr lvl="0">
              <a:buNone/>
            </a:pPr>
            <a:endParaRPr lang="en-US" altLang="zh-CN" b="1" dirty="0" smtClean="0"/>
          </a:p>
          <a:p>
            <a:pPr lvl="0">
              <a:buNone/>
            </a:pPr>
            <a:r>
              <a:rPr lang="en-US" altLang="zh-CN" b="1" dirty="0" smtClean="0"/>
              <a:t>1</a:t>
            </a:r>
            <a:r>
              <a:rPr lang="zh-CN" altLang="en-US" b="1" dirty="0" smtClean="0"/>
              <a:t>乳旁</a:t>
            </a:r>
            <a:r>
              <a:rPr lang="en-US" altLang="zh-CN" b="1" dirty="0" smtClean="0"/>
              <a:t>---</a:t>
            </a:r>
            <a:r>
              <a:rPr lang="zh-CN" altLang="en-US" b="1" dirty="0" smtClean="0"/>
              <a:t>乳头旁</a:t>
            </a:r>
            <a:r>
              <a:rPr lang="en-US" altLang="zh-CN" b="1" dirty="0" smtClean="0"/>
              <a:t>1</a:t>
            </a:r>
            <a:r>
              <a:rPr lang="zh-CN" altLang="en-US" b="1" dirty="0" smtClean="0"/>
              <a:t>寸</a:t>
            </a:r>
            <a:endParaRPr lang="en-US" altLang="zh-CN" b="1" dirty="0" smtClean="0"/>
          </a:p>
          <a:p>
            <a:pPr lvl="0">
              <a:buNone/>
            </a:pPr>
            <a:endParaRPr lang="en-US" altLang="zh-CN" b="1" dirty="0" smtClean="0"/>
          </a:p>
          <a:p>
            <a:pPr lvl="0">
              <a:buNone/>
            </a:pPr>
            <a:r>
              <a:rPr lang="zh-CN" altLang="en-US" b="1" dirty="0" smtClean="0"/>
              <a:t>主治：胸闷，呕吐，咳嗽，痰鸣</a:t>
            </a:r>
            <a:endParaRPr lang="en-US" altLang="zh-CN" b="1" dirty="0" smtClean="0"/>
          </a:p>
          <a:p>
            <a:pPr lvl="0">
              <a:buNone/>
            </a:pPr>
            <a:endParaRPr lang="en-US" altLang="zh-CN" b="1" dirty="0" smtClean="0"/>
          </a:p>
          <a:p>
            <a:pPr lvl="0">
              <a:buNone/>
            </a:pPr>
            <a:r>
              <a:rPr lang="zh-CN" altLang="en-US" b="1" dirty="0" smtClean="0"/>
              <a:t>按语：以中指或食指揉之，称揉乳旁</a:t>
            </a: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2</a:t>
            </a:r>
            <a:r>
              <a:rPr lang="zh-CN" altLang="en-US" b="1" dirty="0" smtClean="0"/>
              <a:t>腹</a:t>
            </a:r>
            <a:r>
              <a:rPr lang="en-US" altLang="zh-CN" b="1" dirty="0" smtClean="0"/>
              <a:t>---</a:t>
            </a:r>
            <a:r>
              <a:rPr lang="zh-CN" altLang="en-US" b="1" dirty="0" smtClean="0"/>
              <a:t>腹部</a:t>
            </a:r>
            <a:endParaRPr lang="en-US" altLang="zh-CN" b="1" dirty="0" smtClean="0"/>
          </a:p>
          <a:p>
            <a:pPr lvl="0">
              <a:buNone/>
            </a:pPr>
            <a:endParaRPr lang="en-US" altLang="zh-CN" b="1" dirty="0" smtClean="0"/>
          </a:p>
          <a:p>
            <a:pPr lvl="0">
              <a:buNone/>
            </a:pPr>
            <a:r>
              <a:rPr lang="zh-CN" altLang="en-US" b="1" dirty="0" smtClean="0"/>
              <a:t>主治：腹痛，呕吐，泄泻，便秘，消化不良</a:t>
            </a:r>
            <a:endParaRPr lang="en-US" altLang="zh-CN" b="1" dirty="0" smtClean="0"/>
          </a:p>
          <a:p>
            <a:pPr lvl="0">
              <a:buNone/>
            </a:pPr>
            <a:endParaRPr lang="en-US" altLang="zh-CN" b="1" dirty="0" smtClean="0"/>
          </a:p>
          <a:p>
            <a:pPr lvl="0">
              <a:buNone/>
            </a:pPr>
            <a:r>
              <a:rPr lang="zh-CN" altLang="en-US" b="1" dirty="0" smtClean="0"/>
              <a:t>按语：用掌心或四指指腹做顺或逆时针方向抚摸，称摩腹</a:t>
            </a:r>
            <a:endParaRPr lang="en-US" altLang="zh-CN" b="1" dirty="0" smtClean="0"/>
          </a:p>
          <a:p>
            <a:pPr lvl="0">
              <a:buNone/>
            </a:pPr>
            <a:endParaRPr lang="en-US" altLang="zh-CN" b="1" dirty="0" smtClean="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332.jpg"/>
          <p:cNvPicPr>
            <a:picLocks noGrp="1" noChangeAspect="1"/>
          </p:cNvPicPr>
          <p:nvPr>
            <p:ph idx="1"/>
          </p:nvPr>
        </p:nvPicPr>
        <p:blipFill>
          <a:blip r:embed="rId2" cstate="print"/>
          <a:stretch>
            <a:fillRect/>
          </a:stretch>
        </p:blipFill>
        <p:spPr>
          <a:xfrm>
            <a:off x="440267" y="1600200"/>
            <a:ext cx="7857066" cy="441960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3</a:t>
            </a:r>
            <a:r>
              <a:rPr lang="zh-CN" altLang="en-US" b="1" dirty="0" smtClean="0"/>
              <a:t>腹阴阳</a:t>
            </a:r>
            <a:r>
              <a:rPr lang="en-US" altLang="zh-CN" b="1" dirty="0" smtClean="0"/>
              <a:t>---</a:t>
            </a:r>
            <a:r>
              <a:rPr lang="zh-CN" altLang="en-US" b="1" dirty="0" smtClean="0"/>
              <a:t>自中脘穴向两胁下软肉处，呈一条直线</a:t>
            </a:r>
            <a:endParaRPr lang="en-US" altLang="zh-CN" b="1" dirty="0" smtClean="0"/>
          </a:p>
          <a:p>
            <a:pPr lvl="0">
              <a:buNone/>
            </a:pPr>
            <a:endParaRPr lang="en-US" altLang="zh-CN" b="1" dirty="0" smtClean="0"/>
          </a:p>
          <a:p>
            <a:pPr lvl="0">
              <a:buNone/>
            </a:pPr>
            <a:r>
              <a:rPr lang="zh-CN" altLang="en-US" b="1" dirty="0" smtClean="0"/>
              <a:t>主治：乳食停滞，呕吐，腹胀，消化不良</a:t>
            </a:r>
            <a:endParaRPr lang="en-US" altLang="zh-CN" b="1" dirty="0" smtClean="0"/>
          </a:p>
          <a:p>
            <a:pPr lvl="0">
              <a:buNone/>
            </a:pPr>
            <a:endParaRPr lang="en-US" altLang="zh-CN" b="1" dirty="0" smtClean="0"/>
          </a:p>
          <a:p>
            <a:pPr lvl="0">
              <a:buNone/>
            </a:pPr>
            <a:r>
              <a:rPr lang="zh-CN" altLang="en-US" b="1" dirty="0" smtClean="0"/>
              <a:t>按语：用拇指指腹自中脘同时斜下向两旁分推</a:t>
            </a:r>
            <a:endParaRPr lang="en-US" altLang="zh-CN" b="1" dirty="0" smtClean="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345.jpg"/>
          <p:cNvPicPr>
            <a:picLocks noGrp="1" noChangeAspect="1"/>
          </p:cNvPicPr>
          <p:nvPr>
            <p:ph idx="1"/>
          </p:nvPr>
        </p:nvPicPr>
        <p:blipFill>
          <a:blip r:embed="rId2" cstate="print"/>
          <a:stretch>
            <a:fillRect/>
          </a:stretch>
        </p:blipFill>
        <p:spPr>
          <a:xfrm>
            <a:off x="482600" y="1295400"/>
            <a:ext cx="8128000" cy="45720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4</a:t>
            </a:r>
            <a:r>
              <a:rPr lang="zh-CN" altLang="en-US" b="1" dirty="0" smtClean="0"/>
              <a:t>脐</a:t>
            </a:r>
            <a:r>
              <a:rPr lang="en-US" altLang="zh-CN" b="1" dirty="0" smtClean="0"/>
              <a:t>---</a:t>
            </a:r>
            <a:r>
              <a:rPr lang="zh-CN" altLang="en-US" b="1" dirty="0" smtClean="0"/>
              <a:t>肚脐正中</a:t>
            </a:r>
            <a:endParaRPr lang="en-US" altLang="zh-CN" b="1" dirty="0" smtClean="0"/>
          </a:p>
          <a:p>
            <a:pPr lvl="0">
              <a:buNone/>
            </a:pPr>
            <a:endParaRPr lang="en-US" altLang="zh-CN" b="1" dirty="0" smtClean="0"/>
          </a:p>
          <a:p>
            <a:pPr lvl="0">
              <a:buNone/>
            </a:pPr>
            <a:r>
              <a:rPr lang="zh-CN" altLang="en-US" b="1" dirty="0" smtClean="0"/>
              <a:t>主治：泄泻，呕吐，腹胀，腹痛，消化不良，便结，肠鸣等</a:t>
            </a:r>
            <a:endParaRPr lang="en-US" altLang="zh-CN" b="1" dirty="0" smtClean="0"/>
          </a:p>
          <a:p>
            <a:pPr lvl="0">
              <a:buNone/>
            </a:pPr>
            <a:endParaRPr lang="en-US" altLang="zh-CN" b="1" dirty="0" smtClean="0"/>
          </a:p>
          <a:p>
            <a:pPr lvl="0">
              <a:buNone/>
            </a:pPr>
            <a:r>
              <a:rPr lang="zh-CN" altLang="en-US" b="1" dirty="0" smtClean="0"/>
              <a:t>按语：以掌中在脐中揉之，称揉脐。逆为补顺为泻</a:t>
            </a:r>
            <a:endParaRPr lang="en-US" altLang="zh-CN" b="1" dirty="0" smtClean="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5</a:t>
            </a:r>
            <a:r>
              <a:rPr lang="zh-CN" altLang="en-US" b="1" dirty="0" smtClean="0"/>
              <a:t>丹田</a:t>
            </a:r>
            <a:r>
              <a:rPr lang="en-US" altLang="zh-CN" b="1" dirty="0" smtClean="0"/>
              <a:t>---</a:t>
            </a:r>
            <a:r>
              <a:rPr lang="zh-CN" altLang="en-US" b="1" dirty="0" smtClean="0"/>
              <a:t>小腹部</a:t>
            </a:r>
            <a:endParaRPr lang="en-US" altLang="zh-CN" b="1" dirty="0" smtClean="0"/>
          </a:p>
          <a:p>
            <a:pPr lvl="0">
              <a:buNone/>
            </a:pPr>
            <a:endParaRPr lang="en-US" altLang="zh-CN" b="1" dirty="0" smtClean="0"/>
          </a:p>
          <a:p>
            <a:pPr lvl="0">
              <a:buNone/>
            </a:pPr>
            <a:r>
              <a:rPr lang="zh-CN" altLang="en-US" b="1" dirty="0" smtClean="0"/>
              <a:t>主治</a:t>
            </a:r>
            <a:r>
              <a:rPr lang="en-US" altLang="zh-CN" b="1" dirty="0" smtClean="0"/>
              <a:t>:</a:t>
            </a:r>
            <a:r>
              <a:rPr lang="zh-CN" altLang="en-US" b="1" dirty="0" smtClean="0"/>
              <a:t>小腹胀痛，疝气，遗尿，小便短赤，尿潴留或尿闭</a:t>
            </a:r>
            <a:endParaRPr lang="en-US" altLang="zh-CN" b="1" dirty="0" smtClean="0"/>
          </a:p>
          <a:p>
            <a:pPr lvl="0">
              <a:buNone/>
            </a:pPr>
            <a:endParaRPr lang="en-US" altLang="zh-CN" b="1" dirty="0" smtClean="0"/>
          </a:p>
          <a:p>
            <a:pPr lvl="0">
              <a:buNone/>
            </a:pPr>
            <a:r>
              <a:rPr lang="zh-CN" altLang="en-US" b="1" dirty="0" smtClean="0"/>
              <a:t>按语：以拇指指面或掌心自脐向下直推，称推丹田</a:t>
            </a:r>
            <a:endParaRPr lang="en-US" altLang="zh-CN" b="1" dirty="0" smtClean="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6</a:t>
            </a:r>
            <a:r>
              <a:rPr lang="zh-CN" altLang="en-US" b="1" dirty="0" smtClean="0"/>
              <a:t>肚角</a:t>
            </a:r>
            <a:r>
              <a:rPr lang="en-US" altLang="zh-CN" b="1" dirty="0" smtClean="0"/>
              <a:t>---</a:t>
            </a:r>
            <a:r>
              <a:rPr lang="zh-CN" altLang="en-US" b="1" dirty="0" smtClean="0"/>
              <a:t>脐旁，腹部两侧的肚筋</a:t>
            </a:r>
            <a:endParaRPr lang="en-US" altLang="zh-CN" b="1" dirty="0" smtClean="0"/>
          </a:p>
          <a:p>
            <a:pPr lvl="0">
              <a:buNone/>
            </a:pPr>
            <a:endParaRPr lang="en-US" altLang="zh-CN" b="1" dirty="0" smtClean="0"/>
          </a:p>
          <a:p>
            <a:pPr lvl="0">
              <a:buNone/>
            </a:pPr>
            <a:r>
              <a:rPr lang="zh-CN" altLang="en-US" b="1" dirty="0" smtClean="0"/>
              <a:t>主治：腹痛，腹胀，泻痢</a:t>
            </a:r>
            <a:endParaRPr lang="en-US" altLang="zh-CN" b="1" dirty="0" smtClean="0"/>
          </a:p>
          <a:p>
            <a:pPr lvl="0">
              <a:buNone/>
            </a:pPr>
            <a:endParaRPr lang="en-US" altLang="zh-CN" b="1" dirty="0" smtClean="0"/>
          </a:p>
          <a:p>
            <a:pPr lvl="0">
              <a:buNone/>
            </a:pPr>
            <a:r>
              <a:rPr lang="zh-CN" altLang="en-US" b="1" dirty="0" smtClean="0"/>
              <a:t>按语：用拇指 食指 中指自深处拿住壮筋弹之称拿肚角 操作</a:t>
            </a:r>
            <a:r>
              <a:rPr lang="en-US" altLang="zh-CN" b="1" dirty="0" smtClean="0"/>
              <a:t>1---3</a:t>
            </a:r>
            <a:r>
              <a:rPr lang="zh-CN" altLang="en-US" b="1" dirty="0" smtClean="0"/>
              <a:t>次</a:t>
            </a:r>
            <a:endParaRPr lang="en-US" altLang="zh-CN" b="1" dirty="0" smtClean="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400.jpg"/>
          <p:cNvPicPr>
            <a:picLocks noGrp="1" noChangeAspect="1"/>
          </p:cNvPicPr>
          <p:nvPr>
            <p:ph idx="1"/>
          </p:nvPr>
        </p:nvPicPr>
        <p:blipFill>
          <a:blip r:embed="rId2" cstate="print"/>
          <a:stretch>
            <a:fillRect/>
          </a:stretch>
        </p:blipFill>
        <p:spPr>
          <a:xfrm>
            <a:off x="584200" y="1352550"/>
            <a:ext cx="8026400" cy="4514850"/>
          </a:xfr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7</a:t>
            </a:r>
            <a:r>
              <a:rPr lang="zh-CN" altLang="en-US" b="1" dirty="0" smtClean="0"/>
              <a:t>天柱骨</a:t>
            </a:r>
            <a:r>
              <a:rPr lang="en-US" altLang="zh-CN" b="1" dirty="0" smtClean="0"/>
              <a:t>---</a:t>
            </a:r>
            <a:r>
              <a:rPr lang="zh-CN" altLang="en-US" b="1" dirty="0" smtClean="0"/>
              <a:t>项后枕骨下，后发际正中至大椎穴成一条直线</a:t>
            </a:r>
            <a:endParaRPr lang="en-US" altLang="zh-CN" b="1" dirty="0" smtClean="0"/>
          </a:p>
          <a:p>
            <a:pPr lvl="0">
              <a:buNone/>
            </a:pPr>
            <a:endParaRPr lang="en-US" altLang="zh-CN" b="1" dirty="0" smtClean="0"/>
          </a:p>
          <a:p>
            <a:pPr lvl="0">
              <a:buNone/>
            </a:pPr>
            <a:r>
              <a:rPr lang="zh-CN" altLang="en-US" b="1" dirty="0" smtClean="0"/>
              <a:t>主治：呕吐 恶心 项强  咽痛 发热</a:t>
            </a:r>
            <a:endParaRPr lang="en-US" altLang="zh-CN" b="1" dirty="0" smtClean="0"/>
          </a:p>
          <a:p>
            <a:pPr lvl="0">
              <a:buNone/>
            </a:pPr>
            <a:endParaRPr lang="en-US" altLang="zh-CN" b="1" dirty="0" smtClean="0"/>
          </a:p>
          <a:p>
            <a:pPr lvl="0">
              <a:buNone/>
            </a:pPr>
            <a:r>
              <a:rPr lang="zh-CN" altLang="en-US" b="1" dirty="0" smtClean="0"/>
              <a:t>按语：用拇指或食中指自上向下直推，称推天柱骨，也可用汤匙蘸姜汁或清水刮至局部皮下呈红色，可治暑热发痧等</a:t>
            </a:r>
            <a:endParaRPr lang="en-US" altLang="zh-CN" b="1" dirty="0"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418.jpg"/>
          <p:cNvPicPr>
            <a:picLocks noGrp="1" noChangeAspect="1"/>
          </p:cNvPicPr>
          <p:nvPr>
            <p:ph idx="1"/>
          </p:nvPr>
        </p:nvPicPr>
        <p:blipFill>
          <a:blip r:embed="rId2" cstate="print"/>
          <a:stretch>
            <a:fillRect/>
          </a:stretch>
        </p:blipFill>
        <p:spPr>
          <a:xfrm>
            <a:off x="270933" y="1352550"/>
            <a:ext cx="8568267" cy="481965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8</a:t>
            </a:r>
            <a:r>
              <a:rPr lang="zh-CN" altLang="en-US" b="1" dirty="0" smtClean="0"/>
              <a:t>七节骨</a:t>
            </a:r>
            <a:r>
              <a:rPr lang="en-US" altLang="zh-CN" b="1" dirty="0" smtClean="0"/>
              <a:t>---</a:t>
            </a:r>
            <a:r>
              <a:rPr lang="zh-CN" altLang="en-US" b="1" dirty="0" smtClean="0"/>
              <a:t>从尾骨端至第</a:t>
            </a:r>
            <a:r>
              <a:rPr lang="en-US" altLang="zh-CN" b="1" dirty="0" smtClean="0"/>
              <a:t>4</a:t>
            </a:r>
            <a:r>
              <a:rPr lang="zh-CN" altLang="en-US" b="1" dirty="0" smtClean="0"/>
              <a:t>腰椎棘突成一直线</a:t>
            </a:r>
            <a:endParaRPr lang="en-US" altLang="zh-CN" b="1" dirty="0" smtClean="0"/>
          </a:p>
          <a:p>
            <a:pPr lvl="0">
              <a:buNone/>
            </a:pPr>
            <a:endParaRPr lang="en-US" altLang="zh-CN" b="1" dirty="0" smtClean="0"/>
          </a:p>
          <a:p>
            <a:pPr lvl="0">
              <a:buNone/>
            </a:pPr>
            <a:r>
              <a:rPr lang="zh-CN" altLang="en-US" b="1" dirty="0" smtClean="0"/>
              <a:t>主治：泄泻 脱肛  便秘  腹胀等</a:t>
            </a:r>
            <a:endParaRPr lang="en-US" altLang="zh-CN" b="1" dirty="0" smtClean="0"/>
          </a:p>
          <a:p>
            <a:pPr lvl="0">
              <a:buNone/>
            </a:pPr>
            <a:endParaRPr lang="en-US" altLang="zh-CN" b="1" dirty="0" smtClean="0"/>
          </a:p>
          <a:p>
            <a:pPr lvl="0">
              <a:buNone/>
            </a:pPr>
            <a:r>
              <a:rPr lang="zh-CN" altLang="en-US" b="1" dirty="0" smtClean="0"/>
              <a:t>按语：自下向上推称推上七节骨，用于虚寒腹泻 久痢 脱肛 ，向下推称为推下七节骨，用于肠热便秘</a:t>
            </a:r>
            <a:endParaRPr lang="en-US" altLang="zh-CN" b="1" dirty="0" smtClean="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435.jpg"/>
          <p:cNvPicPr>
            <a:picLocks noGrp="1" noChangeAspect="1"/>
          </p:cNvPicPr>
          <p:nvPr>
            <p:ph idx="1"/>
          </p:nvPr>
        </p:nvPicPr>
        <p:blipFill>
          <a:blip r:embed="rId2" cstate="print"/>
          <a:stretch>
            <a:fillRect/>
          </a:stretch>
        </p:blipFill>
        <p:spPr>
          <a:xfrm>
            <a:off x="245533" y="990600"/>
            <a:ext cx="8669867" cy="4876800"/>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9</a:t>
            </a:r>
            <a:r>
              <a:rPr lang="zh-CN" altLang="en-US" b="1" dirty="0" smtClean="0"/>
              <a:t>龟尾</a:t>
            </a:r>
            <a:r>
              <a:rPr lang="en-US" altLang="zh-CN" b="1" dirty="0" smtClean="0"/>
              <a:t>---</a:t>
            </a:r>
            <a:r>
              <a:rPr lang="zh-CN" altLang="en-US" b="1" dirty="0" smtClean="0"/>
              <a:t>尾椎骨端</a:t>
            </a:r>
            <a:endParaRPr lang="en-US" altLang="zh-CN" b="1" dirty="0" smtClean="0"/>
          </a:p>
          <a:p>
            <a:pPr lvl="0">
              <a:buNone/>
            </a:pPr>
            <a:endParaRPr lang="en-US" altLang="zh-CN" b="1" dirty="0" smtClean="0"/>
          </a:p>
          <a:p>
            <a:pPr lvl="0">
              <a:buNone/>
            </a:pPr>
            <a:r>
              <a:rPr lang="zh-CN" altLang="en-US" b="1" dirty="0" smtClean="0"/>
              <a:t>主治：泄泻 脱肛 便秘</a:t>
            </a:r>
            <a:endParaRPr lang="en-US" altLang="zh-CN" b="1" dirty="0" smtClean="0"/>
          </a:p>
          <a:p>
            <a:pPr lvl="0">
              <a:buNone/>
            </a:pPr>
            <a:endParaRPr lang="en-US" altLang="zh-CN" b="1" dirty="0" smtClean="0"/>
          </a:p>
          <a:p>
            <a:pPr lvl="0">
              <a:buNone/>
            </a:pPr>
            <a:r>
              <a:rPr lang="zh-CN" altLang="en-US" b="1" dirty="0" smtClean="0"/>
              <a:t>按语：常用揉法，称揉龟尾</a:t>
            </a:r>
            <a:endParaRPr lang="en-US" altLang="zh-CN" b="1" dirty="0" smtClean="0"/>
          </a:p>
          <a:p>
            <a:pPr lvl="0">
              <a:buNone/>
            </a:pPr>
            <a:endParaRPr lang="en-US" altLang="zh-CN" b="1" dirty="0" smtClean="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10</a:t>
            </a:r>
            <a:r>
              <a:rPr lang="zh-CN" altLang="en-US" b="1" dirty="0" smtClean="0"/>
              <a:t>脊</a:t>
            </a:r>
            <a:r>
              <a:rPr lang="en-US" altLang="zh-CN" b="1" dirty="0" smtClean="0"/>
              <a:t>---</a:t>
            </a:r>
            <a:r>
              <a:rPr lang="zh-CN" altLang="en-US" b="1" dirty="0" smtClean="0"/>
              <a:t>从大椎直下到尾骨端成一条直线</a:t>
            </a:r>
            <a:endParaRPr lang="en-US" altLang="zh-CN" b="1" dirty="0" smtClean="0"/>
          </a:p>
          <a:p>
            <a:pPr lvl="0">
              <a:buNone/>
            </a:pPr>
            <a:endParaRPr lang="en-US" altLang="zh-CN" b="1" dirty="0" smtClean="0"/>
          </a:p>
          <a:p>
            <a:pPr lvl="0">
              <a:buNone/>
            </a:pPr>
            <a:r>
              <a:rPr lang="zh-CN" altLang="en-US" b="1" dirty="0" smtClean="0"/>
              <a:t>主治：发热 惊风 呕吐 腹泻 便秘 疳积  慢性虚损性疾病</a:t>
            </a:r>
            <a:endParaRPr lang="en-US" altLang="zh-CN" b="1" dirty="0" smtClean="0"/>
          </a:p>
          <a:p>
            <a:pPr lvl="0">
              <a:buNone/>
            </a:pPr>
            <a:endParaRPr lang="en-US" altLang="zh-CN" b="1" dirty="0" smtClean="0"/>
          </a:p>
          <a:p>
            <a:pPr lvl="0">
              <a:buNone/>
            </a:pPr>
            <a:r>
              <a:rPr lang="zh-CN" altLang="en-US" b="1" dirty="0" smtClean="0"/>
              <a:t>按语：用双手自尾椎向上捏至大椎，</a:t>
            </a:r>
            <a:r>
              <a:rPr lang="en-US" altLang="zh-CN" b="1" dirty="0" smtClean="0"/>
              <a:t>3-5</a:t>
            </a:r>
            <a:r>
              <a:rPr lang="zh-CN" altLang="en-US" b="1" dirty="0" smtClean="0"/>
              <a:t>遍，称捏脊，每捏三下向上提一下，称为捏三提一，自上向下推 称为推脊</a:t>
            </a:r>
            <a:endParaRPr lang="en-US" altLang="zh-CN" b="1" dirty="0" smtClean="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11</a:t>
            </a:r>
            <a:r>
              <a:rPr lang="zh-CN" altLang="en-US" b="1" dirty="0" smtClean="0"/>
              <a:t>天突</a:t>
            </a:r>
            <a:r>
              <a:rPr lang="en-US" altLang="zh-CN" b="1" dirty="0" smtClean="0"/>
              <a:t>---</a:t>
            </a:r>
            <a:r>
              <a:rPr lang="zh-CN" altLang="en-US" b="1" dirty="0" smtClean="0"/>
              <a:t>两锁骨之间凹陷</a:t>
            </a:r>
            <a:endParaRPr lang="en-US" altLang="zh-CN" b="1" dirty="0" smtClean="0"/>
          </a:p>
          <a:p>
            <a:pPr lvl="0">
              <a:buNone/>
            </a:pPr>
            <a:endParaRPr lang="en-US" altLang="zh-CN" b="1" dirty="0" smtClean="0"/>
          </a:p>
          <a:p>
            <a:pPr lvl="0">
              <a:buNone/>
            </a:pPr>
            <a:r>
              <a:rPr lang="zh-CN" altLang="en-US" b="1" dirty="0" smtClean="0"/>
              <a:t>主治：痰壅气急，咳喘胸闷，恶心呕吐，咽喉肿痛</a:t>
            </a:r>
            <a:endParaRPr lang="en-US" altLang="zh-CN" b="1" dirty="0" smtClean="0"/>
          </a:p>
          <a:p>
            <a:pPr lvl="0">
              <a:buNone/>
            </a:pPr>
            <a:endParaRPr lang="en-US" altLang="zh-CN" b="1" dirty="0" smtClean="0"/>
          </a:p>
          <a:p>
            <a:pPr lvl="0">
              <a:buNone/>
            </a:pPr>
            <a:r>
              <a:rPr lang="zh-CN" altLang="en-US" b="1" dirty="0" smtClean="0"/>
              <a:t>按语</a:t>
            </a:r>
            <a:r>
              <a:rPr lang="en-US" altLang="zh-CN" b="1" dirty="0" smtClean="0"/>
              <a:t>;</a:t>
            </a:r>
            <a:r>
              <a:rPr lang="zh-CN" altLang="en-US" b="1" dirty="0" smtClean="0"/>
              <a:t>用两手拇指食指捏挤</a:t>
            </a:r>
            <a:endParaRPr lang="en-US" altLang="zh-CN" b="1" dirty="0" smtClean="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456.jpg"/>
          <p:cNvPicPr>
            <a:picLocks noGrp="1" noChangeAspect="1"/>
          </p:cNvPicPr>
          <p:nvPr>
            <p:ph idx="1"/>
          </p:nvPr>
        </p:nvPicPr>
        <p:blipFill>
          <a:blip r:embed="rId2" cstate="print"/>
          <a:stretch>
            <a:fillRect/>
          </a:stretch>
        </p:blipFill>
        <p:spPr>
          <a:xfrm>
            <a:off x="304800" y="1066800"/>
            <a:ext cx="8534400" cy="480060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12</a:t>
            </a:r>
            <a:r>
              <a:rPr lang="zh-CN" altLang="en-US" b="1" dirty="0" smtClean="0"/>
              <a:t>膻中</a:t>
            </a:r>
            <a:r>
              <a:rPr lang="en-US" altLang="zh-CN" b="1" dirty="0" smtClean="0"/>
              <a:t>---</a:t>
            </a:r>
            <a:r>
              <a:rPr lang="zh-CN" altLang="en-US" b="1" dirty="0" smtClean="0"/>
              <a:t>两乳头连线中点</a:t>
            </a:r>
            <a:endParaRPr lang="en-US" altLang="zh-CN" b="1" dirty="0" smtClean="0"/>
          </a:p>
          <a:p>
            <a:pPr lvl="0">
              <a:buNone/>
            </a:pPr>
            <a:endParaRPr lang="en-US" altLang="zh-CN" b="1" dirty="0" smtClean="0"/>
          </a:p>
          <a:p>
            <a:pPr lvl="0">
              <a:buNone/>
            </a:pPr>
            <a:r>
              <a:rPr lang="zh-CN" altLang="en-US" b="1" dirty="0" smtClean="0"/>
              <a:t>主治：胸闷 咳喘 胸痛  胸痛 呕吐  嗳气  痰鸣</a:t>
            </a:r>
            <a:endParaRPr lang="en-US" altLang="zh-CN" b="1" dirty="0" smtClean="0"/>
          </a:p>
          <a:p>
            <a:pPr lvl="0">
              <a:buNone/>
            </a:pPr>
            <a:endParaRPr lang="en-US" altLang="zh-CN" b="1" dirty="0" smtClean="0"/>
          </a:p>
          <a:p>
            <a:pPr lvl="0">
              <a:buNone/>
            </a:pPr>
            <a:r>
              <a:rPr lang="zh-CN" altLang="en-US" b="1" dirty="0" smtClean="0"/>
              <a:t>按语：中指揉按或用两拇指桡侧自本穴分推至乳头，称为分推膻中</a:t>
            </a:r>
            <a:endParaRPr lang="en-US" altLang="zh-CN" b="1" dirty="0" smtClean="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527.jpg"/>
          <p:cNvPicPr>
            <a:picLocks noGrp="1" noChangeAspect="1"/>
          </p:cNvPicPr>
          <p:nvPr>
            <p:ph idx="1"/>
          </p:nvPr>
        </p:nvPicPr>
        <p:blipFill>
          <a:blip r:embed="rId2" cstate="print"/>
          <a:stretch>
            <a:fillRect/>
          </a:stretch>
        </p:blipFill>
        <p:spPr>
          <a:xfrm>
            <a:off x="482600" y="1295400"/>
            <a:ext cx="8128000" cy="4572000"/>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13</a:t>
            </a:r>
            <a:r>
              <a:rPr lang="zh-CN" altLang="en-US" b="1" dirty="0" smtClean="0"/>
              <a:t>胁肋</a:t>
            </a:r>
            <a:r>
              <a:rPr lang="en-US" altLang="zh-CN" b="1" dirty="0" smtClean="0"/>
              <a:t>---</a:t>
            </a:r>
            <a:r>
              <a:rPr lang="zh-CN" altLang="en-US" b="1" dirty="0" smtClean="0"/>
              <a:t>在两胁，从腋下至腰际</a:t>
            </a:r>
            <a:endParaRPr lang="en-US" altLang="zh-CN" b="1" dirty="0" smtClean="0"/>
          </a:p>
          <a:p>
            <a:pPr lvl="0">
              <a:buNone/>
            </a:pPr>
            <a:endParaRPr lang="en-US" altLang="zh-CN" b="1" dirty="0" smtClean="0"/>
          </a:p>
          <a:p>
            <a:pPr lvl="0">
              <a:buNone/>
            </a:pPr>
            <a:r>
              <a:rPr lang="zh-CN" altLang="en-US" b="1" dirty="0" smtClean="0"/>
              <a:t>主治：胸闷 胁痛 疳积 腹胀 气急</a:t>
            </a:r>
            <a:endParaRPr lang="en-US" altLang="zh-CN" b="1" dirty="0" smtClean="0"/>
          </a:p>
          <a:p>
            <a:pPr lvl="0">
              <a:buNone/>
            </a:pPr>
            <a:endParaRPr lang="en-US" altLang="zh-CN" b="1" dirty="0" smtClean="0"/>
          </a:p>
          <a:p>
            <a:pPr lvl="0">
              <a:buNone/>
            </a:pPr>
            <a:r>
              <a:rPr lang="zh-CN" altLang="en-US" b="1" dirty="0" smtClean="0"/>
              <a:t>按语：患儿两手抬起，用两手掌从患儿两腋下开始搓摩至髂缘上</a:t>
            </a:r>
            <a:endParaRPr lang="en-US" altLang="zh-CN" b="1" dirty="0" smtClean="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14</a:t>
            </a:r>
            <a:r>
              <a:rPr lang="zh-CN" altLang="en-US" b="1" dirty="0" smtClean="0"/>
              <a:t>中脘</a:t>
            </a:r>
            <a:endParaRPr lang="en-US" altLang="zh-CN" b="1" dirty="0" smtClean="0"/>
          </a:p>
          <a:p>
            <a:pPr lvl="0">
              <a:buNone/>
            </a:pPr>
            <a:r>
              <a:rPr lang="zh-CN" altLang="en-US" b="1" dirty="0" smtClean="0"/>
              <a:t>主治：呕吐 泄泻 食积 厌食 腹痛 腹胀 胃脘痛</a:t>
            </a:r>
            <a:endParaRPr lang="en-US" altLang="zh-CN" b="1" dirty="0" smtClean="0"/>
          </a:p>
          <a:p>
            <a:pPr lvl="0">
              <a:buNone/>
            </a:pPr>
            <a:r>
              <a:rPr lang="zh-CN" altLang="en-US" b="1" dirty="0" smtClean="0"/>
              <a:t>按语：四指或掌根揉</a:t>
            </a:r>
            <a:endParaRPr lang="en-US" altLang="zh-CN" b="1" dirty="0" smtClean="0"/>
          </a:p>
          <a:p>
            <a:pPr lvl="0">
              <a:buNone/>
            </a:pPr>
            <a:endParaRPr lang="en-US" altLang="zh-CN" b="1" dirty="0" smtClean="0"/>
          </a:p>
          <a:p>
            <a:pPr lvl="0">
              <a:buNone/>
            </a:pPr>
            <a:r>
              <a:rPr lang="en-US" altLang="zh-CN" b="1" dirty="0" smtClean="0"/>
              <a:t>15</a:t>
            </a:r>
            <a:r>
              <a:rPr lang="zh-CN" altLang="en-US" b="1" dirty="0" smtClean="0"/>
              <a:t>天枢</a:t>
            </a:r>
            <a:endParaRPr lang="en-US" altLang="zh-CN" b="1" dirty="0" smtClean="0"/>
          </a:p>
          <a:p>
            <a:pPr lvl="0">
              <a:buNone/>
            </a:pPr>
            <a:r>
              <a:rPr lang="zh-CN" altLang="en-US" b="1" dirty="0" smtClean="0"/>
              <a:t>主治：腹泻 腹胀 便秘食积</a:t>
            </a:r>
            <a:endParaRPr lang="en-US" altLang="zh-CN" b="1" dirty="0" smtClean="0"/>
          </a:p>
          <a:p>
            <a:pPr lvl="0">
              <a:buNone/>
            </a:pPr>
            <a:r>
              <a:rPr lang="zh-CN" altLang="en-US" b="1" smtClean="0"/>
              <a:t>按语：揉按</a:t>
            </a:r>
            <a:endParaRPr lang="en-US" altLang="zh-CN" b="1" dirty="0" smtClean="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26_205540.jpg"/>
          <p:cNvPicPr>
            <a:picLocks noGrp="1" noChangeAspect="1"/>
          </p:cNvPicPr>
          <p:nvPr>
            <p:ph idx="1"/>
          </p:nvPr>
        </p:nvPicPr>
        <p:blipFill>
          <a:blip r:embed="rId2" cstate="print"/>
          <a:stretch>
            <a:fillRect/>
          </a:stretch>
        </p:blipFill>
        <p:spPr>
          <a:xfrm>
            <a:off x="381000" y="1066800"/>
            <a:ext cx="8534400" cy="4800600"/>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16</a:t>
            </a:r>
            <a:r>
              <a:rPr lang="zh-CN" altLang="en-US" b="1" dirty="0" smtClean="0"/>
              <a:t>肺腧</a:t>
            </a:r>
            <a:endParaRPr lang="en-US" altLang="zh-CN" b="1" dirty="0" smtClean="0"/>
          </a:p>
          <a:p>
            <a:pPr lvl="0">
              <a:buNone/>
            </a:pPr>
            <a:endParaRPr lang="en-US" altLang="zh-CN" b="1" dirty="0" smtClean="0"/>
          </a:p>
          <a:p>
            <a:pPr lvl="0">
              <a:buNone/>
            </a:pPr>
            <a:r>
              <a:rPr lang="zh-CN" altLang="en-US" b="1" dirty="0" smtClean="0"/>
              <a:t>主治：咳嗽  胸闷 痰鸣 感冒 发热</a:t>
            </a:r>
            <a:endParaRPr lang="en-US" altLang="zh-CN" b="1" dirty="0" smtClean="0"/>
          </a:p>
          <a:p>
            <a:pPr lvl="0">
              <a:buNone/>
            </a:pPr>
            <a:endParaRPr lang="en-US" altLang="zh-CN" b="1" dirty="0" smtClean="0"/>
          </a:p>
          <a:p>
            <a:pPr lvl="0">
              <a:buNone/>
            </a:pPr>
            <a:r>
              <a:rPr lang="zh-CN" altLang="en-US" b="1" dirty="0" smtClean="0"/>
              <a:t>按语：按揉肺腧  或分别沿肩胛骨內缘自上而下做八字推动，称推肺腧或分推肩胛骨</a:t>
            </a:r>
            <a:endParaRPr lang="en-US" altLang="zh-CN" b="1" dirty="0" smtClean="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 name="内容占位符 3" descr="20151126_205600.jpg"/>
          <p:cNvPicPr>
            <a:picLocks noGrp="1" noChangeAspect="1"/>
          </p:cNvPicPr>
          <p:nvPr>
            <p:ph idx="1"/>
          </p:nvPr>
        </p:nvPicPr>
        <p:blipFill>
          <a:blip r:embed="rId2" cstate="print"/>
          <a:stretch>
            <a:fillRect/>
          </a:stretch>
        </p:blipFill>
        <p:spPr>
          <a:xfrm>
            <a:off x="364067" y="1143000"/>
            <a:ext cx="8398933" cy="47244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 name="内容占位符 3" descr="20151126_205612.jpg"/>
          <p:cNvPicPr>
            <a:picLocks noGrp="1" noChangeAspect="1"/>
          </p:cNvPicPr>
          <p:nvPr>
            <p:ph idx="1"/>
          </p:nvPr>
        </p:nvPicPr>
        <p:blipFill>
          <a:blip r:embed="rId2" cstate="print"/>
          <a:stretch>
            <a:fillRect/>
          </a:stretch>
        </p:blipFill>
        <p:spPr>
          <a:xfrm>
            <a:off x="287867" y="1143000"/>
            <a:ext cx="8398933" cy="4724400"/>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17</a:t>
            </a:r>
            <a:r>
              <a:rPr lang="zh-CN" altLang="en-US" b="1" dirty="0" smtClean="0"/>
              <a:t>萁门</a:t>
            </a:r>
            <a:r>
              <a:rPr lang="en-US" altLang="zh-CN" b="1" dirty="0" smtClean="0"/>
              <a:t>---</a:t>
            </a:r>
            <a:r>
              <a:rPr lang="zh-CN" altLang="en-US" b="1" dirty="0" smtClean="0"/>
              <a:t>大腿内侧，髌骨内上缘至腹股沟成一条直线</a:t>
            </a:r>
            <a:endParaRPr lang="en-US" altLang="zh-CN" b="1" dirty="0" smtClean="0"/>
          </a:p>
          <a:p>
            <a:pPr lvl="0">
              <a:buNone/>
            </a:pPr>
            <a:endParaRPr lang="en-US" altLang="zh-CN" b="1" dirty="0" smtClean="0"/>
          </a:p>
          <a:p>
            <a:pPr lvl="0">
              <a:buNone/>
            </a:pPr>
            <a:r>
              <a:rPr lang="zh-CN" altLang="en-US" b="1" dirty="0" smtClean="0"/>
              <a:t>主治：小便不利 尿闭</a:t>
            </a:r>
            <a:endParaRPr lang="en-US" altLang="zh-CN" b="1" dirty="0" smtClean="0"/>
          </a:p>
          <a:p>
            <a:pPr lvl="0">
              <a:buNone/>
            </a:pPr>
            <a:endParaRPr lang="en-US" altLang="zh-CN" b="1" dirty="0" smtClean="0"/>
          </a:p>
          <a:p>
            <a:pPr lvl="0">
              <a:buNone/>
            </a:pPr>
            <a:r>
              <a:rPr lang="zh-CN" altLang="en-US" b="1" dirty="0" smtClean="0"/>
              <a:t>按语：食中二指指面，自膝内侧上缘直上，推 至腹股沟，称推萁门</a:t>
            </a:r>
            <a:endParaRPr lang="en-US" altLang="zh-CN" b="1" dirty="0" smtClean="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上肢部穴位</a:t>
            </a:r>
            <a:endParaRPr lang="en-US" altLang="zh-CN" b="1" dirty="0" smtClean="0"/>
          </a:p>
          <a:p>
            <a:pPr lvl="0">
              <a:buNone/>
            </a:pPr>
            <a:endParaRPr lang="en-US" altLang="zh-CN" b="1" dirty="0" smtClean="0"/>
          </a:p>
          <a:p>
            <a:pPr lvl="0">
              <a:buNone/>
            </a:pPr>
            <a:r>
              <a:rPr lang="en-US" altLang="zh-CN" b="1" dirty="0" smtClean="0"/>
              <a:t>1</a:t>
            </a:r>
            <a:r>
              <a:rPr lang="zh-CN" altLang="en-US" b="1" dirty="0" smtClean="0"/>
              <a:t>脾经</a:t>
            </a:r>
            <a:r>
              <a:rPr lang="en-US" altLang="zh-CN" b="1" dirty="0" smtClean="0"/>
              <a:t>---</a:t>
            </a:r>
            <a:r>
              <a:rPr lang="zh-CN" altLang="en-US" b="1" dirty="0" smtClean="0"/>
              <a:t>也称脾土，拇指桡侧自指尖至指根处或拇指末节螺纹面</a:t>
            </a:r>
            <a:endParaRPr lang="en-US" altLang="zh-CN" b="1" dirty="0" smtClean="0"/>
          </a:p>
          <a:p>
            <a:pPr lvl="0">
              <a:buNone/>
            </a:pPr>
            <a:endParaRPr lang="en-US" altLang="zh-CN" b="1" dirty="0" smtClean="0"/>
          </a:p>
          <a:p>
            <a:pPr lvl="0">
              <a:buNone/>
            </a:pPr>
            <a:r>
              <a:rPr lang="zh-CN" altLang="en-US" b="1" dirty="0" smtClean="0"/>
              <a:t>主治：消化不良 泄泻 呕吐 痢疾 疳积</a:t>
            </a:r>
            <a:endParaRPr lang="en-US" altLang="zh-CN" b="1" dirty="0" smtClean="0"/>
          </a:p>
          <a:p>
            <a:pPr lvl="0">
              <a:buNone/>
            </a:pPr>
            <a:endParaRPr lang="en-US" altLang="zh-CN" b="1" dirty="0" smtClean="0"/>
          </a:p>
          <a:p>
            <a:pPr lvl="0">
              <a:buNone/>
            </a:pPr>
            <a:r>
              <a:rPr lang="zh-CN" altLang="en-US" b="1" dirty="0" smtClean="0"/>
              <a:t>按语：用拇指螺纹面推  逆为补  顺为泄  来回推平补平泄</a:t>
            </a:r>
            <a:endParaRPr lang="en-US" altLang="zh-CN" b="1" dirty="0" smtClean="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2</a:t>
            </a:r>
            <a:r>
              <a:rPr lang="zh-CN" altLang="en-US" b="1" dirty="0" smtClean="0"/>
              <a:t>肝经</a:t>
            </a:r>
            <a:r>
              <a:rPr lang="en-US" altLang="zh-CN" b="1" dirty="0" smtClean="0"/>
              <a:t>---</a:t>
            </a:r>
            <a:r>
              <a:rPr lang="zh-CN" altLang="en-US" b="1" dirty="0" smtClean="0"/>
              <a:t>肝木 ，食指末节螺纹面</a:t>
            </a:r>
            <a:endParaRPr lang="en-US" altLang="zh-CN" b="1" dirty="0" smtClean="0"/>
          </a:p>
          <a:p>
            <a:pPr lvl="0">
              <a:buNone/>
            </a:pPr>
            <a:r>
              <a:rPr lang="zh-CN" altLang="en-US" b="1" dirty="0" smtClean="0"/>
              <a:t>主治：惊风抽搐  烦躁不安   目赤口苦  头晕头痛</a:t>
            </a:r>
            <a:endParaRPr lang="en-US" altLang="zh-CN" b="1" dirty="0" smtClean="0"/>
          </a:p>
          <a:p>
            <a:pPr lvl="0">
              <a:buNone/>
            </a:pPr>
            <a:endParaRPr lang="en-US" altLang="zh-CN" b="1" dirty="0" smtClean="0"/>
          </a:p>
          <a:p>
            <a:pPr lvl="0">
              <a:buNone/>
            </a:pPr>
            <a:r>
              <a:rPr lang="en-US" altLang="zh-CN" b="1" dirty="0" smtClean="0"/>
              <a:t>3</a:t>
            </a:r>
            <a:r>
              <a:rPr lang="zh-CN" altLang="en-US" b="1" dirty="0" smtClean="0"/>
              <a:t>心经</a:t>
            </a:r>
            <a:r>
              <a:rPr lang="en-US" altLang="zh-CN" b="1" dirty="0" smtClean="0"/>
              <a:t>---</a:t>
            </a:r>
            <a:r>
              <a:rPr lang="zh-CN" altLang="en-US" b="1" dirty="0" smtClean="0"/>
              <a:t>心火，中指末节螺纹面</a:t>
            </a:r>
            <a:endParaRPr lang="en-US" altLang="zh-CN" b="1" dirty="0" smtClean="0"/>
          </a:p>
          <a:p>
            <a:pPr lvl="0">
              <a:buNone/>
            </a:pPr>
            <a:r>
              <a:rPr lang="zh-CN" altLang="en-US" b="1" dirty="0" smtClean="0"/>
              <a:t>主治：无心烦热  口舌生疮 小便赤涩  心血不足 高热神昏</a:t>
            </a:r>
            <a:endParaRPr lang="en-US" altLang="zh-CN" b="1" dirty="0" smtClean="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4</a:t>
            </a:r>
            <a:r>
              <a:rPr lang="zh-CN" altLang="en-US" b="1" dirty="0" smtClean="0"/>
              <a:t>肺经</a:t>
            </a:r>
            <a:r>
              <a:rPr lang="en-US" altLang="zh-CN" b="1" dirty="0" smtClean="0"/>
              <a:t>---</a:t>
            </a:r>
            <a:r>
              <a:rPr lang="zh-CN" altLang="en-US" b="1" dirty="0" smtClean="0"/>
              <a:t>肺金，无名指末节螺纹面</a:t>
            </a:r>
            <a:endParaRPr lang="en-US" altLang="zh-CN" b="1" dirty="0" smtClean="0"/>
          </a:p>
          <a:p>
            <a:pPr lvl="0">
              <a:buNone/>
            </a:pPr>
            <a:r>
              <a:rPr lang="zh-CN" altLang="en-US" b="1" dirty="0" smtClean="0"/>
              <a:t>主治：感冒 发热 咳嗽 气喘 胸闷 虚汗  咽喉肿痛</a:t>
            </a:r>
            <a:endParaRPr lang="en-US" altLang="zh-CN" b="1" dirty="0" smtClean="0"/>
          </a:p>
          <a:p>
            <a:pPr lvl="0">
              <a:buNone/>
            </a:pPr>
            <a:endParaRPr lang="en-US" altLang="zh-CN" b="1" dirty="0" smtClean="0"/>
          </a:p>
          <a:p>
            <a:pPr lvl="0">
              <a:buNone/>
            </a:pPr>
            <a:r>
              <a:rPr lang="en-US" altLang="zh-CN" b="1" dirty="0" smtClean="0"/>
              <a:t>5</a:t>
            </a:r>
            <a:r>
              <a:rPr lang="zh-CN" altLang="en-US" b="1" dirty="0" smtClean="0"/>
              <a:t>肾经</a:t>
            </a:r>
            <a:r>
              <a:rPr lang="en-US" altLang="zh-CN" b="1" dirty="0" smtClean="0"/>
              <a:t>---</a:t>
            </a:r>
            <a:r>
              <a:rPr lang="zh-CN" altLang="en-US" b="1" dirty="0" smtClean="0"/>
              <a:t>肾水，小指末节螺纹面</a:t>
            </a:r>
            <a:endParaRPr lang="en-US" altLang="zh-CN" b="1" dirty="0" smtClean="0"/>
          </a:p>
          <a:p>
            <a:pPr lvl="0">
              <a:buNone/>
            </a:pPr>
            <a:r>
              <a:rPr lang="zh-CN" altLang="en-US" b="1" dirty="0" smtClean="0"/>
              <a:t>主治：先天不足 久病体虚 五更泄泻 遗尿 </a:t>
            </a:r>
            <a:endParaRPr lang="en-US" altLang="zh-CN" b="1" dirty="0" smtClean="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6</a:t>
            </a:r>
            <a:r>
              <a:rPr lang="zh-CN" altLang="en-US" b="1" dirty="0" smtClean="0"/>
              <a:t>大肠</a:t>
            </a:r>
            <a:r>
              <a:rPr lang="en-US" altLang="zh-CN" b="1" dirty="0" smtClean="0"/>
              <a:t>---</a:t>
            </a:r>
            <a:r>
              <a:rPr lang="zh-CN" altLang="en-US" b="1" dirty="0" smtClean="0"/>
              <a:t>食指桡侧缘 ，由指尖向虎口成一条直线</a:t>
            </a:r>
            <a:endParaRPr lang="en-US" altLang="zh-CN" b="1" dirty="0" smtClean="0"/>
          </a:p>
          <a:p>
            <a:pPr lvl="0">
              <a:buNone/>
            </a:pPr>
            <a:r>
              <a:rPr lang="zh-CN" altLang="en-US" b="1" dirty="0" smtClean="0"/>
              <a:t>主治：泄泻 痢疾 脱肛 腹痛 便秘 肛门红肿</a:t>
            </a:r>
            <a:endParaRPr lang="en-US" altLang="zh-CN" b="1" dirty="0" smtClean="0"/>
          </a:p>
          <a:p>
            <a:pPr lvl="0">
              <a:buNone/>
            </a:pPr>
            <a:endParaRPr lang="en-US" altLang="zh-CN" b="1" dirty="0" smtClean="0"/>
          </a:p>
          <a:p>
            <a:pPr lvl="0">
              <a:buNone/>
            </a:pPr>
            <a:r>
              <a:rPr lang="en-US" altLang="zh-CN" b="1" dirty="0" smtClean="0"/>
              <a:t>7</a:t>
            </a:r>
            <a:r>
              <a:rPr lang="zh-CN" altLang="en-US" b="1" dirty="0" smtClean="0"/>
              <a:t>小肠</a:t>
            </a:r>
            <a:r>
              <a:rPr lang="en-US" altLang="zh-CN" b="1" dirty="0" smtClean="0"/>
              <a:t>---</a:t>
            </a:r>
            <a:r>
              <a:rPr lang="zh-CN" altLang="en-US" b="1" dirty="0" smtClean="0"/>
              <a:t>小指尺侧缘</a:t>
            </a:r>
            <a:endParaRPr lang="en-US" altLang="zh-CN" b="1" dirty="0" smtClean="0"/>
          </a:p>
          <a:p>
            <a:pPr lvl="0">
              <a:buNone/>
            </a:pPr>
            <a:r>
              <a:rPr lang="zh-CN" altLang="en-US" b="1" dirty="0" smtClean="0"/>
              <a:t>主治：小便赤涩  水泄  口舌糜烂</a:t>
            </a:r>
            <a:endParaRPr lang="en-US" altLang="zh-CN" b="1" dirty="0" smtClean="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8</a:t>
            </a:r>
            <a:r>
              <a:rPr lang="zh-CN" altLang="en-US" b="1" dirty="0" smtClean="0"/>
              <a:t>胃经</a:t>
            </a:r>
            <a:r>
              <a:rPr lang="en-US" altLang="zh-CN" b="1" dirty="0" smtClean="0"/>
              <a:t>---</a:t>
            </a:r>
            <a:r>
              <a:rPr lang="zh-CN" altLang="en-US" b="1" dirty="0" smtClean="0"/>
              <a:t>大鱼际桡侧赤白肉际，从拇指掌指关节到掌根</a:t>
            </a:r>
            <a:endParaRPr lang="en-US" altLang="zh-CN" b="1" dirty="0" smtClean="0"/>
          </a:p>
          <a:p>
            <a:pPr lvl="0">
              <a:buNone/>
            </a:pPr>
            <a:endParaRPr lang="en-US" altLang="zh-CN" b="1" dirty="0" smtClean="0"/>
          </a:p>
          <a:p>
            <a:pPr lvl="0">
              <a:buNone/>
            </a:pPr>
            <a:r>
              <a:rPr lang="zh-CN" altLang="en-US" b="1" dirty="0" smtClean="0"/>
              <a:t>主治：呕恶嗳气 烦渴善饥 食欲不振  吐血 纽血</a:t>
            </a:r>
            <a:endParaRPr lang="en-US" altLang="zh-CN" b="1" dirty="0" smtClean="0"/>
          </a:p>
          <a:p>
            <a:pPr lvl="0">
              <a:buNone/>
            </a:pPr>
            <a:endParaRPr lang="en-US" altLang="zh-CN" b="1" dirty="0" smtClean="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en-US" altLang="zh-CN" b="1" dirty="0" smtClean="0"/>
              <a:t>9</a:t>
            </a:r>
            <a:r>
              <a:rPr lang="zh-CN" altLang="en-US" b="1" dirty="0" smtClean="0"/>
              <a:t>十王</a:t>
            </a:r>
            <a:r>
              <a:rPr lang="en-US" altLang="zh-CN" b="1" dirty="0" smtClean="0"/>
              <a:t>---</a:t>
            </a:r>
            <a:r>
              <a:rPr lang="zh-CN" altLang="en-US" b="1" dirty="0" smtClean="0"/>
              <a:t>两手十指指尖</a:t>
            </a:r>
            <a:endParaRPr lang="en-US" altLang="zh-CN" b="1" dirty="0" smtClean="0"/>
          </a:p>
          <a:p>
            <a:pPr lvl="0">
              <a:buNone/>
            </a:pPr>
            <a:endParaRPr lang="en-US" altLang="zh-CN" b="1" dirty="0" smtClean="0"/>
          </a:p>
          <a:p>
            <a:pPr lvl="0">
              <a:buNone/>
            </a:pPr>
            <a:r>
              <a:rPr lang="zh-CN" altLang="en-US" b="1" dirty="0" smtClean="0"/>
              <a:t>主治：高热 神昏 惊风 抽搐</a:t>
            </a:r>
            <a:endParaRPr lang="en-US" altLang="zh-CN" b="1" dirty="0" smtClean="0"/>
          </a:p>
          <a:p>
            <a:pPr lvl="0">
              <a:buNone/>
            </a:pPr>
            <a:endParaRPr lang="en-US" altLang="zh-CN" b="1" dirty="0" smtClean="0"/>
          </a:p>
          <a:p>
            <a:pPr lvl="0">
              <a:buNone/>
            </a:pPr>
            <a:r>
              <a:rPr lang="zh-CN" altLang="en-US" b="1" dirty="0" smtClean="0"/>
              <a:t>按语：用拇指指甲依次掐之，称掐十王或十宣，多用于急救，一般</a:t>
            </a:r>
            <a:r>
              <a:rPr lang="en-US" altLang="zh-CN" b="1" dirty="0" smtClean="0"/>
              <a:t>3---5</a:t>
            </a:r>
            <a:r>
              <a:rPr lang="zh-CN" altLang="en-US" b="1" dirty="0" smtClean="0"/>
              <a:t>次</a:t>
            </a:r>
            <a:endParaRPr lang="en-US" altLang="zh-CN" b="1" dirty="0" smtClean="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四横纹</a:t>
            </a:r>
            <a:r>
              <a:rPr lang="en-US" altLang="zh-CN" b="1" dirty="0" smtClean="0"/>
              <a:t>---</a:t>
            </a:r>
            <a:r>
              <a:rPr lang="zh-CN" altLang="en-US" b="1" dirty="0" smtClean="0"/>
              <a:t>手掌面食指 中指 环指 小指第一指尖关节横纹处</a:t>
            </a:r>
            <a:endParaRPr lang="en-US" altLang="zh-CN" b="1" dirty="0" smtClean="0"/>
          </a:p>
          <a:p>
            <a:pPr lvl="0">
              <a:buNone/>
            </a:pPr>
            <a:endParaRPr lang="en-US" altLang="zh-CN" b="1" dirty="0" smtClean="0"/>
          </a:p>
          <a:p>
            <a:pPr lvl="0">
              <a:buNone/>
            </a:pPr>
            <a:r>
              <a:rPr lang="zh-CN" altLang="en-US" b="1" dirty="0" smtClean="0"/>
              <a:t>主治：疳积 腹痛 腹胀  消化不良</a:t>
            </a:r>
            <a:endParaRPr lang="en-US" altLang="zh-CN" b="1" dirty="0" smtClean="0"/>
          </a:p>
          <a:p>
            <a:pPr lvl="0">
              <a:buNone/>
            </a:pPr>
            <a:endParaRPr lang="en-US" altLang="zh-CN" b="1" dirty="0" smtClean="0"/>
          </a:p>
          <a:p>
            <a:pPr lvl="0">
              <a:buNone/>
            </a:pPr>
            <a:r>
              <a:rPr lang="zh-CN" altLang="en-US" b="1" dirty="0" smtClean="0"/>
              <a:t>按语：以拇指指甲依次掐按</a:t>
            </a:r>
            <a:endParaRPr lang="en-US" altLang="zh-CN" b="1" dirty="0" smtClean="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肾顶</a:t>
            </a:r>
            <a:r>
              <a:rPr lang="en-US" altLang="zh-CN" b="1" dirty="0" smtClean="0"/>
              <a:t>---</a:t>
            </a:r>
            <a:r>
              <a:rPr lang="zh-CN" altLang="en-US" b="1" dirty="0" smtClean="0"/>
              <a:t>小指末端处</a:t>
            </a:r>
            <a:endParaRPr lang="en-US" altLang="zh-CN" b="1" dirty="0" smtClean="0"/>
          </a:p>
          <a:p>
            <a:pPr lvl="0">
              <a:buNone/>
            </a:pPr>
            <a:endParaRPr lang="en-US" altLang="zh-CN" b="1" dirty="0" smtClean="0"/>
          </a:p>
          <a:p>
            <a:pPr lvl="0">
              <a:buNone/>
            </a:pPr>
            <a:r>
              <a:rPr lang="zh-CN" altLang="en-US" b="1" dirty="0" smtClean="0"/>
              <a:t>主治：自汗 盗汗 ，为止汗要穴，对一切汗证均有效</a:t>
            </a:r>
            <a:endParaRPr lang="en-US" altLang="zh-CN" b="1" dirty="0" smtClean="0"/>
          </a:p>
          <a:p>
            <a:pPr lvl="0">
              <a:buNone/>
            </a:pPr>
            <a:endParaRPr lang="en-US" altLang="zh-CN" b="1" dirty="0" smtClean="0"/>
          </a:p>
          <a:p>
            <a:pPr lvl="0">
              <a:buNone/>
            </a:pPr>
            <a:r>
              <a:rPr lang="zh-CN" altLang="en-US" b="1" dirty="0" smtClean="0"/>
              <a:t>按语：用中指或食指指端按揉，称揉肾顶</a:t>
            </a:r>
            <a:endParaRPr lang="en-US" altLang="zh-CN" b="1" dirty="0" smtClean="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内劳宫</a:t>
            </a:r>
            <a:r>
              <a:rPr lang="en-US" altLang="zh-CN" b="1" dirty="0" smtClean="0"/>
              <a:t>---</a:t>
            </a:r>
            <a:r>
              <a:rPr lang="zh-CN" altLang="en-US" b="1" dirty="0" smtClean="0"/>
              <a:t>掌心中，屈指时中指间到达处</a:t>
            </a:r>
            <a:endParaRPr lang="en-US" altLang="zh-CN" b="1" dirty="0" smtClean="0"/>
          </a:p>
          <a:p>
            <a:pPr lvl="0">
              <a:buNone/>
            </a:pPr>
            <a:endParaRPr lang="en-US" altLang="zh-CN" b="1" dirty="0" smtClean="0"/>
          </a:p>
          <a:p>
            <a:pPr lvl="0">
              <a:buNone/>
            </a:pPr>
            <a:r>
              <a:rPr lang="zh-CN" altLang="en-US" b="1" dirty="0" smtClean="0"/>
              <a:t>主治：发热 烦渴 口疮  虚烦内热</a:t>
            </a:r>
            <a:endParaRPr lang="en-US" altLang="zh-CN" b="1" dirty="0" smtClean="0"/>
          </a:p>
          <a:p>
            <a:pPr lvl="0">
              <a:buNone/>
            </a:pPr>
            <a:endParaRPr lang="en-US" altLang="zh-CN" b="1" dirty="0" smtClean="0"/>
          </a:p>
          <a:p>
            <a:pPr lvl="0">
              <a:buNone/>
            </a:pPr>
            <a:r>
              <a:rPr lang="zh-CN" altLang="en-US" b="1" dirty="0" smtClean="0"/>
              <a:t>按语：中指指端揉之称揉内劳宫</a:t>
            </a:r>
            <a:endParaRPr lang="en-US" altLang="zh-CN" b="1" dirty="0" smtClean="0"/>
          </a:p>
          <a:p>
            <a:pPr lvl="0">
              <a:buNone/>
            </a:pPr>
            <a:endParaRPr lang="en-US" altLang="zh-CN" b="1" dirty="0" smtClean="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descr="20151130_080127.jpg"/>
          <p:cNvPicPr>
            <a:picLocks noGrp="1" noChangeAspect="1"/>
          </p:cNvPicPr>
          <p:nvPr>
            <p:ph idx="1"/>
          </p:nvPr>
        </p:nvPicPr>
        <p:blipFill>
          <a:blip r:embed="rId2" cstate="print"/>
          <a:stretch>
            <a:fillRect/>
          </a:stretch>
        </p:blipFill>
        <p:spPr>
          <a:xfrm>
            <a:off x="76200" y="838200"/>
            <a:ext cx="8940800" cy="5029200"/>
          </a:xfr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小天心</a:t>
            </a:r>
            <a:r>
              <a:rPr lang="en-US" altLang="zh-CN" b="1" dirty="0" smtClean="0"/>
              <a:t>---</a:t>
            </a:r>
            <a:r>
              <a:rPr lang="zh-CN" altLang="en-US" b="1" dirty="0" smtClean="0"/>
              <a:t>手掌大小鱼际交接之中点凹陷处</a:t>
            </a:r>
            <a:endParaRPr lang="en-US" altLang="zh-CN" b="1" dirty="0" smtClean="0"/>
          </a:p>
          <a:p>
            <a:pPr lvl="0">
              <a:buNone/>
            </a:pPr>
            <a:endParaRPr lang="en-US" altLang="zh-CN" b="1" dirty="0" smtClean="0"/>
          </a:p>
          <a:p>
            <a:pPr lvl="0">
              <a:buNone/>
            </a:pPr>
            <a:r>
              <a:rPr lang="zh-CN" altLang="en-US" b="1" dirty="0" smtClean="0"/>
              <a:t>主治：惊风抽搐 烦躁不安 小便赤涩 夜啼 ，为清心安神之要穴</a:t>
            </a:r>
            <a:endParaRPr lang="en-US" altLang="zh-CN" b="1" dirty="0" smtClean="0"/>
          </a:p>
          <a:p>
            <a:pPr lvl="0">
              <a:buNone/>
            </a:pPr>
            <a:endParaRPr lang="en-US" altLang="zh-CN" b="1" dirty="0" smtClean="0"/>
          </a:p>
          <a:p>
            <a:pPr lvl="0">
              <a:buNone/>
            </a:pPr>
            <a:r>
              <a:rPr lang="zh-CN" altLang="en-US" b="1" dirty="0" smtClean="0"/>
              <a:t>按语：揉小天心</a:t>
            </a:r>
            <a:endParaRPr lang="en-US" altLang="zh-CN" b="1" dirty="0" smtClean="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八卦</a:t>
            </a:r>
            <a:r>
              <a:rPr lang="en-US" altLang="zh-CN" b="1" dirty="0" smtClean="0"/>
              <a:t>---</a:t>
            </a:r>
            <a:r>
              <a:rPr lang="zh-CN" altLang="en-US" b="1" dirty="0" smtClean="0"/>
              <a:t>又称内八卦，以手掌中心内劳宫为圆心，从圆心至中指掌指关节横纹约三分之二处为半径画圆</a:t>
            </a:r>
            <a:endParaRPr lang="en-US" altLang="zh-CN" b="1" dirty="0" smtClean="0"/>
          </a:p>
          <a:p>
            <a:pPr lvl="0">
              <a:buNone/>
            </a:pPr>
            <a:r>
              <a:rPr lang="en-US" altLang="zh-CN" b="1" dirty="0" smtClean="0"/>
              <a:t> </a:t>
            </a:r>
          </a:p>
          <a:p>
            <a:pPr lvl="0">
              <a:buNone/>
            </a:pPr>
            <a:r>
              <a:rPr lang="zh-CN" altLang="en-US" b="1" dirty="0" smtClean="0"/>
              <a:t>主治：咳嗽  气喘 胸闷 呕吐 泄泻  腹胀 食欲不振</a:t>
            </a: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110.jpg"/>
          <p:cNvPicPr>
            <a:picLocks noGrp="1" noChangeAspect="1"/>
          </p:cNvPicPr>
          <p:nvPr>
            <p:ph idx="1"/>
          </p:nvPr>
        </p:nvPicPr>
        <p:blipFill>
          <a:blip r:embed="rId2" cstate="print"/>
          <a:stretch>
            <a:fillRect/>
          </a:stretch>
        </p:blipFill>
        <p:spPr>
          <a:xfrm>
            <a:off x="0" y="771524"/>
            <a:ext cx="9144000" cy="5143499"/>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板门</a:t>
            </a:r>
            <a:r>
              <a:rPr lang="en-US" altLang="zh-CN" b="1" dirty="0" smtClean="0"/>
              <a:t>---</a:t>
            </a:r>
            <a:r>
              <a:rPr lang="zh-CN" altLang="en-US" b="1" dirty="0" smtClean="0"/>
              <a:t>手掌大鱼际之平面</a:t>
            </a:r>
            <a:endParaRPr lang="en-US" altLang="zh-CN" b="1" dirty="0" smtClean="0"/>
          </a:p>
          <a:p>
            <a:pPr lvl="0">
              <a:buNone/>
            </a:pPr>
            <a:endParaRPr lang="en-US" altLang="zh-CN" b="1" dirty="0" smtClean="0"/>
          </a:p>
          <a:p>
            <a:pPr lvl="0">
              <a:buNone/>
            </a:pPr>
            <a:r>
              <a:rPr lang="zh-CN" altLang="en-US" b="1" dirty="0" smtClean="0"/>
              <a:t>主治：食欲不振 乳食积滞 呕吐 泄泻 腹胀 嗳气</a:t>
            </a:r>
            <a:endParaRPr lang="en-US" altLang="zh-CN" b="1" dirty="0" smtClean="0"/>
          </a:p>
          <a:p>
            <a:pPr lvl="0">
              <a:buNone/>
            </a:pPr>
            <a:endParaRPr lang="en-US" altLang="zh-CN" b="1" dirty="0" smtClean="0"/>
          </a:p>
          <a:p>
            <a:pPr lvl="0">
              <a:buNone/>
            </a:pPr>
            <a:r>
              <a:rPr lang="zh-CN" altLang="en-US" b="1" dirty="0" smtClean="0"/>
              <a:t>按语：在大鱼际平面中点揉称揉板门，旋转推法称运板门</a:t>
            </a:r>
            <a:endParaRPr lang="en-US" altLang="zh-CN" b="1" dirty="0" smtClean="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211.jpg"/>
          <p:cNvPicPr>
            <a:picLocks noGrp="1" noChangeAspect="1"/>
          </p:cNvPicPr>
          <p:nvPr>
            <p:ph idx="1"/>
          </p:nvPr>
        </p:nvPicPr>
        <p:blipFill>
          <a:blip r:embed="rId2" cstate="print"/>
          <a:stretch>
            <a:fillRect/>
          </a:stretch>
        </p:blipFill>
        <p:spPr>
          <a:xfrm>
            <a:off x="0" y="752474"/>
            <a:ext cx="9093200" cy="5114925"/>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204.jpg"/>
          <p:cNvPicPr>
            <a:picLocks noGrp="1" noChangeAspect="1"/>
          </p:cNvPicPr>
          <p:nvPr>
            <p:ph idx="1"/>
          </p:nvPr>
        </p:nvPicPr>
        <p:blipFill>
          <a:blip r:embed="rId2" cstate="print"/>
          <a:stretch>
            <a:fillRect/>
          </a:stretch>
        </p:blipFill>
        <p:spPr>
          <a:xfrm>
            <a:off x="228600" y="1066800"/>
            <a:ext cx="8534400" cy="4800600"/>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运土入水</a:t>
            </a:r>
            <a:r>
              <a:rPr lang="en-US" altLang="zh-CN" b="1" dirty="0" smtClean="0"/>
              <a:t>---</a:t>
            </a:r>
            <a:r>
              <a:rPr lang="zh-CN" altLang="en-US" b="1" dirty="0" smtClean="0"/>
              <a:t>手掌面，拇指桡侧尖端经手掌边缘，小指掌面稍偏尺侧至尖端</a:t>
            </a:r>
            <a:endParaRPr lang="en-US" altLang="zh-CN" b="1" dirty="0" smtClean="0"/>
          </a:p>
          <a:p>
            <a:pPr lvl="0">
              <a:buNone/>
            </a:pPr>
            <a:endParaRPr lang="en-US" altLang="zh-CN" b="1" dirty="0" smtClean="0"/>
          </a:p>
          <a:p>
            <a:pPr lvl="0">
              <a:buNone/>
            </a:pPr>
            <a:r>
              <a:rPr lang="zh-CN" altLang="en-US" b="1" dirty="0" smtClean="0"/>
              <a:t>主治：小便赤涩 腹胀 吐泻 痢疾 便秘</a:t>
            </a:r>
            <a:endParaRPr lang="en-US" altLang="zh-CN" b="1" dirty="0" smtClean="0"/>
          </a:p>
          <a:p>
            <a:pPr lvl="0">
              <a:buNone/>
            </a:pPr>
            <a:endParaRPr lang="en-US" altLang="zh-CN" b="1" dirty="0" smtClean="0"/>
          </a:p>
          <a:p>
            <a:pPr lvl="0">
              <a:buNone/>
            </a:pPr>
            <a:r>
              <a:rPr lang="zh-CN" altLang="en-US" b="1" dirty="0" smtClean="0"/>
              <a:t>按语：以拇指桡侧，自拇指尖经掌根推运至小指尖端，称运土入水。</a:t>
            </a:r>
            <a:endParaRPr lang="en-US" altLang="zh-CN" b="1" dirty="0" smtClean="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运水入土</a:t>
            </a:r>
            <a:r>
              <a:rPr lang="en-US" altLang="zh-CN" b="1" dirty="0" smtClean="0"/>
              <a:t>---</a:t>
            </a:r>
            <a:r>
              <a:rPr lang="zh-CN" altLang="en-US" b="1" dirty="0" smtClean="0"/>
              <a:t>手掌面，小指尺侧端经手掌边缘，掌根部到拇指桡侧至尖端</a:t>
            </a:r>
            <a:endParaRPr lang="en-US" altLang="zh-CN" b="1" dirty="0" smtClean="0"/>
          </a:p>
          <a:p>
            <a:pPr lvl="0">
              <a:buNone/>
            </a:pPr>
            <a:endParaRPr lang="en-US" altLang="zh-CN" b="1" dirty="0" smtClean="0"/>
          </a:p>
          <a:p>
            <a:pPr lvl="0">
              <a:buNone/>
            </a:pPr>
            <a:r>
              <a:rPr lang="zh-CN" altLang="en-US" b="1" dirty="0" smtClean="0"/>
              <a:t>主治：食欲不振 腹胀 泄痢</a:t>
            </a:r>
            <a:endParaRPr lang="en-US" altLang="zh-CN" b="1" dirty="0" smtClean="0"/>
          </a:p>
          <a:p>
            <a:pPr lvl="0">
              <a:buNone/>
            </a:pPr>
            <a:r>
              <a:rPr lang="en-US" altLang="zh-CN" b="1" dirty="0" smtClean="0"/>
              <a:t> </a:t>
            </a:r>
          </a:p>
          <a:p>
            <a:pPr lvl="0">
              <a:buNone/>
            </a:pPr>
            <a:r>
              <a:rPr lang="zh-CN" altLang="en-US" b="1" dirty="0" smtClean="0"/>
              <a:t>按语：拇指桡侧自小指尖及尺侧缘经掌根，，拇指桡侧推运至指尖，称运水入土</a:t>
            </a:r>
            <a:endParaRPr lang="en-US" altLang="zh-CN" b="1" dirty="0" smtClean="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239.jpg"/>
          <p:cNvPicPr>
            <a:picLocks noGrp="1" noChangeAspect="1"/>
          </p:cNvPicPr>
          <p:nvPr>
            <p:ph idx="1"/>
          </p:nvPr>
        </p:nvPicPr>
        <p:blipFill>
          <a:blip r:embed="rId2" cstate="print"/>
          <a:stretch>
            <a:fillRect/>
          </a:stretch>
        </p:blipFill>
        <p:spPr>
          <a:xfrm>
            <a:off x="169333" y="990600"/>
            <a:ext cx="8669867" cy="4876800"/>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总筋</a:t>
            </a:r>
            <a:r>
              <a:rPr lang="en-US" altLang="zh-CN" b="1" dirty="0" smtClean="0"/>
              <a:t>---</a:t>
            </a:r>
            <a:r>
              <a:rPr lang="zh-CN" altLang="en-US" b="1" dirty="0" smtClean="0"/>
              <a:t>手腕掌侧横纹中点</a:t>
            </a:r>
            <a:endParaRPr lang="en-US" altLang="zh-CN" b="1" dirty="0" smtClean="0"/>
          </a:p>
          <a:p>
            <a:pPr lvl="0">
              <a:buNone/>
            </a:pPr>
            <a:endParaRPr lang="en-US" altLang="zh-CN" b="1" dirty="0" smtClean="0"/>
          </a:p>
          <a:p>
            <a:pPr lvl="0">
              <a:buNone/>
            </a:pPr>
            <a:r>
              <a:rPr lang="zh-CN" altLang="en-US" b="1" dirty="0" smtClean="0"/>
              <a:t>主治：惊风  潮热 牙痛 夜啼 口色生疮</a:t>
            </a:r>
            <a:endParaRPr lang="en-US" altLang="zh-CN" b="1" dirty="0" smtClean="0"/>
          </a:p>
          <a:p>
            <a:pPr lvl="0">
              <a:buNone/>
            </a:pPr>
            <a:endParaRPr lang="en-US" altLang="zh-CN" b="1" dirty="0" smtClean="0"/>
          </a:p>
          <a:p>
            <a:pPr lvl="0">
              <a:buNone/>
            </a:pPr>
            <a:r>
              <a:rPr lang="zh-CN" altLang="en-US" b="1" dirty="0" smtClean="0"/>
              <a:t>按语：以拇指或中指指端掐之  称掐总筋</a:t>
            </a:r>
            <a:endParaRPr lang="en-US" altLang="zh-CN" b="1" dirty="0" smtClean="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255.jpg"/>
          <p:cNvPicPr>
            <a:picLocks noGrp="1" noChangeAspect="1"/>
          </p:cNvPicPr>
          <p:nvPr>
            <p:ph idx="1"/>
          </p:nvPr>
        </p:nvPicPr>
        <p:blipFill>
          <a:blip r:embed="rId2" cstate="print"/>
          <a:stretch>
            <a:fillRect/>
          </a:stretch>
        </p:blipFill>
        <p:spPr>
          <a:xfrm>
            <a:off x="127000" y="838200"/>
            <a:ext cx="8940800" cy="5029200"/>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手阴阳</a:t>
            </a:r>
            <a:r>
              <a:rPr lang="en-US" altLang="zh-CN" b="1" dirty="0" smtClean="0"/>
              <a:t>---</a:t>
            </a:r>
            <a:r>
              <a:rPr lang="zh-CN" altLang="en-US" b="1" dirty="0" smtClean="0"/>
              <a:t>手掌跟，总筋两侧，近拇指侧为阳池，小指侧为阴池</a:t>
            </a:r>
            <a:endParaRPr lang="en-US" altLang="zh-CN" b="1" dirty="0" smtClean="0"/>
          </a:p>
          <a:p>
            <a:pPr lvl="0">
              <a:buNone/>
            </a:pPr>
            <a:endParaRPr lang="en-US" altLang="zh-CN" b="1" dirty="0" smtClean="0"/>
          </a:p>
          <a:p>
            <a:pPr lvl="0">
              <a:buNone/>
            </a:pPr>
            <a:r>
              <a:rPr lang="zh-CN" altLang="en-US" b="1" dirty="0" smtClean="0"/>
              <a:t>主治：寒热往来 腹泻 呕吐 食积 泄泻 惊风 抽搐</a:t>
            </a:r>
            <a:endParaRPr lang="en-US" altLang="zh-CN" b="1" dirty="0" smtClean="0"/>
          </a:p>
          <a:p>
            <a:pPr lvl="0">
              <a:buNone/>
            </a:pPr>
            <a:endParaRPr lang="en-US" altLang="zh-CN" b="1" dirty="0" smtClean="0"/>
          </a:p>
          <a:p>
            <a:pPr lvl="0">
              <a:buNone/>
            </a:pPr>
            <a:r>
              <a:rPr lang="zh-CN" altLang="en-US" b="1" dirty="0" smtClean="0"/>
              <a:t>按语：两手拇指指腹从总筋穴向两侧分推，称分手阴阳</a:t>
            </a: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二扇门</a:t>
            </a:r>
            <a:r>
              <a:rPr lang="en-US" altLang="zh-CN" b="1" dirty="0" smtClean="0"/>
              <a:t>---</a:t>
            </a:r>
            <a:r>
              <a:rPr lang="zh-CN" altLang="en-US" b="1" dirty="0" smtClean="0"/>
              <a:t>手背第三掌骨小头两旁凹陷中，一手有两穴</a:t>
            </a:r>
            <a:endParaRPr lang="en-US" altLang="zh-CN" b="1" dirty="0" smtClean="0"/>
          </a:p>
          <a:p>
            <a:pPr lvl="0">
              <a:buNone/>
            </a:pPr>
            <a:endParaRPr lang="en-US" altLang="zh-CN" b="1" dirty="0" smtClean="0"/>
          </a:p>
          <a:p>
            <a:pPr lvl="0">
              <a:buNone/>
            </a:pPr>
            <a:r>
              <a:rPr lang="zh-CN" altLang="en-US" b="1" dirty="0" smtClean="0"/>
              <a:t>主治：感冒 身热无汗 惊风抽搐</a:t>
            </a:r>
            <a:endParaRPr lang="en-US" altLang="zh-CN" b="1" dirty="0" smtClean="0"/>
          </a:p>
          <a:p>
            <a:pPr lvl="0">
              <a:buNone/>
            </a:pPr>
            <a:endParaRPr lang="en-US" altLang="zh-CN" b="1" dirty="0" smtClean="0"/>
          </a:p>
          <a:p>
            <a:pPr lvl="0">
              <a:buNone/>
            </a:pPr>
            <a:r>
              <a:rPr lang="zh-CN" altLang="en-US" b="1" dirty="0" smtClean="0"/>
              <a:t>按语：揉二扇门</a:t>
            </a:r>
            <a:endParaRPr lang="en-US" altLang="zh-CN" b="1" dirty="0" smtClean="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307.jpg"/>
          <p:cNvPicPr>
            <a:picLocks noGrp="1" noChangeAspect="1"/>
          </p:cNvPicPr>
          <p:nvPr>
            <p:ph idx="1"/>
          </p:nvPr>
        </p:nvPicPr>
        <p:blipFill>
          <a:blip r:embed="rId2" cstate="print"/>
          <a:stretch>
            <a:fillRect/>
          </a:stretch>
        </p:blipFill>
        <p:spPr>
          <a:xfrm>
            <a:off x="127000" y="838200"/>
            <a:ext cx="8940800" cy="5029200"/>
          </a:xfr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a:t>
            </a:r>
            <a:endParaRPr lang="en-US" altLang="zh-CN" b="1" dirty="0" smtClean="0"/>
          </a:p>
          <a:p>
            <a:pPr lvl="0">
              <a:buNone/>
            </a:pPr>
            <a:r>
              <a:rPr lang="zh-CN" altLang="en-US" b="1" dirty="0" smtClean="0"/>
              <a:t>外劳宫</a:t>
            </a:r>
            <a:r>
              <a:rPr lang="en-US" altLang="zh-CN" b="1" dirty="0" smtClean="0"/>
              <a:t>---</a:t>
            </a:r>
            <a:r>
              <a:rPr lang="zh-CN" altLang="en-US" b="1" dirty="0" smtClean="0"/>
              <a:t>手背中央，第</a:t>
            </a:r>
            <a:r>
              <a:rPr lang="en-US" altLang="zh-CN" b="1" dirty="0" smtClean="0"/>
              <a:t>3 4</a:t>
            </a:r>
            <a:r>
              <a:rPr lang="zh-CN" altLang="en-US" b="1" dirty="0" smtClean="0"/>
              <a:t>掌骨间，与内劳宫相对</a:t>
            </a:r>
            <a:endParaRPr lang="en-US" altLang="zh-CN" b="1" dirty="0" smtClean="0"/>
          </a:p>
          <a:p>
            <a:pPr lvl="0">
              <a:buNone/>
            </a:pPr>
            <a:endParaRPr lang="en-US" altLang="zh-CN" b="1" dirty="0" smtClean="0"/>
          </a:p>
          <a:p>
            <a:pPr lvl="0">
              <a:buNone/>
            </a:pPr>
            <a:r>
              <a:rPr lang="zh-CN" altLang="en-US" b="1" dirty="0" smtClean="0"/>
              <a:t>主治：腹胀  腹痛 肠鸣 泄泻 消化不良 脱肛 遗尿 疝气</a:t>
            </a:r>
            <a:endParaRPr lang="en-US" altLang="zh-CN" b="1" dirty="0" smtClean="0"/>
          </a:p>
          <a:p>
            <a:pPr lvl="0">
              <a:buNone/>
            </a:pPr>
            <a:endParaRPr lang="en-US" altLang="zh-CN" b="1" dirty="0" smtClean="0"/>
          </a:p>
          <a:p>
            <a:pPr lvl="0">
              <a:buNone/>
            </a:pPr>
            <a:r>
              <a:rPr lang="zh-CN" altLang="en-US" b="1" dirty="0" smtClean="0"/>
              <a:t>按语</a:t>
            </a:r>
            <a:r>
              <a:rPr lang="zh-CN" altLang="en-US" b="1" smtClean="0"/>
              <a:t>：揉外劳宫</a:t>
            </a:r>
            <a:endParaRPr lang="en-US" altLang="zh-CN" b="1" dirty="0" smtClean="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二人上马</a:t>
            </a:r>
            <a:r>
              <a:rPr lang="en-US" altLang="zh-CN" b="1" dirty="0" smtClean="0"/>
              <a:t>---</a:t>
            </a:r>
            <a:r>
              <a:rPr lang="zh-CN" altLang="en-US" b="1" dirty="0" smtClean="0"/>
              <a:t>手背，第</a:t>
            </a:r>
            <a:r>
              <a:rPr lang="en-US" altLang="zh-CN" b="1" dirty="0" smtClean="0"/>
              <a:t>4 5</a:t>
            </a:r>
            <a:r>
              <a:rPr lang="zh-CN" altLang="en-US" b="1" dirty="0" smtClean="0"/>
              <a:t>掌指关节后凹陷中</a:t>
            </a:r>
            <a:endParaRPr lang="en-US" altLang="zh-CN" b="1" dirty="0" smtClean="0"/>
          </a:p>
          <a:p>
            <a:pPr lvl="0">
              <a:buNone/>
            </a:pPr>
            <a:endParaRPr lang="en-US" altLang="zh-CN" b="1" dirty="0" smtClean="0"/>
          </a:p>
          <a:p>
            <a:pPr lvl="0">
              <a:buNone/>
            </a:pPr>
            <a:r>
              <a:rPr lang="zh-CN" altLang="en-US" b="1" dirty="0" smtClean="0"/>
              <a:t>主治：小便赤涩 咳喘 腹痛 体虚  消化</a:t>
            </a:r>
            <a:r>
              <a:rPr lang="zh-CN" altLang="en-US" b="1" smtClean="0"/>
              <a:t>不良，为补肾滋阴之要穴</a:t>
            </a:r>
            <a:endParaRPr lang="en-US" altLang="zh-CN" b="1" dirty="0" smtClean="0"/>
          </a:p>
          <a:p>
            <a:pPr lvl="0">
              <a:buNone/>
            </a:pPr>
            <a:endParaRPr lang="en-US" altLang="zh-CN" b="1" dirty="0" smtClean="0"/>
          </a:p>
          <a:p>
            <a:pPr lvl="0">
              <a:buNone/>
            </a:pPr>
            <a:r>
              <a:rPr lang="zh-CN" altLang="en-US" b="1" dirty="0" smtClean="0"/>
              <a:t>按语：拇指或中指指端揉之，称二人上马，亦称揉二马</a:t>
            </a:r>
            <a:endParaRPr lang="en-US" altLang="zh-CN" b="1" dirty="0" smtClean="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外八卦</a:t>
            </a:r>
            <a:r>
              <a:rPr lang="en-US" altLang="zh-CN" b="1" dirty="0" smtClean="0"/>
              <a:t>---</a:t>
            </a:r>
            <a:r>
              <a:rPr lang="zh-CN" altLang="en-US" b="1" dirty="0" smtClean="0"/>
              <a:t>手背，外劳宫周围，与内八卦相对</a:t>
            </a:r>
            <a:endParaRPr lang="en-US" altLang="zh-CN" b="1" dirty="0" smtClean="0"/>
          </a:p>
          <a:p>
            <a:pPr lvl="0">
              <a:buNone/>
            </a:pPr>
            <a:endParaRPr lang="en-US" altLang="zh-CN" b="1" dirty="0" smtClean="0"/>
          </a:p>
          <a:p>
            <a:pPr lvl="0">
              <a:buNone/>
            </a:pPr>
            <a:r>
              <a:rPr lang="zh-CN" altLang="en-US" b="1" dirty="0" smtClean="0"/>
              <a:t>主治：胸闷 腹胀 便秘</a:t>
            </a:r>
            <a:endParaRPr lang="en-US" altLang="zh-CN" b="1" dirty="0" smtClean="0"/>
          </a:p>
          <a:p>
            <a:pPr lvl="0">
              <a:buNone/>
            </a:pPr>
            <a:endParaRPr lang="en-US" altLang="zh-CN" b="1" dirty="0" smtClean="0"/>
          </a:p>
          <a:p>
            <a:pPr lvl="0">
              <a:buNone/>
            </a:pPr>
            <a:r>
              <a:rPr lang="zh-CN" altLang="en-US" b="1" dirty="0" smtClean="0"/>
              <a:t>按语：同内八卦</a:t>
            </a:r>
            <a:endParaRPr lang="en-US" altLang="zh-CN" b="1" dirty="0" smtClean="0"/>
          </a:p>
          <a:p>
            <a:pPr lvl="0">
              <a:buNone/>
            </a:pPr>
            <a:endParaRPr lang="en-US" altLang="zh-CN" b="1" dirty="0" smtClean="0"/>
          </a:p>
          <a:p>
            <a:pPr lvl="0">
              <a:buNone/>
            </a:pP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一窝风</a:t>
            </a:r>
            <a:r>
              <a:rPr lang="en-US" altLang="zh-CN" b="1" dirty="0" smtClean="0"/>
              <a:t>---</a:t>
            </a:r>
            <a:r>
              <a:rPr lang="zh-CN" altLang="en-US" b="1" dirty="0" smtClean="0"/>
              <a:t>手背腕横纹正中凹陷中</a:t>
            </a:r>
            <a:endParaRPr lang="en-US" altLang="zh-CN" b="1" dirty="0" smtClean="0"/>
          </a:p>
          <a:p>
            <a:pPr lvl="0">
              <a:buNone/>
            </a:pPr>
            <a:endParaRPr lang="en-US" altLang="zh-CN" b="1" dirty="0" smtClean="0"/>
          </a:p>
          <a:p>
            <a:pPr lvl="0">
              <a:buNone/>
            </a:pPr>
            <a:r>
              <a:rPr lang="zh-CN" altLang="en-US" b="1" dirty="0" smtClean="0"/>
              <a:t>主治：伤风感冒 腹痛 关节屈伸不利</a:t>
            </a:r>
            <a:endParaRPr lang="en-US" altLang="zh-CN" b="1" dirty="0" smtClean="0"/>
          </a:p>
          <a:p>
            <a:pPr lvl="0">
              <a:buNone/>
            </a:pPr>
            <a:endParaRPr lang="en-US" altLang="zh-CN" b="1" dirty="0" smtClean="0"/>
          </a:p>
          <a:p>
            <a:pPr lvl="0">
              <a:buNone/>
            </a:pPr>
            <a:r>
              <a:rPr lang="zh-CN" altLang="en-US" b="1" dirty="0" smtClean="0"/>
              <a:t>按语：揉按</a:t>
            </a:r>
            <a:endParaRPr lang="en-US" altLang="zh-CN" b="1" dirty="0" smtClean="0"/>
          </a:p>
          <a:p>
            <a:pPr lvl="0">
              <a:buNone/>
            </a:pPr>
            <a:endParaRPr lang="en-US" altLang="zh-CN" b="1" dirty="0" smtClean="0"/>
          </a:p>
          <a:p>
            <a:pPr lvl="0">
              <a:buNone/>
            </a:pP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三关</a:t>
            </a:r>
            <a:r>
              <a:rPr lang="en-US" altLang="zh-CN" b="1" dirty="0" smtClean="0"/>
              <a:t>---</a:t>
            </a:r>
            <a:r>
              <a:rPr lang="zh-CN" altLang="en-US" b="1" dirty="0" smtClean="0"/>
              <a:t>前臂桡侧，腕横纹至肘横纹成一条直线</a:t>
            </a:r>
            <a:endParaRPr lang="en-US" altLang="zh-CN" b="1" dirty="0" smtClean="0"/>
          </a:p>
          <a:p>
            <a:pPr lvl="0">
              <a:buNone/>
            </a:pPr>
            <a:endParaRPr lang="en-US" altLang="zh-CN" b="1" dirty="0" smtClean="0"/>
          </a:p>
          <a:p>
            <a:pPr lvl="0">
              <a:buNone/>
            </a:pPr>
            <a:r>
              <a:rPr lang="zh-CN" altLang="en-US" b="1" dirty="0" smtClean="0"/>
              <a:t>主治：腹痛 腹泻 畏寒 病后体虚  风寒感冒 斑疹 等一切虚寒证</a:t>
            </a:r>
            <a:endParaRPr lang="en-US" altLang="zh-CN" b="1" dirty="0" smtClean="0"/>
          </a:p>
          <a:p>
            <a:pPr lvl="0">
              <a:buNone/>
            </a:pPr>
            <a:endParaRPr lang="en-US" altLang="zh-CN" b="1" dirty="0" smtClean="0"/>
          </a:p>
          <a:p>
            <a:pPr lvl="0">
              <a:buNone/>
            </a:pPr>
            <a:r>
              <a:rPr lang="zh-CN" altLang="en-US" b="1" dirty="0" smtClean="0"/>
              <a:t>按语：从腕横纹起推至肘横纹，称推三关，亦称推上三关</a:t>
            </a: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a:buNone/>
            </a:pPr>
            <a:endParaRPr lang="en-US" altLang="zh-CN" b="1" dirty="0" smtClean="0"/>
          </a:p>
          <a:p>
            <a:pPr>
              <a:buNone/>
            </a:pPr>
            <a:r>
              <a:rPr lang="zh-CN" altLang="en-US" b="1" dirty="0" smtClean="0"/>
              <a:t>天河水</a:t>
            </a:r>
            <a:r>
              <a:rPr lang="en-US" altLang="zh-CN" b="1" dirty="0" smtClean="0"/>
              <a:t>---</a:t>
            </a:r>
            <a:r>
              <a:rPr lang="zh-CN" altLang="en-US" b="1" dirty="0" smtClean="0"/>
              <a:t>在前臂掌侧正中，自腕横纹至肘横纹成一条直线</a:t>
            </a:r>
            <a:endParaRPr lang="en-US" altLang="zh-CN" b="1" dirty="0" smtClean="0"/>
          </a:p>
          <a:p>
            <a:pPr>
              <a:buNone/>
            </a:pPr>
            <a:r>
              <a:rPr lang="zh-CN" altLang="en-US" b="1" dirty="0" smtClean="0"/>
              <a:t>主治：外感发热 内热 潮热 烦躁不安 咳嗽 痰喘 。清热解表  能治一切热证</a:t>
            </a:r>
            <a:endParaRPr lang="en-US" altLang="zh-CN" b="1" dirty="0" smtClean="0"/>
          </a:p>
          <a:p>
            <a:pPr>
              <a:buNone/>
            </a:pPr>
            <a:r>
              <a:rPr lang="zh-CN" altLang="en-US" b="1" dirty="0" smtClean="0"/>
              <a:t>按语：自腕横纹推至肘横纹称清天河水亦称推天河水。自内劳宫推至肘横纹称大推天河水。以凉水滴于横纹处，慢慢推至肘横纹，再以四指拍之，并用口吹气于天河水透之，称引水上天河</a:t>
            </a:r>
            <a:endParaRPr lang="en-US" altLang="zh-CN" b="1" dirty="0" smtClean="0"/>
          </a:p>
          <a:p>
            <a:pPr lvl="0">
              <a:buNone/>
            </a:pP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endParaRPr lang="en-US" altLang="zh-CN" b="1" dirty="0" smtClean="0"/>
          </a:p>
          <a:p>
            <a:pPr lvl="0">
              <a:buNone/>
            </a:pPr>
            <a:r>
              <a:rPr lang="zh-CN" altLang="en-US" b="1" dirty="0" smtClean="0"/>
              <a:t>六腑</a:t>
            </a:r>
            <a:r>
              <a:rPr lang="en-US" altLang="zh-CN" b="1" dirty="0" smtClean="0"/>
              <a:t>---</a:t>
            </a:r>
            <a:r>
              <a:rPr lang="zh-CN" altLang="en-US" b="1" dirty="0" smtClean="0"/>
              <a:t>前臂尺侧，自肘横纹至腕横纹成一直线</a:t>
            </a:r>
            <a:endParaRPr lang="en-US" altLang="zh-CN" b="1" dirty="0" smtClean="0"/>
          </a:p>
          <a:p>
            <a:pPr lvl="0">
              <a:buNone/>
            </a:pPr>
            <a:endParaRPr lang="en-US" altLang="zh-CN" b="1" dirty="0" smtClean="0"/>
          </a:p>
          <a:p>
            <a:pPr lvl="0">
              <a:buNone/>
            </a:pPr>
            <a:r>
              <a:rPr lang="zh-CN" altLang="en-US" b="1" dirty="0" smtClean="0"/>
              <a:t>主治：高热  惊风 鹅口疮 咽喉肿痛 痄腮 大便干燥。 本穴性寒大凉，主治一切实热证</a:t>
            </a:r>
            <a:endParaRPr lang="en-US" altLang="zh-CN" b="1" dirty="0" smtClean="0"/>
          </a:p>
          <a:p>
            <a:pPr lvl="0">
              <a:buNone/>
            </a:pPr>
            <a:endParaRPr lang="en-US" altLang="zh-CN" b="1" dirty="0" smtClean="0"/>
          </a:p>
          <a:p>
            <a:pPr lvl="0">
              <a:buNone/>
            </a:pPr>
            <a:r>
              <a:rPr lang="zh-CN" altLang="en-US" b="1" dirty="0" smtClean="0"/>
              <a:t>按语：自肘横纹推至腕横纹，称退六腑亦称退下六腑</a:t>
            </a:r>
            <a:endParaRPr lang="en-US" altLang="zh-CN" b="1" dirty="0" smtClean="0"/>
          </a:p>
          <a:p>
            <a:pPr lvl="0">
              <a:buNone/>
            </a:pPr>
            <a:endParaRPr lang="en-US" altLang="zh-CN" b="1" dirty="0" smtClean="0"/>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329.jpg"/>
          <p:cNvPicPr>
            <a:picLocks noGrp="1" noChangeAspect="1"/>
          </p:cNvPicPr>
          <p:nvPr>
            <p:ph idx="1"/>
          </p:nvPr>
        </p:nvPicPr>
        <p:blipFill>
          <a:blip r:embed="rId2" cstate="print"/>
          <a:stretch>
            <a:fillRect/>
          </a:stretch>
        </p:blipFill>
        <p:spPr>
          <a:xfrm>
            <a:off x="50800" y="838200"/>
            <a:ext cx="8940800" cy="5029200"/>
          </a:xfr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20151130_080402.jpg"/>
          <p:cNvPicPr>
            <a:picLocks noGrp="1" noChangeAspect="1"/>
          </p:cNvPicPr>
          <p:nvPr>
            <p:ph idx="1"/>
          </p:nvPr>
        </p:nvPicPr>
        <p:blipFill>
          <a:blip r:embed="rId2" cstate="print"/>
          <a:stretch>
            <a:fillRect/>
          </a:stretch>
        </p:blipFill>
        <p:spPr>
          <a:xfrm>
            <a:off x="0" y="719138"/>
            <a:ext cx="9152467" cy="5148262"/>
          </a:xfr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pPr lvl="0">
              <a:buNone/>
            </a:pPr>
            <a:r>
              <a:rPr lang="zh-CN" altLang="en-US" b="1" dirty="0" smtClean="0"/>
              <a:t> 腹泻</a:t>
            </a:r>
            <a:endParaRPr lang="en-US" altLang="zh-CN" b="1" dirty="0" smtClean="0"/>
          </a:p>
          <a:p>
            <a:pPr lvl="0">
              <a:buNone/>
            </a:pPr>
            <a:r>
              <a:rPr lang="zh-CN" altLang="en-US" b="1" dirty="0" smtClean="0"/>
              <a:t>治泄四大手法</a:t>
            </a:r>
            <a:r>
              <a:rPr lang="en-US" altLang="zh-CN" b="1" dirty="0" smtClean="0"/>
              <a:t>---</a:t>
            </a:r>
            <a:r>
              <a:rPr lang="zh-CN" altLang="en-US" b="1" dirty="0" smtClean="0"/>
              <a:t>补脾经 揉脐 龟尾 推上七节骨</a:t>
            </a:r>
            <a:endParaRPr lang="en-US" altLang="zh-CN" b="1" dirty="0" smtClean="0"/>
          </a:p>
          <a:p>
            <a:pPr lvl="0">
              <a:buNone/>
            </a:pPr>
            <a:r>
              <a:rPr lang="zh-CN" altLang="en-US" b="1" dirty="0" smtClean="0"/>
              <a:t>一伤食泻</a:t>
            </a:r>
            <a:r>
              <a:rPr lang="en-US" altLang="zh-CN" b="1" dirty="0" smtClean="0"/>
              <a:t>	</a:t>
            </a:r>
          </a:p>
          <a:p>
            <a:pPr lvl="0">
              <a:buNone/>
            </a:pPr>
            <a:r>
              <a:rPr lang="zh-CN" altLang="en-US" b="1" dirty="0" smtClean="0"/>
              <a:t>诊断：大便稀烂夹有食物残渣或未消化的乳食，量多，酸臭，便前腹痛，哭闹，不思饮食，恶心，呕吐，口嗳酸气，舌红苔黄厚腻</a:t>
            </a:r>
            <a:endParaRPr lang="en-US" altLang="zh-CN" b="1" dirty="0" smtClean="0"/>
          </a:p>
          <a:p>
            <a:pPr lvl="0">
              <a:buNone/>
            </a:pPr>
            <a:r>
              <a:rPr lang="zh-CN" altLang="en-US" b="1" dirty="0" smtClean="0"/>
              <a:t>治疗：补脾经</a:t>
            </a:r>
            <a:r>
              <a:rPr lang="en-US" altLang="zh-CN" b="1" dirty="0" smtClean="0"/>
              <a:t>300</a:t>
            </a:r>
            <a:r>
              <a:rPr lang="zh-CN" altLang="en-US" b="1" dirty="0" smtClean="0"/>
              <a:t>次 揉板门</a:t>
            </a:r>
            <a:r>
              <a:rPr lang="en-US" altLang="zh-CN" b="1" dirty="0" smtClean="0"/>
              <a:t>100 </a:t>
            </a:r>
            <a:r>
              <a:rPr lang="zh-CN" altLang="en-US" b="1" dirty="0" smtClean="0"/>
              <a:t>运内八卦</a:t>
            </a:r>
            <a:r>
              <a:rPr lang="en-US" altLang="zh-CN" b="1" dirty="0" smtClean="0"/>
              <a:t>150 </a:t>
            </a:r>
            <a:r>
              <a:rPr lang="zh-CN" altLang="en-US" b="1" dirty="0" smtClean="0"/>
              <a:t>揉中脘</a:t>
            </a:r>
            <a:r>
              <a:rPr lang="en-US" altLang="zh-CN" b="1" dirty="0" smtClean="0"/>
              <a:t>200 </a:t>
            </a:r>
            <a:r>
              <a:rPr lang="zh-CN" altLang="en-US" b="1" dirty="0" smtClean="0"/>
              <a:t>清大肠</a:t>
            </a:r>
            <a:r>
              <a:rPr lang="en-US" altLang="zh-CN" b="1" dirty="0" smtClean="0"/>
              <a:t>100 </a:t>
            </a:r>
            <a:r>
              <a:rPr lang="zh-CN" altLang="en-US" b="1" dirty="0" smtClean="0"/>
              <a:t>揉天枢</a:t>
            </a:r>
            <a:r>
              <a:rPr lang="en-US" altLang="zh-CN" b="1" dirty="0" smtClean="0"/>
              <a:t>100</a:t>
            </a:r>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 </a:t>
            </a:r>
            <a:r>
              <a:rPr lang="en-US" b="1" dirty="0" smtClean="0"/>
              <a:t>2.</a:t>
            </a:r>
            <a:r>
              <a:rPr lang="zh-CN" altLang="en-US" b="1" dirty="0" smtClean="0"/>
              <a:t>寒湿泻</a:t>
            </a:r>
            <a:endParaRPr lang="zh-CN" altLang="en-US" dirty="0" smtClean="0"/>
          </a:p>
          <a:p>
            <a:r>
              <a:rPr lang="zh-CN" altLang="en-US" b="1" dirty="0" smtClean="0"/>
              <a:t>诊断：大便稀烂多沫，无臭味或臭味较轻。苔白腻</a:t>
            </a:r>
            <a:endParaRPr lang="zh-CN" altLang="en-US" dirty="0" smtClean="0"/>
          </a:p>
          <a:p>
            <a:r>
              <a:rPr lang="zh-CN" altLang="en-US" b="1" dirty="0" smtClean="0"/>
              <a:t>治疗：补脾经</a:t>
            </a:r>
            <a:r>
              <a:rPr lang="en-US" b="1" dirty="0" smtClean="0"/>
              <a:t>300 </a:t>
            </a:r>
            <a:r>
              <a:rPr lang="zh-CN" altLang="en-US" b="1" dirty="0" smtClean="0"/>
              <a:t>推上三关</a:t>
            </a:r>
            <a:r>
              <a:rPr lang="en-US" b="1" dirty="0" smtClean="0"/>
              <a:t>150 </a:t>
            </a:r>
            <a:r>
              <a:rPr lang="zh-CN" altLang="en-US" b="1" dirty="0" smtClean="0"/>
              <a:t>补大肠</a:t>
            </a:r>
            <a:r>
              <a:rPr lang="en-US" b="1" dirty="0" smtClean="0"/>
              <a:t>100 </a:t>
            </a:r>
            <a:r>
              <a:rPr lang="zh-CN" altLang="en-US" b="1" dirty="0" smtClean="0"/>
              <a:t>揉外劳宫</a:t>
            </a:r>
            <a:r>
              <a:rPr lang="en-US" b="1" dirty="0" smtClean="0"/>
              <a:t>100 </a:t>
            </a:r>
            <a:r>
              <a:rPr lang="zh-CN" altLang="en-US" b="1" dirty="0" smtClean="0"/>
              <a:t>揉中脘</a:t>
            </a:r>
            <a:r>
              <a:rPr lang="en-US" b="1" dirty="0" smtClean="0"/>
              <a:t>100 </a:t>
            </a:r>
            <a:r>
              <a:rPr lang="zh-CN" altLang="en-US" b="1" dirty="0" smtClean="0"/>
              <a:t>揉足三里</a:t>
            </a:r>
            <a:r>
              <a:rPr lang="en-US" b="1" dirty="0" smtClean="0"/>
              <a:t>100 </a:t>
            </a:r>
            <a:r>
              <a:rPr lang="zh-CN" altLang="en-US" b="1" dirty="0" smtClean="0"/>
              <a:t>揉龟尾</a:t>
            </a:r>
            <a:r>
              <a:rPr lang="en-US" b="1" dirty="0" smtClean="0"/>
              <a:t>100 </a:t>
            </a:r>
            <a:r>
              <a:rPr lang="zh-CN" altLang="en-US" b="1" dirty="0" smtClean="0"/>
              <a:t>推上七节骨</a:t>
            </a:r>
            <a:r>
              <a:rPr lang="en-US" b="1" dirty="0" smtClean="0"/>
              <a:t>100</a:t>
            </a:r>
            <a:endParaRPr lang="zh-CN" altLang="en-US" dirty="0" smtClean="0"/>
          </a:p>
          <a:p>
            <a:endParaRPr lang="en-US" b="1" dirty="0" smtClean="0"/>
          </a:p>
          <a:p>
            <a:endParaRPr lang="zh-CN" altLang="en-US" dirty="0" smtClean="0"/>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 </a:t>
            </a:r>
            <a:r>
              <a:rPr lang="en-US" b="1" dirty="0" smtClean="0"/>
              <a:t>3</a:t>
            </a:r>
            <a:r>
              <a:rPr lang="zh-CN" altLang="en-US" b="1" dirty="0" smtClean="0"/>
              <a:t>湿热泻</a:t>
            </a:r>
            <a:endParaRPr lang="zh-CN" altLang="en-US" dirty="0" smtClean="0"/>
          </a:p>
          <a:p>
            <a:r>
              <a:rPr lang="zh-CN" altLang="en-US" b="1" dirty="0" smtClean="0"/>
              <a:t>诊断：大便如水样或蛋花样，泻下急迫臭浊，量多，苔黄腻</a:t>
            </a:r>
            <a:endParaRPr lang="zh-CN" altLang="en-US" dirty="0" smtClean="0"/>
          </a:p>
          <a:p>
            <a:r>
              <a:rPr lang="zh-CN" altLang="en-US" b="1" dirty="0" smtClean="0"/>
              <a:t>治疗：补脾经</a:t>
            </a:r>
            <a:r>
              <a:rPr lang="en-US" b="1" dirty="0" smtClean="0"/>
              <a:t>300 </a:t>
            </a:r>
            <a:r>
              <a:rPr lang="zh-CN" altLang="en-US" b="1" dirty="0" smtClean="0"/>
              <a:t>清大肠</a:t>
            </a:r>
            <a:r>
              <a:rPr lang="en-US" b="1" dirty="0" smtClean="0"/>
              <a:t>100 </a:t>
            </a:r>
            <a:r>
              <a:rPr lang="zh-CN" altLang="en-US" b="1" dirty="0" smtClean="0"/>
              <a:t>揉天枢</a:t>
            </a:r>
            <a:r>
              <a:rPr lang="en-US" b="1" dirty="0" smtClean="0"/>
              <a:t>150 </a:t>
            </a:r>
            <a:r>
              <a:rPr lang="zh-CN" altLang="en-US" b="1" dirty="0" smtClean="0"/>
              <a:t>退六腑</a:t>
            </a:r>
            <a:r>
              <a:rPr lang="en-US" b="1" dirty="0" smtClean="0"/>
              <a:t>100 </a:t>
            </a:r>
            <a:r>
              <a:rPr lang="zh-CN" altLang="en-US" b="1" dirty="0" smtClean="0"/>
              <a:t>揉龟尾</a:t>
            </a:r>
            <a:r>
              <a:rPr lang="en-US" b="1" dirty="0" smtClean="0"/>
              <a:t>200</a:t>
            </a:r>
            <a:endParaRPr lang="zh-CN" altLang="en-US" dirty="0" smtClean="0"/>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二呕吐</a:t>
            </a:r>
            <a:endParaRPr lang="zh-CN" altLang="en-US" dirty="0" smtClean="0"/>
          </a:p>
          <a:p>
            <a:r>
              <a:rPr lang="en-US" b="1" dirty="0" smtClean="0"/>
              <a:t>1</a:t>
            </a:r>
            <a:r>
              <a:rPr lang="zh-CN" altLang="en-US" b="1" dirty="0" smtClean="0"/>
              <a:t>伤食呕吐</a:t>
            </a:r>
            <a:endParaRPr lang="zh-CN" altLang="en-US" dirty="0" smtClean="0"/>
          </a:p>
          <a:p>
            <a:r>
              <a:rPr lang="zh-CN" altLang="en-US" b="1" dirty="0" smtClean="0"/>
              <a:t>诊断</a:t>
            </a:r>
            <a:r>
              <a:rPr lang="en-US" b="1" dirty="0" smtClean="0"/>
              <a:t>:</a:t>
            </a:r>
            <a:r>
              <a:rPr lang="zh-CN" altLang="en-US" b="1" dirty="0" smtClean="0"/>
              <a:t>吐物酸臭，食后即吐，吐后则舒，腹中胀满或痛，上腹呈条杠样，下腹有条索状物，苔黄腻，指纹红紫</a:t>
            </a:r>
            <a:endParaRPr lang="zh-CN" altLang="en-US" dirty="0" smtClean="0"/>
          </a:p>
          <a:p>
            <a:r>
              <a:rPr lang="zh-CN" altLang="en-US" b="1" dirty="0" smtClean="0"/>
              <a:t>治疗：补脾经</a:t>
            </a:r>
            <a:r>
              <a:rPr lang="en-US" b="1" dirty="0" smtClean="0"/>
              <a:t>200 </a:t>
            </a:r>
            <a:r>
              <a:rPr lang="zh-CN" altLang="en-US" b="1" dirty="0" smtClean="0"/>
              <a:t>推天柱骨</a:t>
            </a:r>
            <a:r>
              <a:rPr lang="en-US" b="1" dirty="0" smtClean="0"/>
              <a:t>100 </a:t>
            </a:r>
            <a:r>
              <a:rPr lang="zh-CN" altLang="en-US" b="1" dirty="0" smtClean="0"/>
              <a:t>揉板门</a:t>
            </a:r>
            <a:r>
              <a:rPr lang="en-US" b="1" dirty="0" smtClean="0"/>
              <a:t>100 </a:t>
            </a:r>
            <a:r>
              <a:rPr lang="zh-CN" altLang="en-US" b="1" dirty="0" smtClean="0"/>
              <a:t>揉外劳宫</a:t>
            </a:r>
            <a:r>
              <a:rPr lang="en-US" b="1" dirty="0" smtClean="0"/>
              <a:t>100 </a:t>
            </a:r>
            <a:r>
              <a:rPr lang="zh-CN" altLang="en-US" b="1" dirty="0" smtClean="0"/>
              <a:t>搓胁肋</a:t>
            </a:r>
            <a:r>
              <a:rPr lang="en-US" b="1" dirty="0" smtClean="0"/>
              <a:t>100 </a:t>
            </a:r>
            <a:r>
              <a:rPr lang="zh-CN" altLang="en-US" b="1" dirty="0" smtClean="0"/>
              <a:t>揉中脘</a:t>
            </a:r>
            <a:r>
              <a:rPr lang="en-US" b="1" dirty="0" smtClean="0"/>
              <a:t>200 </a:t>
            </a:r>
            <a:r>
              <a:rPr lang="zh-CN" altLang="en-US" b="1" dirty="0" smtClean="0"/>
              <a:t>捏脊</a:t>
            </a:r>
            <a:r>
              <a:rPr lang="en-US" b="1" dirty="0" smtClean="0"/>
              <a:t>6  </a:t>
            </a:r>
            <a:r>
              <a:rPr lang="zh-CN" altLang="en-US" b="1" dirty="0" smtClean="0"/>
              <a:t>拿捏足三里</a:t>
            </a:r>
            <a:r>
              <a:rPr lang="en-US" b="1" dirty="0" smtClean="0"/>
              <a:t>100 </a:t>
            </a:r>
            <a:r>
              <a:rPr lang="zh-CN" altLang="en-US" b="1" dirty="0" smtClean="0"/>
              <a:t>分腹阴阳</a:t>
            </a:r>
            <a:r>
              <a:rPr lang="en-US" b="1" dirty="0" smtClean="0"/>
              <a:t>2</a:t>
            </a:r>
            <a:r>
              <a:rPr lang="zh-CN" altLang="en-US" b="1" dirty="0" smtClean="0"/>
              <a:t>分钟</a:t>
            </a:r>
            <a:endParaRPr lang="zh-CN" altLang="en-US" dirty="0" smtClean="0"/>
          </a:p>
          <a:p>
            <a:pPr lvl="0">
              <a:buNone/>
            </a:pPr>
            <a:endParaRPr lang="en-US" altLang="zh-CN" b="1" dirty="0" smtClean="0"/>
          </a:p>
          <a:p>
            <a:pPr lvl="0">
              <a:buNone/>
            </a:pPr>
            <a:endParaRPr lang="en-US" altLang="zh-CN" b="1" dirty="0" smtClean="0"/>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 </a:t>
            </a:r>
            <a:r>
              <a:rPr lang="en-US" b="1" dirty="0" smtClean="0"/>
              <a:t>2</a:t>
            </a:r>
            <a:r>
              <a:rPr lang="zh-CN" altLang="en-US" b="1" dirty="0" smtClean="0"/>
              <a:t>胃热呕吐</a:t>
            </a:r>
            <a:endParaRPr lang="zh-CN" altLang="en-US" dirty="0" smtClean="0"/>
          </a:p>
          <a:p>
            <a:r>
              <a:rPr lang="zh-CN" altLang="en-US" b="1" dirty="0" smtClean="0"/>
              <a:t>诊断：食入即吐，吐物恶臭，心烦口渴，大便臭秽或密结，小便黄赤，舌红苔黄腻，指纹色紫</a:t>
            </a:r>
            <a:endParaRPr lang="zh-CN" altLang="en-US" dirty="0" smtClean="0"/>
          </a:p>
          <a:p>
            <a:r>
              <a:rPr lang="zh-CN" altLang="en-US" b="1" dirty="0" smtClean="0"/>
              <a:t>治疗：掐揉总筋</a:t>
            </a:r>
            <a:r>
              <a:rPr lang="en-US" b="1" dirty="0" smtClean="0"/>
              <a:t>2</a:t>
            </a:r>
            <a:r>
              <a:rPr lang="zh-CN" altLang="en-US" b="1" dirty="0" smtClean="0"/>
              <a:t>分钟 补脾经</a:t>
            </a:r>
            <a:r>
              <a:rPr lang="en-US" b="1" dirty="0" smtClean="0"/>
              <a:t>300 </a:t>
            </a:r>
            <a:r>
              <a:rPr lang="zh-CN" altLang="en-US" b="1" dirty="0" smtClean="0"/>
              <a:t>清大肠</a:t>
            </a:r>
            <a:r>
              <a:rPr lang="en-US" b="1" dirty="0" smtClean="0"/>
              <a:t>200 </a:t>
            </a:r>
            <a:r>
              <a:rPr lang="zh-CN" altLang="en-US" b="1" dirty="0" smtClean="0"/>
              <a:t>退六腑</a:t>
            </a:r>
            <a:r>
              <a:rPr lang="en-US" b="1" dirty="0" smtClean="0"/>
              <a:t>200 </a:t>
            </a:r>
            <a:r>
              <a:rPr lang="zh-CN" altLang="en-US" b="1" dirty="0" smtClean="0"/>
              <a:t>运内八卦</a:t>
            </a:r>
            <a:r>
              <a:rPr lang="en-US" b="1" dirty="0" smtClean="0"/>
              <a:t>200 </a:t>
            </a:r>
            <a:r>
              <a:rPr lang="zh-CN" altLang="en-US" b="1" dirty="0" smtClean="0"/>
              <a:t>揉板门</a:t>
            </a:r>
            <a:r>
              <a:rPr lang="en-US" b="1" dirty="0" smtClean="0"/>
              <a:t>200 </a:t>
            </a:r>
            <a:r>
              <a:rPr lang="zh-CN" altLang="en-US" b="1" dirty="0" smtClean="0"/>
              <a:t>掐合谷</a:t>
            </a:r>
            <a:r>
              <a:rPr lang="en-US" b="1" dirty="0" smtClean="0"/>
              <a:t>5 </a:t>
            </a:r>
            <a:r>
              <a:rPr lang="zh-CN" altLang="en-US" b="1" dirty="0" smtClean="0"/>
              <a:t>揉足三里</a:t>
            </a:r>
            <a:r>
              <a:rPr lang="en-US" b="1" dirty="0" smtClean="0"/>
              <a:t>100</a:t>
            </a:r>
            <a:endParaRPr lang="zh-CN" altLang="en-US" dirty="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en-US" b="1" dirty="0" smtClean="0"/>
              <a:t>3 </a:t>
            </a:r>
            <a:r>
              <a:rPr lang="zh-CN" altLang="en-US" b="1" dirty="0" smtClean="0"/>
              <a:t>胃寒呕吐</a:t>
            </a:r>
            <a:endParaRPr lang="zh-CN" altLang="en-US" dirty="0" smtClean="0"/>
          </a:p>
          <a:p>
            <a:r>
              <a:rPr lang="zh-CN" altLang="en-US" b="1" dirty="0" smtClean="0"/>
              <a:t>诊断：呕吐多发生在食后不久，时作时止，吐物为不消化物，腹部平软，四肢厥冷，腹中冷痛，大便稀薄而泻，舌淡苔白，指纹色红</a:t>
            </a:r>
            <a:endParaRPr lang="zh-CN" altLang="en-US" dirty="0" smtClean="0"/>
          </a:p>
          <a:p>
            <a:r>
              <a:rPr lang="zh-CN" altLang="en-US" b="1" dirty="0" smtClean="0"/>
              <a:t>治疗：补脾经</a:t>
            </a:r>
            <a:r>
              <a:rPr lang="en-US" b="1" dirty="0" smtClean="0"/>
              <a:t>300 </a:t>
            </a:r>
            <a:r>
              <a:rPr lang="zh-CN" altLang="en-US" b="1" dirty="0" smtClean="0"/>
              <a:t>运内八卦</a:t>
            </a:r>
            <a:r>
              <a:rPr lang="en-US" b="1" dirty="0" smtClean="0"/>
              <a:t>100 </a:t>
            </a:r>
            <a:r>
              <a:rPr lang="zh-CN" altLang="en-US" b="1" dirty="0" smtClean="0"/>
              <a:t>揉外劳宫</a:t>
            </a:r>
            <a:r>
              <a:rPr lang="en-US" b="1" dirty="0" smtClean="0"/>
              <a:t>100 </a:t>
            </a:r>
            <a:r>
              <a:rPr lang="zh-CN" altLang="en-US" b="1" dirty="0" smtClean="0"/>
              <a:t>推天柱骨</a:t>
            </a:r>
            <a:r>
              <a:rPr lang="en-US" b="1" dirty="0" smtClean="0"/>
              <a:t>100 </a:t>
            </a:r>
            <a:r>
              <a:rPr lang="zh-CN" altLang="en-US" b="1" dirty="0" smtClean="0"/>
              <a:t>揉中脘 脾俞 胃俞各</a:t>
            </a:r>
            <a:r>
              <a:rPr lang="en-US" b="1" dirty="0" smtClean="0"/>
              <a:t>100</a:t>
            </a:r>
            <a:endParaRPr lang="zh-CN" altLang="en-US" dirty="0" smtClean="0"/>
          </a:p>
          <a:p>
            <a:r>
              <a:rPr lang="en-US" b="1" dirty="0" smtClean="0"/>
              <a:t> </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三小儿疳积</a:t>
            </a:r>
            <a:endParaRPr lang="zh-CN" altLang="en-US" dirty="0" smtClean="0"/>
          </a:p>
          <a:p>
            <a:r>
              <a:rPr lang="zh-CN" altLang="en-US" b="1" dirty="0" smtClean="0"/>
              <a:t>诊断：小儿厌食，形体消瘦，腹胀拒按，面黄无华，呕吐不消化食物或偏嗜异物，夜眠不安，指纹紫</a:t>
            </a:r>
            <a:endParaRPr lang="zh-CN" altLang="en-US" dirty="0" smtClean="0"/>
          </a:p>
          <a:p>
            <a:r>
              <a:rPr lang="zh-CN" altLang="en-US" b="1" dirty="0" smtClean="0"/>
              <a:t>治疗：补脾经</a:t>
            </a:r>
            <a:r>
              <a:rPr lang="en-US" b="1" dirty="0" smtClean="0"/>
              <a:t>300 </a:t>
            </a:r>
            <a:r>
              <a:rPr lang="zh-CN" altLang="en-US" b="1" dirty="0" smtClean="0"/>
              <a:t>揉板门</a:t>
            </a:r>
            <a:r>
              <a:rPr lang="en-US" b="1" dirty="0" smtClean="0"/>
              <a:t>200 </a:t>
            </a:r>
            <a:r>
              <a:rPr lang="zh-CN" altLang="en-US" b="1" dirty="0" smtClean="0"/>
              <a:t>运内八卦</a:t>
            </a:r>
            <a:r>
              <a:rPr lang="en-US" b="1" dirty="0" smtClean="0"/>
              <a:t>200 </a:t>
            </a:r>
            <a:r>
              <a:rPr lang="zh-CN" altLang="en-US" b="1" dirty="0" smtClean="0"/>
              <a:t>推四横纹</a:t>
            </a:r>
            <a:r>
              <a:rPr lang="en-US" b="1" dirty="0" smtClean="0"/>
              <a:t>200 </a:t>
            </a:r>
            <a:r>
              <a:rPr lang="zh-CN" altLang="en-US" b="1" dirty="0" smtClean="0"/>
              <a:t>分腹阴阳</a:t>
            </a:r>
            <a:r>
              <a:rPr lang="en-US" b="1" dirty="0" smtClean="0"/>
              <a:t>200 </a:t>
            </a:r>
            <a:r>
              <a:rPr lang="zh-CN" altLang="en-US" b="1" dirty="0" smtClean="0"/>
              <a:t>揉中脘 足三里 天枢各</a:t>
            </a:r>
            <a:r>
              <a:rPr lang="en-US" b="1" dirty="0" smtClean="0"/>
              <a:t>100 </a:t>
            </a:r>
            <a:r>
              <a:rPr lang="zh-CN" altLang="en-US" b="1" dirty="0" smtClean="0"/>
              <a:t>捏脊</a:t>
            </a:r>
            <a:r>
              <a:rPr lang="en-US" b="1" dirty="0" smtClean="0"/>
              <a:t>5</a:t>
            </a:r>
            <a:endParaRPr lang="zh-CN" altLang="en-US" dirty="0" smtClean="0"/>
          </a:p>
          <a:p>
            <a:r>
              <a:rPr lang="en-US" b="1" dirty="0" smtClean="0"/>
              <a:t> </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四便秘</a:t>
            </a:r>
            <a:endParaRPr lang="zh-CN" altLang="en-US" dirty="0" smtClean="0"/>
          </a:p>
          <a:p>
            <a:r>
              <a:rPr lang="en-US" b="1" dirty="0" smtClean="0"/>
              <a:t>1</a:t>
            </a:r>
            <a:r>
              <a:rPr lang="zh-CN" altLang="en-US" b="1" dirty="0" smtClean="0"/>
              <a:t>实秘</a:t>
            </a:r>
            <a:endParaRPr lang="zh-CN" altLang="en-US" dirty="0" smtClean="0"/>
          </a:p>
          <a:p>
            <a:r>
              <a:rPr lang="zh-CN" altLang="en-US" b="1" dirty="0" smtClean="0"/>
              <a:t>诊断：大便干结呈羊屎状，排出困难，伴腹痛腹胀，面赤身热，舌红苔黄，指纹色紫</a:t>
            </a:r>
            <a:endParaRPr lang="zh-CN" altLang="en-US" dirty="0" smtClean="0"/>
          </a:p>
          <a:p>
            <a:r>
              <a:rPr lang="zh-CN" altLang="en-US" b="1" dirty="0" smtClean="0"/>
              <a:t>治疗：清大肠</a:t>
            </a:r>
            <a:r>
              <a:rPr lang="en-US" b="1" dirty="0" smtClean="0"/>
              <a:t>100 </a:t>
            </a:r>
            <a:r>
              <a:rPr lang="zh-CN" altLang="en-US" b="1" dirty="0" smtClean="0"/>
              <a:t>退六腑</a:t>
            </a:r>
            <a:r>
              <a:rPr lang="en-US" b="1" dirty="0" smtClean="0"/>
              <a:t>200 </a:t>
            </a:r>
            <a:r>
              <a:rPr lang="zh-CN" altLang="en-US" b="1" dirty="0" smtClean="0"/>
              <a:t>运内八卦</a:t>
            </a:r>
            <a:r>
              <a:rPr lang="en-US" b="1" dirty="0" smtClean="0"/>
              <a:t>100 </a:t>
            </a:r>
            <a:r>
              <a:rPr lang="zh-CN" altLang="en-US" b="1" dirty="0" smtClean="0"/>
              <a:t>摩腹</a:t>
            </a:r>
            <a:r>
              <a:rPr lang="en-US" b="1" dirty="0" smtClean="0"/>
              <a:t>100 </a:t>
            </a:r>
            <a:r>
              <a:rPr lang="zh-CN" altLang="en-US" b="1" dirty="0" smtClean="0"/>
              <a:t>按揉阳池 天枢 足三里 龟尾各</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2</a:t>
            </a:r>
            <a:r>
              <a:rPr lang="zh-CN" altLang="en-US" b="1" dirty="0" smtClean="0"/>
              <a:t>虚秘</a:t>
            </a:r>
            <a:endParaRPr lang="zh-CN" altLang="en-US" dirty="0" smtClean="0"/>
          </a:p>
          <a:p>
            <a:r>
              <a:rPr lang="zh-CN" altLang="en-US" b="1" dirty="0" smtClean="0"/>
              <a:t>诊断：大便不硬，时有便意，但努挣不下，面色无华，神疲气怯，汗出，日久可引起脱肛 舌淡苔白 指纹色淡</a:t>
            </a:r>
            <a:endParaRPr lang="zh-CN" altLang="en-US" dirty="0" smtClean="0"/>
          </a:p>
          <a:p>
            <a:r>
              <a:rPr lang="zh-CN" altLang="en-US" b="1" dirty="0" smtClean="0"/>
              <a:t>治疗：补脾经</a:t>
            </a:r>
            <a:r>
              <a:rPr lang="en-US" b="1" dirty="0" smtClean="0"/>
              <a:t>200 </a:t>
            </a:r>
            <a:r>
              <a:rPr lang="zh-CN" altLang="en-US" b="1" dirty="0" smtClean="0"/>
              <a:t>补大肠</a:t>
            </a:r>
            <a:r>
              <a:rPr lang="en-US" b="1" dirty="0" smtClean="0"/>
              <a:t>100 </a:t>
            </a:r>
            <a:r>
              <a:rPr lang="zh-CN" altLang="en-US" b="1" dirty="0" smtClean="0"/>
              <a:t>推三关</a:t>
            </a:r>
            <a:r>
              <a:rPr lang="en-US" b="1" dirty="0" smtClean="0"/>
              <a:t>150 </a:t>
            </a:r>
            <a:r>
              <a:rPr lang="zh-CN" altLang="en-US" b="1" dirty="0" smtClean="0"/>
              <a:t>揉二马</a:t>
            </a:r>
            <a:r>
              <a:rPr lang="en-US" b="1" dirty="0" smtClean="0"/>
              <a:t>100 </a:t>
            </a:r>
            <a:r>
              <a:rPr lang="zh-CN" altLang="en-US" b="1" dirty="0" smtClean="0"/>
              <a:t>补肾经</a:t>
            </a:r>
            <a:r>
              <a:rPr lang="en-US" b="1" dirty="0" smtClean="0"/>
              <a:t>100 </a:t>
            </a:r>
            <a:r>
              <a:rPr lang="zh-CN" altLang="en-US" b="1" dirty="0" smtClean="0"/>
              <a:t>揉肾俞</a:t>
            </a:r>
            <a:r>
              <a:rPr lang="en-US" b="1" dirty="0" smtClean="0"/>
              <a:t>100 </a:t>
            </a:r>
            <a:r>
              <a:rPr lang="zh-CN" altLang="en-US" b="1" dirty="0" smtClean="0"/>
              <a:t>捏脊</a:t>
            </a:r>
            <a:r>
              <a:rPr lang="en-US" b="1" dirty="0" smtClean="0"/>
              <a:t>3</a:t>
            </a:r>
            <a:r>
              <a:rPr lang="zh-CN" altLang="en-US" b="1" dirty="0" smtClean="0"/>
              <a:t>揉足三里</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五发热</a:t>
            </a:r>
            <a:endParaRPr lang="zh-CN" altLang="en-US" dirty="0" smtClean="0"/>
          </a:p>
          <a:p>
            <a:r>
              <a:rPr lang="en-US" b="1" dirty="0" smtClean="0"/>
              <a:t>1</a:t>
            </a:r>
            <a:r>
              <a:rPr lang="zh-CN" altLang="en-US" b="1" dirty="0" smtClean="0"/>
              <a:t>外感发热</a:t>
            </a:r>
            <a:endParaRPr lang="zh-CN" altLang="en-US" dirty="0" smtClean="0"/>
          </a:p>
          <a:p>
            <a:r>
              <a:rPr lang="zh-CN" altLang="en-US" b="1" dirty="0" smtClean="0"/>
              <a:t>诊断：外感风寒，恶寒重，发热轻，汗少或无汗，流清涕，痰稀白，苔白。</a:t>
            </a:r>
            <a:endParaRPr lang="zh-CN" altLang="en-US" dirty="0" smtClean="0"/>
          </a:p>
          <a:p>
            <a:r>
              <a:rPr lang="en-US" b="1" dirty="0" smtClean="0"/>
              <a:t>      </a:t>
            </a:r>
            <a:r>
              <a:rPr lang="zh-CN" altLang="en-US" b="1" dirty="0" smtClean="0"/>
              <a:t>外感风热，发热重，恶寒轻，咽干喉痛，痰黄，舌红苔黄</a:t>
            </a:r>
            <a:endParaRPr lang="zh-CN" altLang="en-US" dirty="0" smtClean="0"/>
          </a:p>
          <a:p>
            <a:r>
              <a:rPr lang="zh-CN" altLang="en-US" b="1" dirty="0" smtClean="0"/>
              <a:t>治疗：清肺经</a:t>
            </a:r>
            <a:r>
              <a:rPr lang="en-US" b="1" dirty="0" smtClean="0"/>
              <a:t>150 </a:t>
            </a:r>
            <a:r>
              <a:rPr lang="zh-CN" altLang="en-US" b="1" dirty="0" smtClean="0"/>
              <a:t>运太阳</a:t>
            </a:r>
            <a:r>
              <a:rPr lang="en-US" b="1" dirty="0" smtClean="0"/>
              <a:t>150 </a:t>
            </a:r>
            <a:r>
              <a:rPr lang="zh-CN" altLang="en-US" b="1" dirty="0" smtClean="0"/>
              <a:t>推坎宫</a:t>
            </a:r>
            <a:r>
              <a:rPr lang="en-US" b="1" dirty="0" smtClean="0"/>
              <a:t>150 </a:t>
            </a:r>
            <a:r>
              <a:rPr lang="zh-CN" altLang="en-US" b="1" dirty="0" smtClean="0"/>
              <a:t>清天河水</a:t>
            </a:r>
            <a:r>
              <a:rPr lang="en-US" b="1" dirty="0" smtClean="0"/>
              <a:t>100 </a:t>
            </a:r>
            <a:endParaRPr lang="zh-CN" altLang="en-US" dirty="0" smtClean="0"/>
          </a:p>
          <a:p>
            <a:r>
              <a:rPr lang="en-US" b="1" dirty="0" smtClean="0"/>
              <a:t>      </a:t>
            </a:r>
            <a:r>
              <a:rPr lang="zh-CN" altLang="en-US" b="1" dirty="0" smtClean="0"/>
              <a:t>风热加推脊</a:t>
            </a:r>
            <a:r>
              <a:rPr lang="en-US" b="1" dirty="0" smtClean="0"/>
              <a:t>100 </a:t>
            </a:r>
            <a:r>
              <a:rPr lang="zh-CN" altLang="en-US" b="1" dirty="0" smtClean="0"/>
              <a:t>退六腑</a:t>
            </a:r>
            <a:r>
              <a:rPr lang="en-US" b="1" dirty="0" smtClean="0"/>
              <a:t>100</a:t>
            </a:r>
            <a:endParaRPr lang="zh-CN" altLang="en-US" dirty="0" smtClean="0"/>
          </a:p>
          <a:p>
            <a:r>
              <a:rPr lang="zh-CN" altLang="en-US" b="1" dirty="0" smtClean="0"/>
              <a:t>风寒加推三关</a:t>
            </a:r>
            <a:r>
              <a:rPr lang="en-US" b="1" dirty="0" smtClean="0"/>
              <a:t>150 </a:t>
            </a:r>
            <a:r>
              <a:rPr lang="zh-CN" altLang="en-US" b="1" dirty="0" smtClean="0"/>
              <a:t>掐揉二扇门</a:t>
            </a:r>
            <a:r>
              <a:rPr lang="en-US" b="1" dirty="0" smtClean="0"/>
              <a:t>150 </a:t>
            </a:r>
            <a:r>
              <a:rPr lang="zh-CN" altLang="en-US" b="1" dirty="0" smtClean="0"/>
              <a:t>拿风池</a:t>
            </a:r>
            <a:r>
              <a:rPr lang="en-US" b="1" dirty="0" smtClean="0"/>
              <a:t>5 </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2 </a:t>
            </a:r>
            <a:r>
              <a:rPr lang="zh-CN" altLang="en-US" b="1" dirty="0" smtClean="0"/>
              <a:t>阴虚发热</a:t>
            </a:r>
            <a:endParaRPr lang="zh-CN" altLang="en-US" dirty="0" smtClean="0"/>
          </a:p>
          <a:p>
            <a:r>
              <a:rPr lang="zh-CN" altLang="en-US" b="1" dirty="0" smtClean="0"/>
              <a:t>诊断：全身发热但热度不高，午后潮热加重，五心烦热，颧红盗汗，舌红苔少，指纹淡紫</a:t>
            </a:r>
            <a:endParaRPr lang="zh-CN" altLang="en-US" dirty="0" smtClean="0"/>
          </a:p>
          <a:p>
            <a:r>
              <a:rPr lang="zh-CN" altLang="en-US" b="1" dirty="0" smtClean="0"/>
              <a:t>治疗：补肾经</a:t>
            </a:r>
            <a:r>
              <a:rPr lang="en-US" b="1" dirty="0" smtClean="0"/>
              <a:t>150 </a:t>
            </a:r>
            <a:r>
              <a:rPr lang="zh-CN" altLang="en-US" b="1" dirty="0" smtClean="0"/>
              <a:t>补脾经</a:t>
            </a:r>
            <a:r>
              <a:rPr lang="en-US" b="1" dirty="0" smtClean="0"/>
              <a:t>150 </a:t>
            </a:r>
            <a:r>
              <a:rPr lang="zh-CN" altLang="en-US" b="1" dirty="0" smtClean="0"/>
              <a:t>清天河水</a:t>
            </a:r>
            <a:r>
              <a:rPr lang="en-US" b="1" dirty="0" smtClean="0"/>
              <a:t>100 </a:t>
            </a:r>
            <a:r>
              <a:rPr lang="zh-CN" altLang="en-US" b="1" dirty="0" smtClean="0"/>
              <a:t>揉涌泉</a:t>
            </a:r>
            <a:r>
              <a:rPr lang="en-US" b="1" dirty="0" smtClean="0"/>
              <a:t>200 </a:t>
            </a:r>
            <a:r>
              <a:rPr lang="zh-CN" altLang="en-US" b="1" dirty="0" smtClean="0"/>
              <a:t>揉二马</a:t>
            </a:r>
            <a:r>
              <a:rPr lang="en-US" b="1" dirty="0" smtClean="0"/>
              <a:t>150 </a:t>
            </a:r>
            <a:r>
              <a:rPr lang="zh-CN" altLang="en-US" b="1" dirty="0" smtClean="0"/>
              <a:t>运内八卦</a:t>
            </a:r>
            <a:r>
              <a:rPr lang="en-US" b="1" dirty="0" smtClean="0"/>
              <a:t>100 </a:t>
            </a:r>
            <a:r>
              <a:rPr lang="zh-CN" altLang="en-US" b="1" dirty="0" smtClean="0"/>
              <a:t>分手阴阳</a:t>
            </a:r>
            <a:r>
              <a:rPr lang="en-US" b="1" dirty="0" smtClean="0"/>
              <a:t>100 </a:t>
            </a:r>
            <a:r>
              <a:rPr lang="zh-CN" altLang="en-US" b="1" dirty="0" smtClean="0"/>
              <a:t>运内劳宫</a:t>
            </a:r>
            <a:r>
              <a:rPr lang="en-US" b="1" dirty="0" smtClean="0"/>
              <a:t>100 </a:t>
            </a:r>
            <a:r>
              <a:rPr lang="zh-CN" altLang="en-US" b="1" dirty="0" smtClean="0"/>
              <a:t>按足三里</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六 咳嗽</a:t>
            </a:r>
            <a:endParaRPr lang="zh-CN" altLang="en-US" dirty="0" smtClean="0"/>
          </a:p>
          <a:p>
            <a:r>
              <a:rPr lang="en-US" b="1" dirty="0" smtClean="0"/>
              <a:t>1 </a:t>
            </a:r>
            <a:r>
              <a:rPr lang="zh-CN" altLang="en-US" b="1" dirty="0" smtClean="0"/>
              <a:t>风寒咳嗽</a:t>
            </a:r>
            <a:endParaRPr lang="zh-CN" altLang="en-US" dirty="0" smtClean="0"/>
          </a:p>
          <a:p>
            <a:r>
              <a:rPr lang="zh-CN" altLang="en-US" b="1" dirty="0" smtClean="0"/>
              <a:t>诊断：初起咳嗽频作，以干咳为主，痰量少质稀色白，怕冷无汗，兼有恶寒头痛或有发热，舌淡红，苔薄白</a:t>
            </a:r>
            <a:endParaRPr lang="zh-CN" altLang="en-US" dirty="0" smtClean="0"/>
          </a:p>
          <a:p>
            <a:r>
              <a:rPr lang="en-US" b="1" dirty="0" smtClean="0"/>
              <a:t>2 </a:t>
            </a:r>
            <a:r>
              <a:rPr lang="zh-CN" altLang="en-US" b="1" dirty="0" smtClean="0"/>
              <a:t>风热咳嗽</a:t>
            </a:r>
            <a:endParaRPr lang="zh-CN" altLang="en-US" dirty="0" smtClean="0"/>
          </a:p>
          <a:p>
            <a:r>
              <a:rPr lang="zh-CN" altLang="en-US" b="1" dirty="0" smtClean="0"/>
              <a:t>诊断：初起咳嗽不爽，咽痛，口干，吐痰粘稠，色黄，不易咳出，兼有发热重恶寒轻，舌红苔黄</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外感咳嗽治疗：清肺经</a:t>
            </a:r>
            <a:r>
              <a:rPr lang="en-US" b="1" dirty="0" smtClean="0"/>
              <a:t>150 </a:t>
            </a:r>
            <a:r>
              <a:rPr lang="zh-CN" altLang="en-US" b="1" dirty="0" smtClean="0"/>
              <a:t>运内八卦</a:t>
            </a:r>
            <a:r>
              <a:rPr lang="en-US" b="1" dirty="0" smtClean="0"/>
              <a:t>100 </a:t>
            </a:r>
            <a:r>
              <a:rPr lang="zh-CN" altLang="en-US" b="1" dirty="0" smtClean="0"/>
              <a:t>揉太阳</a:t>
            </a:r>
            <a:r>
              <a:rPr lang="en-US" b="1" dirty="0" smtClean="0"/>
              <a:t>150 </a:t>
            </a:r>
            <a:r>
              <a:rPr lang="zh-CN" altLang="en-US" b="1" dirty="0" smtClean="0"/>
              <a:t>推揉膻中</a:t>
            </a:r>
            <a:r>
              <a:rPr lang="en-US" b="1" dirty="0" smtClean="0"/>
              <a:t>200 </a:t>
            </a:r>
            <a:r>
              <a:rPr lang="zh-CN" altLang="en-US" b="1" dirty="0" smtClean="0"/>
              <a:t>揉乳根</a:t>
            </a:r>
            <a:r>
              <a:rPr lang="en-US" b="1" dirty="0" smtClean="0"/>
              <a:t>100 </a:t>
            </a:r>
            <a:r>
              <a:rPr lang="zh-CN" altLang="en-US" b="1" dirty="0" smtClean="0"/>
              <a:t>揉肺腧</a:t>
            </a:r>
            <a:r>
              <a:rPr lang="en-US" b="1" dirty="0" smtClean="0"/>
              <a:t>100 </a:t>
            </a:r>
            <a:r>
              <a:rPr lang="zh-CN" altLang="en-US" b="1" dirty="0" smtClean="0"/>
              <a:t>拿风池</a:t>
            </a:r>
            <a:r>
              <a:rPr lang="en-US" b="1" dirty="0" smtClean="0"/>
              <a:t>50 </a:t>
            </a:r>
            <a:r>
              <a:rPr lang="zh-CN" altLang="en-US" b="1" dirty="0" smtClean="0"/>
              <a:t>分推肩胛骨</a:t>
            </a:r>
            <a:r>
              <a:rPr lang="en-US" b="1" dirty="0" smtClean="0"/>
              <a:t>100 </a:t>
            </a:r>
            <a:endParaRPr lang="zh-CN" altLang="en-US" dirty="0" smtClean="0"/>
          </a:p>
          <a:p>
            <a:r>
              <a:rPr lang="zh-CN" altLang="en-US" b="1" dirty="0" smtClean="0"/>
              <a:t>风寒咳嗽加推三关</a:t>
            </a:r>
            <a:r>
              <a:rPr lang="en-US" b="1" dirty="0" smtClean="0"/>
              <a:t>150 </a:t>
            </a:r>
            <a:r>
              <a:rPr lang="zh-CN" altLang="en-US" b="1" dirty="0" smtClean="0"/>
              <a:t>掐揉二扇门</a:t>
            </a:r>
            <a:r>
              <a:rPr lang="en-US" b="1" dirty="0" smtClean="0"/>
              <a:t>15 </a:t>
            </a:r>
            <a:r>
              <a:rPr lang="zh-CN" altLang="en-US" b="1" dirty="0" smtClean="0"/>
              <a:t>揉外劳宫</a:t>
            </a:r>
            <a:r>
              <a:rPr lang="en-US" b="1" dirty="0" smtClean="0"/>
              <a:t>100</a:t>
            </a:r>
            <a:endParaRPr lang="zh-CN" altLang="en-US" dirty="0" smtClean="0"/>
          </a:p>
          <a:p>
            <a:r>
              <a:rPr lang="zh-CN" altLang="en-US" b="1" dirty="0" smtClean="0"/>
              <a:t>风热咳嗽加退六腑</a:t>
            </a:r>
            <a:r>
              <a:rPr lang="en-US" b="1" dirty="0" smtClean="0"/>
              <a:t>150 </a:t>
            </a:r>
            <a:r>
              <a:rPr lang="zh-CN" altLang="en-US" b="1" dirty="0" smtClean="0"/>
              <a:t>清天河水</a:t>
            </a:r>
            <a:r>
              <a:rPr lang="en-US" b="1" dirty="0" smtClean="0"/>
              <a:t>100 </a:t>
            </a:r>
            <a:r>
              <a:rPr lang="zh-CN" altLang="en-US" b="1" dirty="0" smtClean="0"/>
              <a:t>推天柱骨</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3</a:t>
            </a:r>
            <a:r>
              <a:rPr lang="zh-CN" altLang="en-US" b="1" dirty="0" smtClean="0"/>
              <a:t>痰浊咳嗽</a:t>
            </a:r>
            <a:endParaRPr lang="zh-CN" altLang="en-US" dirty="0" smtClean="0"/>
          </a:p>
          <a:p>
            <a:r>
              <a:rPr lang="zh-CN" altLang="en-US" b="1" dirty="0" smtClean="0"/>
              <a:t>诊断：咳嗽痰多，胸闷纳呆，神疲乏力，其中偏于痰热者痰黄粘稠或伴有发热口渴，大便干结，舌红苔黄。偏于湿者痰色白清稀，喉中有痰声，舌淡苔白</a:t>
            </a:r>
            <a:endParaRPr lang="zh-CN" altLang="en-US" dirty="0" smtClean="0"/>
          </a:p>
          <a:p>
            <a:r>
              <a:rPr lang="zh-CN" altLang="en-US" b="1" dirty="0" smtClean="0"/>
              <a:t>治疗：补脾经</a:t>
            </a:r>
            <a:r>
              <a:rPr lang="en-US" b="1" dirty="0" smtClean="0"/>
              <a:t>200 </a:t>
            </a:r>
            <a:r>
              <a:rPr lang="zh-CN" altLang="en-US" b="1" dirty="0" smtClean="0"/>
              <a:t>清肺经</a:t>
            </a:r>
            <a:r>
              <a:rPr lang="en-US" b="1" dirty="0" smtClean="0"/>
              <a:t>150 </a:t>
            </a:r>
            <a:r>
              <a:rPr lang="zh-CN" altLang="en-US" b="1" dirty="0" smtClean="0"/>
              <a:t>运内八卦</a:t>
            </a:r>
            <a:r>
              <a:rPr lang="en-US" b="1" dirty="0" smtClean="0"/>
              <a:t>100 </a:t>
            </a:r>
            <a:r>
              <a:rPr lang="zh-CN" altLang="en-US" b="1" dirty="0" smtClean="0"/>
              <a:t>揉乳根</a:t>
            </a:r>
            <a:r>
              <a:rPr lang="en-US" b="1" dirty="0" smtClean="0"/>
              <a:t>100 </a:t>
            </a:r>
            <a:r>
              <a:rPr lang="zh-CN" altLang="en-US" b="1" dirty="0" smtClean="0"/>
              <a:t>揉膻中</a:t>
            </a:r>
            <a:r>
              <a:rPr lang="en-US" b="1" dirty="0" smtClean="0"/>
              <a:t>150 </a:t>
            </a:r>
            <a:r>
              <a:rPr lang="zh-CN" altLang="en-US" b="1" dirty="0" smtClean="0"/>
              <a:t>揉足三里</a:t>
            </a:r>
            <a:r>
              <a:rPr lang="en-US" b="1" dirty="0" smtClean="0"/>
              <a:t>150 </a:t>
            </a:r>
            <a:endParaRPr lang="zh-CN" altLang="en-US" dirty="0" smtClean="0"/>
          </a:p>
          <a:p>
            <a:r>
              <a:rPr lang="zh-CN" altLang="en-US" b="1" dirty="0" smtClean="0"/>
              <a:t>痰热咳嗽加退六腑</a:t>
            </a:r>
            <a:r>
              <a:rPr lang="en-US" b="1" dirty="0" smtClean="0"/>
              <a:t>150 </a:t>
            </a:r>
            <a:r>
              <a:rPr lang="zh-CN" altLang="en-US" b="1" dirty="0" smtClean="0"/>
              <a:t>清大肠</a:t>
            </a:r>
            <a:r>
              <a:rPr lang="en-US" b="1" dirty="0" smtClean="0"/>
              <a:t>100 </a:t>
            </a:r>
            <a:r>
              <a:rPr lang="zh-CN" altLang="en-US" b="1" dirty="0" smtClean="0"/>
              <a:t>清天河水</a:t>
            </a:r>
            <a:r>
              <a:rPr lang="en-US" b="1" dirty="0" smtClean="0"/>
              <a:t>100</a:t>
            </a:r>
            <a:endParaRPr lang="zh-CN" altLang="en-US" dirty="0" smtClean="0"/>
          </a:p>
          <a:p>
            <a:r>
              <a:rPr lang="zh-CN" altLang="en-US" b="1" dirty="0" smtClean="0"/>
              <a:t>湿盛咳嗽加揉三阴交</a:t>
            </a:r>
            <a:r>
              <a:rPr lang="en-US" b="1" dirty="0" smtClean="0"/>
              <a:t>150 </a:t>
            </a:r>
            <a:r>
              <a:rPr lang="zh-CN" altLang="en-US" b="1" dirty="0" smtClean="0"/>
              <a:t>揉太溪</a:t>
            </a:r>
            <a:r>
              <a:rPr lang="en-US" b="1" dirty="0" smtClean="0"/>
              <a:t>100 </a:t>
            </a:r>
            <a:r>
              <a:rPr lang="zh-CN" altLang="en-US" b="1" dirty="0" smtClean="0"/>
              <a:t>揉阴陵泉</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4</a:t>
            </a:r>
            <a:r>
              <a:rPr lang="zh-CN" altLang="en-US" b="1" dirty="0" smtClean="0"/>
              <a:t>气虚咳嗽</a:t>
            </a:r>
            <a:endParaRPr lang="zh-CN" altLang="en-US" dirty="0" smtClean="0"/>
          </a:p>
          <a:p>
            <a:r>
              <a:rPr lang="zh-CN" altLang="en-US" b="1" dirty="0" smtClean="0"/>
              <a:t>诊断：咳嗽反复发作以晨起为主，痰少或多，色白质稀，面色发白，自汗多，气短懒</a:t>
            </a:r>
            <a:endParaRPr lang="zh-CN" altLang="en-US" dirty="0" smtClean="0"/>
          </a:p>
          <a:p>
            <a:r>
              <a:rPr lang="zh-CN" altLang="en-US" b="1" dirty="0" smtClean="0"/>
              <a:t>言，语音低怯，舌淡有齿痕</a:t>
            </a:r>
            <a:endParaRPr lang="zh-CN" altLang="en-US" dirty="0" smtClean="0"/>
          </a:p>
          <a:p>
            <a:r>
              <a:rPr lang="zh-CN" altLang="en-US" b="1" dirty="0" smtClean="0"/>
              <a:t>治疗：补脾经</a:t>
            </a:r>
            <a:r>
              <a:rPr lang="en-US" b="1" dirty="0" smtClean="0"/>
              <a:t>200 </a:t>
            </a:r>
            <a:r>
              <a:rPr lang="zh-CN" altLang="en-US" b="1" dirty="0" smtClean="0"/>
              <a:t>清肺经</a:t>
            </a:r>
            <a:r>
              <a:rPr lang="en-US" b="1" dirty="0" smtClean="0"/>
              <a:t>50 </a:t>
            </a:r>
            <a:r>
              <a:rPr lang="zh-CN" altLang="en-US" b="1" dirty="0" smtClean="0"/>
              <a:t>揉乳根</a:t>
            </a:r>
            <a:r>
              <a:rPr lang="en-US" b="1" dirty="0" smtClean="0"/>
              <a:t>100 </a:t>
            </a:r>
            <a:r>
              <a:rPr lang="zh-CN" altLang="en-US" b="1" dirty="0" smtClean="0"/>
              <a:t>揉肺俞</a:t>
            </a:r>
            <a:r>
              <a:rPr lang="en-US" b="1" dirty="0" smtClean="0"/>
              <a:t>100 </a:t>
            </a:r>
            <a:r>
              <a:rPr lang="zh-CN" altLang="en-US" b="1" dirty="0" smtClean="0"/>
              <a:t>捏脊</a:t>
            </a:r>
            <a:r>
              <a:rPr lang="en-US" b="1" dirty="0" smtClean="0"/>
              <a:t>3 </a:t>
            </a:r>
            <a:r>
              <a:rPr lang="zh-CN" altLang="en-US" b="1" dirty="0" smtClean="0"/>
              <a:t>揉气海</a:t>
            </a:r>
            <a:r>
              <a:rPr lang="en-US" b="1" dirty="0" smtClean="0"/>
              <a:t>100 </a:t>
            </a:r>
            <a:r>
              <a:rPr lang="zh-CN" altLang="en-US" b="1" dirty="0" smtClean="0"/>
              <a:t>揉足三里</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en-US" b="1" dirty="0" smtClean="0"/>
              <a:t>5</a:t>
            </a:r>
            <a:r>
              <a:rPr lang="zh-CN" altLang="en-US" b="1" dirty="0" smtClean="0"/>
              <a:t>阴虚咳嗽</a:t>
            </a:r>
            <a:endParaRPr lang="zh-CN" altLang="en-US" dirty="0" smtClean="0"/>
          </a:p>
          <a:p>
            <a:r>
              <a:rPr lang="zh-CN" altLang="en-US" b="1" dirty="0" smtClean="0"/>
              <a:t>诊断：干咳无痰或痰少而粘稠，咯出不爽，咽干口燥，午后潮热，夜间盗汗，舌红苔少</a:t>
            </a:r>
            <a:endParaRPr lang="zh-CN" altLang="en-US" dirty="0" smtClean="0"/>
          </a:p>
          <a:p>
            <a:r>
              <a:rPr lang="zh-CN" altLang="en-US" b="1" dirty="0" smtClean="0"/>
              <a:t>治疗：补肾经</a:t>
            </a:r>
            <a:r>
              <a:rPr lang="en-US" b="1" dirty="0" smtClean="0"/>
              <a:t>150 </a:t>
            </a:r>
            <a:r>
              <a:rPr lang="zh-CN" altLang="en-US" b="1" dirty="0" smtClean="0"/>
              <a:t>清肺经</a:t>
            </a:r>
            <a:r>
              <a:rPr lang="en-US" b="1" dirty="0" smtClean="0"/>
              <a:t>100 </a:t>
            </a:r>
            <a:r>
              <a:rPr lang="zh-CN" altLang="en-US" b="1" dirty="0" smtClean="0"/>
              <a:t>揉二马</a:t>
            </a:r>
            <a:r>
              <a:rPr lang="en-US" b="1" dirty="0" smtClean="0"/>
              <a:t>150 </a:t>
            </a:r>
            <a:r>
              <a:rPr lang="zh-CN" altLang="en-US" b="1" dirty="0" smtClean="0"/>
              <a:t>清天河水</a:t>
            </a:r>
            <a:r>
              <a:rPr lang="en-US" b="1" dirty="0" smtClean="0"/>
              <a:t>150 </a:t>
            </a:r>
            <a:r>
              <a:rPr lang="zh-CN" altLang="en-US" b="1" dirty="0" smtClean="0"/>
              <a:t>运内劳宫</a:t>
            </a:r>
            <a:r>
              <a:rPr lang="en-US" b="1" dirty="0" smtClean="0"/>
              <a:t>100 </a:t>
            </a:r>
            <a:r>
              <a:rPr lang="zh-CN" altLang="en-US" b="1" dirty="0" smtClean="0"/>
              <a:t>揉足三里</a:t>
            </a:r>
            <a:r>
              <a:rPr lang="en-US" b="1" dirty="0" smtClean="0"/>
              <a:t>100</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七 遗尿</a:t>
            </a:r>
            <a:endParaRPr lang="zh-CN" altLang="en-US" dirty="0" smtClean="0"/>
          </a:p>
          <a:p>
            <a:r>
              <a:rPr lang="en-US" b="1" dirty="0" smtClean="0"/>
              <a:t>1</a:t>
            </a:r>
            <a:r>
              <a:rPr lang="zh-CN" altLang="en-US" b="1" dirty="0" smtClean="0"/>
              <a:t>下元虚冷</a:t>
            </a:r>
            <a:endParaRPr lang="zh-CN" altLang="en-US" dirty="0" smtClean="0"/>
          </a:p>
          <a:p>
            <a:r>
              <a:rPr lang="zh-CN" altLang="en-US" b="1" dirty="0" smtClean="0"/>
              <a:t>诊断：睡中遗尿，一夜</a:t>
            </a:r>
            <a:r>
              <a:rPr lang="en-US" b="1" dirty="0" smtClean="0"/>
              <a:t>1-2</a:t>
            </a:r>
            <a:r>
              <a:rPr lang="zh-CN" altLang="en-US" b="1" dirty="0" smtClean="0"/>
              <a:t>次，醒后方知，或有睡梦中找厕所不得而遗，小便清长，腰膝酸软，舌淡苔少</a:t>
            </a:r>
            <a:endParaRPr lang="zh-CN" altLang="en-US" dirty="0" smtClean="0"/>
          </a:p>
          <a:p>
            <a:r>
              <a:rPr lang="zh-CN" altLang="en-US" b="1" dirty="0" smtClean="0"/>
              <a:t>治疗：补肾经</a:t>
            </a:r>
            <a:r>
              <a:rPr lang="en-US" b="1" dirty="0" smtClean="0"/>
              <a:t>300 </a:t>
            </a:r>
            <a:r>
              <a:rPr lang="zh-CN" altLang="en-US" b="1" dirty="0" smtClean="0"/>
              <a:t>推三关</a:t>
            </a:r>
            <a:r>
              <a:rPr lang="en-US" b="1" dirty="0" smtClean="0"/>
              <a:t>300 </a:t>
            </a:r>
            <a:r>
              <a:rPr lang="zh-CN" altLang="en-US" b="1" dirty="0" smtClean="0"/>
              <a:t>揉神阙</a:t>
            </a:r>
            <a:r>
              <a:rPr lang="en-US" b="1" dirty="0" smtClean="0"/>
              <a:t>200 </a:t>
            </a:r>
            <a:r>
              <a:rPr lang="zh-CN" altLang="en-US" b="1" dirty="0" smtClean="0"/>
              <a:t>揉外劳宫</a:t>
            </a:r>
            <a:r>
              <a:rPr lang="en-US" b="1" dirty="0" smtClean="0"/>
              <a:t>150 </a:t>
            </a:r>
            <a:r>
              <a:rPr lang="zh-CN" altLang="en-US" b="1" dirty="0" smtClean="0"/>
              <a:t>揉三阴交 肾俞 腰阳关</a:t>
            </a:r>
            <a:r>
              <a:rPr lang="en-US" b="1" dirty="0" smtClean="0"/>
              <a:t> 200 </a:t>
            </a:r>
            <a:r>
              <a:rPr lang="zh-CN" altLang="en-US" b="1" dirty="0" smtClean="0"/>
              <a:t>揉百会 丹田 小天心</a:t>
            </a:r>
            <a:r>
              <a:rPr lang="en-US" b="1" dirty="0" smtClean="0"/>
              <a:t>100</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en-US" b="1" dirty="0" smtClean="0"/>
              <a:t>2</a:t>
            </a:r>
            <a:r>
              <a:rPr lang="zh-CN" altLang="en-US" b="1" dirty="0" smtClean="0"/>
              <a:t>脾肺气虚</a:t>
            </a:r>
            <a:endParaRPr lang="zh-CN" altLang="en-US" dirty="0" smtClean="0"/>
          </a:p>
          <a:p>
            <a:r>
              <a:rPr lang="zh-CN" altLang="en-US" b="1" dirty="0" smtClean="0"/>
              <a:t>诊断：遗尿量少，少气懒言，食欲不振，便溏，自汗，偏于肺虚者可见患儿动则汗出，量多如雨，舌淡</a:t>
            </a:r>
            <a:endParaRPr lang="zh-CN" altLang="en-US" dirty="0" smtClean="0"/>
          </a:p>
          <a:p>
            <a:r>
              <a:rPr lang="zh-CN" altLang="en-US" b="1" dirty="0" smtClean="0"/>
              <a:t>治疗：补脾经</a:t>
            </a:r>
            <a:r>
              <a:rPr lang="en-US" b="1" dirty="0" smtClean="0"/>
              <a:t>300 </a:t>
            </a:r>
            <a:r>
              <a:rPr lang="zh-CN" altLang="en-US" b="1" dirty="0" smtClean="0"/>
              <a:t>补肺经</a:t>
            </a:r>
            <a:r>
              <a:rPr lang="en-US" b="1" dirty="0" smtClean="0"/>
              <a:t>300 </a:t>
            </a:r>
            <a:r>
              <a:rPr lang="zh-CN" altLang="en-US" b="1" dirty="0" smtClean="0"/>
              <a:t>揉外劳宫</a:t>
            </a:r>
            <a:r>
              <a:rPr lang="en-US" b="1" dirty="0" smtClean="0"/>
              <a:t>300 </a:t>
            </a:r>
            <a:r>
              <a:rPr lang="zh-CN" altLang="en-US" b="1" dirty="0" smtClean="0"/>
              <a:t>推三关</a:t>
            </a:r>
            <a:r>
              <a:rPr lang="en-US" b="1" dirty="0" smtClean="0"/>
              <a:t>200 </a:t>
            </a:r>
            <a:r>
              <a:rPr lang="zh-CN" altLang="en-US" b="1" dirty="0" smtClean="0"/>
              <a:t>运内八卦</a:t>
            </a:r>
            <a:r>
              <a:rPr lang="en-US" b="1" dirty="0" smtClean="0"/>
              <a:t>100</a:t>
            </a:r>
            <a:r>
              <a:rPr lang="zh-CN" altLang="en-US" b="1" dirty="0" smtClean="0"/>
              <a:t>揉一窝风</a:t>
            </a:r>
            <a:r>
              <a:rPr lang="en-US" b="1" dirty="0" smtClean="0"/>
              <a:t>100 </a:t>
            </a:r>
            <a:r>
              <a:rPr lang="zh-CN" altLang="en-US" b="1" dirty="0" smtClean="0"/>
              <a:t>分手阴阳</a:t>
            </a:r>
            <a:r>
              <a:rPr lang="en-US" b="1" dirty="0" smtClean="0"/>
              <a:t>100 </a:t>
            </a:r>
            <a:r>
              <a:rPr lang="zh-CN" altLang="en-US" b="1" dirty="0" smtClean="0"/>
              <a:t>揉百会</a:t>
            </a:r>
            <a:r>
              <a:rPr lang="en-US" b="1" dirty="0" smtClean="0"/>
              <a:t>100 </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en-US" b="1" dirty="0" smtClean="0"/>
              <a:t>3</a:t>
            </a:r>
            <a:r>
              <a:rPr lang="zh-CN" altLang="en-US" b="1" dirty="0" smtClean="0"/>
              <a:t>肝经 郁热</a:t>
            </a:r>
            <a:endParaRPr lang="zh-CN" altLang="en-US" dirty="0" smtClean="0"/>
          </a:p>
          <a:p>
            <a:r>
              <a:rPr lang="zh-CN" altLang="en-US" b="1" dirty="0" smtClean="0"/>
              <a:t>诊断</a:t>
            </a:r>
            <a:r>
              <a:rPr lang="en-US" b="1" dirty="0" smtClean="0"/>
              <a:t>:</a:t>
            </a:r>
            <a:r>
              <a:rPr lang="zh-CN" altLang="en-US" b="1" dirty="0" smtClean="0"/>
              <a:t>小便色黄 ，气味较浓，平素性情急躁，面红唇赤，苔黄</a:t>
            </a:r>
            <a:endParaRPr lang="zh-CN" altLang="en-US" dirty="0" smtClean="0"/>
          </a:p>
          <a:p>
            <a:r>
              <a:rPr lang="zh-CN" altLang="en-US" b="1" dirty="0" smtClean="0"/>
              <a:t>治疗：泻肝经</a:t>
            </a:r>
            <a:r>
              <a:rPr lang="en-US" b="1" dirty="0" smtClean="0"/>
              <a:t>300 </a:t>
            </a:r>
            <a:r>
              <a:rPr lang="zh-CN" altLang="en-US" b="1" dirty="0" smtClean="0"/>
              <a:t>泻心经</a:t>
            </a:r>
            <a:r>
              <a:rPr lang="en-US" b="1" dirty="0" smtClean="0"/>
              <a:t>200 </a:t>
            </a:r>
            <a:r>
              <a:rPr lang="zh-CN" altLang="en-US" b="1" dirty="0" smtClean="0"/>
              <a:t>揉二马</a:t>
            </a:r>
            <a:r>
              <a:rPr lang="en-US" b="1" dirty="0" smtClean="0"/>
              <a:t>200 </a:t>
            </a:r>
            <a:r>
              <a:rPr lang="zh-CN" altLang="en-US" b="1" dirty="0" smtClean="0"/>
              <a:t>揉三阴交</a:t>
            </a:r>
            <a:r>
              <a:rPr lang="en-US" b="1" dirty="0" smtClean="0"/>
              <a:t>100 </a:t>
            </a:r>
            <a:r>
              <a:rPr lang="zh-CN" altLang="en-US" b="1" dirty="0" smtClean="0"/>
              <a:t>揉涌泉</a:t>
            </a:r>
            <a:r>
              <a:rPr lang="en-US" b="1" dirty="0" smtClean="0"/>
              <a:t>100 </a:t>
            </a:r>
            <a:r>
              <a:rPr lang="zh-CN" altLang="en-US" b="1" dirty="0" smtClean="0"/>
              <a:t>揉阴陵泉</a:t>
            </a:r>
            <a:r>
              <a:rPr lang="en-US" b="1" dirty="0" smtClean="0"/>
              <a:t>100</a:t>
            </a:r>
            <a:endParaRPr lang="zh-CN" altLang="en-US" dirty="0" smtClean="0"/>
          </a:p>
          <a:p>
            <a:r>
              <a:rPr lang="en-US" b="1" dirty="0" smtClean="0"/>
              <a:t> </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八 小儿夜啼</a:t>
            </a:r>
            <a:endParaRPr lang="zh-CN" altLang="en-US" dirty="0" smtClean="0"/>
          </a:p>
          <a:p>
            <a:r>
              <a:rPr lang="en-US" b="1" dirty="0" smtClean="0"/>
              <a:t>1 </a:t>
            </a:r>
            <a:r>
              <a:rPr lang="zh-CN" altLang="en-US" b="1" dirty="0" smtClean="0"/>
              <a:t>脾寒</a:t>
            </a:r>
            <a:endParaRPr lang="zh-CN" altLang="en-US" dirty="0" smtClean="0"/>
          </a:p>
          <a:p>
            <a:r>
              <a:rPr lang="zh-CN" altLang="en-US" b="1" dirty="0" smtClean="0"/>
              <a:t>诊断：夜间啼哭，神怯困乏，四指不温，食少或便溏，睡喜俯卧，啼哭无力，面色青白，舌淡苔白</a:t>
            </a:r>
            <a:endParaRPr lang="zh-CN" altLang="en-US" dirty="0" smtClean="0"/>
          </a:p>
          <a:p>
            <a:r>
              <a:rPr lang="zh-CN" altLang="en-US" b="1" dirty="0" smtClean="0"/>
              <a:t>治疗：补脾经</a:t>
            </a:r>
            <a:r>
              <a:rPr lang="en-US" b="1" dirty="0" smtClean="0"/>
              <a:t>300 </a:t>
            </a:r>
            <a:r>
              <a:rPr lang="zh-CN" altLang="en-US" b="1" dirty="0" smtClean="0"/>
              <a:t>推三关</a:t>
            </a:r>
            <a:r>
              <a:rPr lang="en-US" b="1" dirty="0" smtClean="0"/>
              <a:t>150 </a:t>
            </a:r>
            <a:r>
              <a:rPr lang="zh-CN" altLang="en-US" b="1" dirty="0" smtClean="0"/>
              <a:t>揉外劳宫</a:t>
            </a:r>
            <a:r>
              <a:rPr lang="en-US" b="1" dirty="0" smtClean="0"/>
              <a:t>150 </a:t>
            </a:r>
            <a:r>
              <a:rPr lang="zh-CN" altLang="en-US" b="1" dirty="0" smtClean="0"/>
              <a:t>揉百会</a:t>
            </a:r>
            <a:r>
              <a:rPr lang="en-US" b="1" dirty="0" smtClean="0"/>
              <a:t>100 </a:t>
            </a:r>
            <a:r>
              <a:rPr lang="zh-CN" altLang="en-US" b="1" dirty="0" smtClean="0"/>
              <a:t>揉小天心</a:t>
            </a:r>
            <a:r>
              <a:rPr lang="en-US" b="1" dirty="0" smtClean="0"/>
              <a:t>100 </a:t>
            </a:r>
            <a:r>
              <a:rPr lang="zh-CN" altLang="en-US" b="1" dirty="0" smtClean="0"/>
              <a:t>摩腹</a:t>
            </a:r>
            <a:r>
              <a:rPr lang="en-US" b="1" dirty="0" smtClean="0"/>
              <a:t>100 </a:t>
            </a:r>
            <a:r>
              <a:rPr lang="zh-CN" altLang="en-US" b="1" dirty="0" smtClean="0"/>
              <a:t>揉脾俞</a:t>
            </a:r>
            <a:r>
              <a:rPr lang="en-US" b="1" dirty="0" smtClean="0"/>
              <a:t>100 </a:t>
            </a:r>
            <a:r>
              <a:rPr lang="zh-CN" altLang="en-US" b="1" dirty="0" smtClean="0"/>
              <a:t>揉足三里</a:t>
            </a:r>
            <a:r>
              <a:rPr lang="en-US" b="1" dirty="0" smtClean="0"/>
              <a:t>100 </a:t>
            </a:r>
            <a:r>
              <a:rPr lang="zh-CN" altLang="en-US" b="1" dirty="0" smtClean="0"/>
              <a:t>捏脊</a:t>
            </a:r>
            <a:r>
              <a:rPr lang="en-US" b="1" dirty="0" smtClean="0"/>
              <a:t>3</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2</a:t>
            </a:r>
            <a:r>
              <a:rPr lang="zh-CN" altLang="en-US" b="1" dirty="0" smtClean="0"/>
              <a:t>心热</a:t>
            </a:r>
            <a:endParaRPr lang="zh-CN" altLang="en-US" dirty="0" smtClean="0"/>
          </a:p>
          <a:p>
            <a:r>
              <a:rPr lang="zh-CN" altLang="en-US" b="1" dirty="0" smtClean="0"/>
              <a:t>诊断：睡喜仰卧，啼声洪亮，见灯光啼哭愈甚，口中气热烦躁不安，面红唇赤，身热，大便干小便黄，舌尖红</a:t>
            </a:r>
            <a:endParaRPr lang="zh-CN" altLang="en-US" dirty="0" smtClean="0"/>
          </a:p>
          <a:p>
            <a:r>
              <a:rPr lang="zh-CN" altLang="en-US" b="1" dirty="0" smtClean="0"/>
              <a:t>治疗：清心经</a:t>
            </a:r>
            <a:r>
              <a:rPr lang="en-US" b="1" dirty="0" smtClean="0"/>
              <a:t>200 </a:t>
            </a:r>
            <a:r>
              <a:rPr lang="zh-CN" altLang="en-US" b="1" dirty="0" smtClean="0"/>
              <a:t>清肝经</a:t>
            </a:r>
            <a:r>
              <a:rPr lang="en-US" b="1" dirty="0" smtClean="0"/>
              <a:t>150 </a:t>
            </a:r>
            <a:r>
              <a:rPr lang="zh-CN" altLang="en-US" b="1" dirty="0" smtClean="0"/>
              <a:t>清小肠</a:t>
            </a:r>
            <a:r>
              <a:rPr lang="en-US" b="1" dirty="0" smtClean="0"/>
              <a:t>100 </a:t>
            </a:r>
            <a:r>
              <a:rPr lang="zh-CN" altLang="en-US" b="1" dirty="0" smtClean="0"/>
              <a:t>揉小天心</a:t>
            </a:r>
            <a:r>
              <a:rPr lang="en-US" b="1" dirty="0" smtClean="0"/>
              <a:t>100 </a:t>
            </a:r>
            <a:r>
              <a:rPr lang="zh-CN" altLang="en-US" b="1" dirty="0" smtClean="0"/>
              <a:t>清天河水</a:t>
            </a:r>
            <a:r>
              <a:rPr lang="en-US" b="1" dirty="0" smtClean="0"/>
              <a:t>200 </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3</a:t>
            </a:r>
            <a:r>
              <a:rPr lang="zh-CN" altLang="en-US" b="1" dirty="0" smtClean="0"/>
              <a:t>惊恐</a:t>
            </a:r>
            <a:endParaRPr lang="zh-CN" altLang="en-US" dirty="0" smtClean="0"/>
          </a:p>
          <a:p>
            <a:r>
              <a:rPr lang="zh-CN" altLang="en-US" b="1" dirty="0" smtClean="0"/>
              <a:t>诊断：啼哭声惨而紧，常睡中惊醒，醒而大啼，呈惊恐状喜偎母而睡，放床即醒，面色乍青乍白，舌脉多无异常变化</a:t>
            </a:r>
            <a:endParaRPr lang="zh-CN" altLang="en-US" dirty="0" smtClean="0"/>
          </a:p>
          <a:p>
            <a:r>
              <a:rPr lang="zh-CN" altLang="en-US" b="1" dirty="0" smtClean="0"/>
              <a:t>治疗：补肾经</a:t>
            </a:r>
            <a:r>
              <a:rPr lang="en-US" b="1" dirty="0" smtClean="0"/>
              <a:t>200 </a:t>
            </a:r>
            <a:r>
              <a:rPr lang="zh-CN" altLang="en-US" b="1" dirty="0" smtClean="0"/>
              <a:t>清心经</a:t>
            </a:r>
            <a:r>
              <a:rPr lang="en-US" b="1" dirty="0" smtClean="0"/>
              <a:t>100 </a:t>
            </a:r>
            <a:r>
              <a:rPr lang="zh-CN" altLang="en-US" b="1" dirty="0" smtClean="0"/>
              <a:t>补脾经</a:t>
            </a:r>
            <a:r>
              <a:rPr lang="en-US" b="1" dirty="0" smtClean="0"/>
              <a:t>100 </a:t>
            </a:r>
            <a:r>
              <a:rPr lang="zh-CN" altLang="en-US" b="1" dirty="0" smtClean="0"/>
              <a:t>运内八卦</a:t>
            </a:r>
            <a:r>
              <a:rPr lang="en-US" b="1" dirty="0" smtClean="0"/>
              <a:t>100 </a:t>
            </a:r>
            <a:r>
              <a:rPr lang="zh-CN" altLang="en-US" b="1" dirty="0" smtClean="0"/>
              <a:t>揉小天心</a:t>
            </a:r>
            <a:r>
              <a:rPr lang="en-US" b="1" dirty="0" smtClean="0"/>
              <a:t>100 </a:t>
            </a:r>
            <a:r>
              <a:rPr lang="zh-CN" altLang="en-US" b="1" dirty="0" smtClean="0"/>
              <a:t>运耳后高骨</a:t>
            </a:r>
            <a:r>
              <a:rPr lang="en-US" b="1" dirty="0" smtClean="0"/>
              <a:t>100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b="1" dirty="0" smtClean="0"/>
          </a:p>
          <a:p>
            <a:r>
              <a:rPr lang="en-US" b="1" dirty="0" smtClean="0"/>
              <a:t>4</a:t>
            </a:r>
            <a:r>
              <a:rPr lang="zh-CN" altLang="en-US" b="1" dirty="0" smtClean="0"/>
              <a:t>食积</a:t>
            </a:r>
            <a:endParaRPr lang="zh-CN" altLang="en-US" dirty="0" smtClean="0"/>
          </a:p>
          <a:p>
            <a:r>
              <a:rPr lang="zh-CN" altLang="en-US" b="1" dirty="0" smtClean="0"/>
              <a:t>诊断：皖腹胀满，呕吐不消化或酸臭之物，睡卧转侧不安，大便酸臭，舌苔厚，指纹紫</a:t>
            </a:r>
            <a:endParaRPr lang="zh-CN" altLang="en-US" dirty="0" smtClean="0"/>
          </a:p>
          <a:p>
            <a:r>
              <a:rPr lang="zh-CN" altLang="en-US" b="1" dirty="0" smtClean="0"/>
              <a:t>治疗：补脾经</a:t>
            </a:r>
            <a:r>
              <a:rPr lang="en-US" b="1" dirty="0" smtClean="0"/>
              <a:t>200 </a:t>
            </a:r>
            <a:r>
              <a:rPr lang="zh-CN" altLang="en-US" b="1" dirty="0" smtClean="0"/>
              <a:t>清大肠</a:t>
            </a:r>
            <a:r>
              <a:rPr lang="en-US" b="1" dirty="0" smtClean="0"/>
              <a:t>100 </a:t>
            </a:r>
            <a:r>
              <a:rPr lang="zh-CN" altLang="en-US" b="1" dirty="0" smtClean="0"/>
              <a:t>揉板门</a:t>
            </a:r>
            <a:r>
              <a:rPr lang="en-US" b="1" dirty="0" smtClean="0"/>
              <a:t>100 </a:t>
            </a:r>
            <a:r>
              <a:rPr lang="zh-CN" altLang="en-US" b="1" dirty="0" smtClean="0"/>
              <a:t>揉中脘</a:t>
            </a:r>
            <a:r>
              <a:rPr lang="en-US" b="1" dirty="0" smtClean="0"/>
              <a:t>100 </a:t>
            </a:r>
            <a:r>
              <a:rPr lang="zh-CN" altLang="en-US" b="1" dirty="0" smtClean="0"/>
              <a:t>摩腹</a:t>
            </a:r>
            <a:r>
              <a:rPr lang="en-US" b="1" dirty="0" smtClean="0"/>
              <a:t>100 </a:t>
            </a:r>
            <a:r>
              <a:rPr lang="zh-CN" altLang="en-US" b="1" dirty="0" smtClean="0"/>
              <a:t>揉天枢</a:t>
            </a:r>
            <a:r>
              <a:rPr lang="en-US" b="1" dirty="0" smtClean="0"/>
              <a:t>100 </a:t>
            </a:r>
            <a:r>
              <a:rPr lang="zh-CN" altLang="en-US" b="1" dirty="0" smtClean="0"/>
              <a:t>分推腹阴阳</a:t>
            </a:r>
            <a:r>
              <a:rPr lang="en-US" b="1" dirty="0" smtClean="0"/>
              <a:t>100 </a:t>
            </a:r>
            <a:r>
              <a:rPr lang="zh-CN" altLang="en-US" b="1" dirty="0" smtClean="0"/>
              <a:t>推下七节骨</a:t>
            </a:r>
            <a:r>
              <a:rPr lang="en-US" b="1" dirty="0" smtClean="0"/>
              <a:t>200 </a:t>
            </a:r>
            <a:r>
              <a:rPr lang="zh-CN" altLang="en-US" b="1" dirty="0" smtClean="0"/>
              <a:t>揉脾俞</a:t>
            </a:r>
            <a:r>
              <a:rPr lang="en-US" b="1" dirty="0" smtClean="0"/>
              <a:t>100 </a:t>
            </a:r>
            <a:r>
              <a:rPr lang="zh-CN" altLang="en-US" b="1" dirty="0" smtClean="0"/>
              <a:t>揉胃俞</a:t>
            </a:r>
            <a:r>
              <a:rPr lang="en-US" b="1" dirty="0" smtClean="0"/>
              <a:t>100 </a:t>
            </a:r>
            <a:r>
              <a:rPr lang="zh-CN" altLang="en-US" b="1" dirty="0" smtClean="0"/>
              <a:t>揉足三里</a:t>
            </a:r>
            <a:r>
              <a:rPr lang="en-US" b="1" dirty="0" smtClean="0"/>
              <a:t>50</a:t>
            </a:r>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en-US" b="1" dirty="0" smtClean="0"/>
              <a:t>5</a:t>
            </a:r>
            <a:r>
              <a:rPr lang="zh-CN" altLang="en-US" b="1" dirty="0" smtClean="0"/>
              <a:t>肾虚</a:t>
            </a:r>
            <a:endParaRPr lang="zh-CN" altLang="en-US" dirty="0" smtClean="0"/>
          </a:p>
          <a:p>
            <a:r>
              <a:rPr lang="zh-CN" altLang="en-US" b="1" dirty="0" smtClean="0"/>
              <a:t>诊断：入夜既啼，彻夜不眠，天亮即醒，见灯哭声减弱，亦有惊恐状</a:t>
            </a:r>
            <a:endParaRPr lang="zh-CN" altLang="en-US" dirty="0" smtClean="0"/>
          </a:p>
          <a:p>
            <a:r>
              <a:rPr lang="zh-CN" altLang="en-US" b="1" dirty="0" smtClean="0"/>
              <a:t>治疗：补肾经</a:t>
            </a:r>
            <a:r>
              <a:rPr lang="en-US" b="1" dirty="0" smtClean="0"/>
              <a:t>300 </a:t>
            </a:r>
            <a:r>
              <a:rPr lang="zh-CN" altLang="en-US" b="1" dirty="0" smtClean="0"/>
              <a:t>清心经</a:t>
            </a:r>
            <a:r>
              <a:rPr lang="en-US" b="1" dirty="0" smtClean="0"/>
              <a:t>100 </a:t>
            </a:r>
            <a:r>
              <a:rPr lang="zh-CN" altLang="en-US" b="1" dirty="0" smtClean="0"/>
              <a:t>揉百会</a:t>
            </a:r>
            <a:r>
              <a:rPr lang="en-US" b="1" dirty="0" smtClean="0"/>
              <a:t>50 </a:t>
            </a:r>
            <a:r>
              <a:rPr lang="zh-CN" altLang="en-US" b="1" dirty="0" smtClean="0"/>
              <a:t>揉小天心</a:t>
            </a:r>
            <a:r>
              <a:rPr lang="en-US" b="1" dirty="0" smtClean="0"/>
              <a:t>100 </a:t>
            </a:r>
            <a:r>
              <a:rPr lang="zh-CN" altLang="en-US" b="1" dirty="0" smtClean="0"/>
              <a:t>揉涌泉 肾俞 关元各</a:t>
            </a:r>
            <a:r>
              <a:rPr lang="en-US" b="1" dirty="0" smtClean="0"/>
              <a:t>100</a:t>
            </a:r>
            <a:endParaRPr lang="zh-CN" altLang="en-US"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九 小儿斜颈</a:t>
            </a:r>
            <a:endParaRPr lang="zh-CN" altLang="en-US" dirty="0" smtClean="0"/>
          </a:p>
          <a:p>
            <a:r>
              <a:rPr lang="en-US" b="1" dirty="0" smtClean="0"/>
              <a:t>    </a:t>
            </a:r>
            <a:r>
              <a:rPr lang="zh-CN" altLang="en-US" b="1" dirty="0" smtClean="0"/>
              <a:t>小儿斜颈，医学称先天性肌性斜颈，俗称歪脖子，是由于一侧胸锁乳突肌纤维性痉挛，导致缩短，颈部向一侧偏斜畸形，同时伴有脸部发育受影响，小于对侧。小儿斜颈多由于分娩时被损伤，一侧胸锁乳突肌因产伤致血肿，继而肌化挛缩。或宫内胎位不正，使一侧胸锁乳突肌承受过度压力，致局部缺血，继而过度退化而引起。</a:t>
            </a:r>
            <a:endParaRPr lang="zh-CN" altLang="en-US" dirty="0" smtClean="0"/>
          </a:p>
          <a:p>
            <a:endParaRPr lang="zh-CN" altLang="en-US" dirty="0" smtClean="0"/>
          </a:p>
          <a:p>
            <a:endParaRPr lang="en-US" altLang="zh-CN" b="1" dirty="0" smtClean="0"/>
          </a:p>
          <a:p>
            <a:pPr>
              <a:buNone/>
            </a:pPr>
            <a:endParaRPr lang="zh-CN" altLang="en-US" dirty="0" smtClean="0"/>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pPr>
              <a:buNone/>
            </a:pPr>
            <a:endParaRPr lang="zh-CN" altLang="en-US" dirty="0" smtClean="0"/>
          </a:p>
        </p:txBody>
      </p:sp>
      <p:pic>
        <p:nvPicPr>
          <p:cNvPr id="9" name="图片 8" descr="u=695338252,1969765428&amp;fm=21&amp;gp=0.jpg"/>
          <p:cNvPicPr>
            <a:picLocks noChangeAspect="1"/>
          </p:cNvPicPr>
          <p:nvPr/>
        </p:nvPicPr>
        <p:blipFill>
          <a:blip r:embed="rId2"/>
          <a:stretch>
            <a:fillRect/>
          </a:stretch>
        </p:blipFill>
        <p:spPr>
          <a:xfrm>
            <a:off x="180109" y="1295400"/>
            <a:ext cx="4849091" cy="4267200"/>
          </a:xfrm>
          <a:prstGeom prst="rect">
            <a:avLst/>
          </a:prstGeom>
        </p:spPr>
      </p:pic>
      <p:pic>
        <p:nvPicPr>
          <p:cNvPr id="10" name="图片 9" descr="u=3043324579,1237243836&amp;fm=21&amp;gp=0.jpg"/>
          <p:cNvPicPr>
            <a:picLocks noChangeAspect="1"/>
          </p:cNvPicPr>
          <p:nvPr/>
        </p:nvPicPr>
        <p:blipFill>
          <a:blip r:embed="rId3"/>
          <a:stretch>
            <a:fillRect/>
          </a:stretch>
        </p:blipFill>
        <p:spPr>
          <a:xfrm>
            <a:off x="5181600" y="990600"/>
            <a:ext cx="3505200" cy="4562982"/>
          </a:xfrm>
          <a:prstGeom prst="rect">
            <a:avLst/>
          </a:prstGeom>
        </p:spPr>
      </p:pic>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pic>
        <p:nvPicPr>
          <p:cNvPr id="9" name="内容占位符 8" descr="u=1904501415,500061167&amp;fm=21&amp;gp=0.jpg"/>
          <p:cNvPicPr>
            <a:picLocks noGrp="1" noChangeAspect="1"/>
          </p:cNvPicPr>
          <p:nvPr>
            <p:ph idx="1"/>
          </p:nvPr>
        </p:nvPicPr>
        <p:blipFill>
          <a:blip r:embed="rId2"/>
          <a:stretch>
            <a:fillRect/>
          </a:stretch>
        </p:blipFill>
        <p:spPr>
          <a:xfrm>
            <a:off x="355282" y="533400"/>
            <a:ext cx="8255318" cy="6115050"/>
          </a:xfrm>
        </p:spPr>
      </p:pic>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诊断：多数患儿出生一周左右颈部出现血肿，</a:t>
            </a:r>
            <a:r>
              <a:rPr lang="en-US" b="1" dirty="0" smtClean="0"/>
              <a:t>2</a:t>
            </a:r>
            <a:r>
              <a:rPr lang="zh-CN" altLang="en-US" b="1" dirty="0" smtClean="0"/>
              <a:t>周后变为梭形肿物，成条索状或圆柱状，推之可移，半年后肿物大可消除，单一侧颈部肌肉明显小于另一侧，头偏向患侧，前倾，亦有患儿多在</a:t>
            </a:r>
            <a:r>
              <a:rPr lang="en-US" b="1" dirty="0" smtClean="0"/>
              <a:t>2</a:t>
            </a:r>
            <a:r>
              <a:rPr lang="zh-CN" altLang="en-US" b="1" dirty="0" smtClean="0"/>
              <a:t>岁左右，家长发现患儿有习惯性头向偏侧看物 睡觉等行为。</a:t>
            </a:r>
            <a:endParaRPr lang="en-US" altLang="zh-CN" b="1" dirty="0" smtClean="0"/>
          </a:p>
          <a:p>
            <a:pPr>
              <a:buNone/>
            </a:pPr>
            <a:endParaRPr lang="zh-CN" altLang="en-US" dirty="0" smtClean="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治疗</a:t>
            </a:r>
            <a:endParaRPr lang="zh-CN" altLang="en-US" dirty="0" smtClean="0"/>
          </a:p>
          <a:p>
            <a:r>
              <a:rPr lang="en-US" b="1" dirty="0" smtClean="0"/>
              <a:t>1</a:t>
            </a:r>
            <a:r>
              <a:rPr lang="zh-CN" altLang="en-US" b="1" dirty="0" smtClean="0"/>
              <a:t>中，食，拇三指拿住患者肌肉的硬结处，捏揉</a:t>
            </a:r>
            <a:r>
              <a:rPr lang="en-US" b="1" dirty="0" smtClean="0"/>
              <a:t>10-15</a:t>
            </a:r>
            <a:r>
              <a:rPr lang="zh-CN" altLang="en-US" b="1" dirty="0" smtClean="0"/>
              <a:t>分钟</a:t>
            </a:r>
            <a:endParaRPr lang="zh-CN" altLang="en-US" dirty="0" smtClean="0"/>
          </a:p>
          <a:p>
            <a:r>
              <a:rPr lang="en-US" b="1" dirty="0" smtClean="0"/>
              <a:t>2</a:t>
            </a:r>
            <a:r>
              <a:rPr lang="zh-CN" altLang="en-US" b="1" dirty="0" smtClean="0"/>
              <a:t>自患者胸锁乳突肌起点至止点反复揉推</a:t>
            </a:r>
            <a:r>
              <a:rPr lang="en-US" b="1" dirty="0" smtClean="0"/>
              <a:t>1-20</a:t>
            </a:r>
            <a:r>
              <a:rPr lang="zh-CN" altLang="en-US" b="1" dirty="0" smtClean="0"/>
              <a:t>次</a:t>
            </a:r>
            <a:endParaRPr lang="zh-CN" altLang="en-US" dirty="0" smtClean="0"/>
          </a:p>
          <a:p>
            <a:r>
              <a:rPr lang="en-US" b="1" dirty="0" smtClean="0"/>
              <a:t>3</a:t>
            </a:r>
            <a:r>
              <a:rPr lang="zh-CN" altLang="en-US" b="1" dirty="0" smtClean="0"/>
              <a:t>一手扶肩，一手扶头，与患侧相反方向侧扳，再双手托住小儿头部向双侧各转动</a:t>
            </a:r>
            <a:r>
              <a:rPr lang="en-US" b="1" dirty="0" smtClean="0"/>
              <a:t>10-15</a:t>
            </a:r>
            <a:r>
              <a:rPr lang="zh-CN" altLang="en-US" b="1" dirty="0" smtClean="0"/>
              <a:t>次</a:t>
            </a:r>
            <a:endParaRPr lang="zh-CN" altLang="en-US" dirty="0" smtClean="0"/>
          </a:p>
          <a:p>
            <a:endParaRPr lang="en-US" altLang="zh-CN" b="1" dirty="0" smtClean="0"/>
          </a:p>
          <a:p>
            <a:pPr>
              <a:buNone/>
            </a:pPr>
            <a:endParaRPr lang="zh-CN" altLang="en-US" dirty="0" smtClean="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小儿麻痹</a:t>
            </a:r>
            <a:endParaRPr lang="zh-CN" altLang="en-US" dirty="0" smtClean="0"/>
          </a:p>
          <a:p>
            <a:r>
              <a:rPr lang="zh-CN" altLang="en-US" b="1" dirty="0" smtClean="0"/>
              <a:t>脊髓灰质炎是由脊髓灰质炎病毒引起的严重危害儿童健康的急性传染病，以肢体下运动神经元性瘫痪为主要特征。脊髓灰质炎病毒是一种肠道病毒，具有嗜神经性特点，它由上呼吸道和消化道侵入，经血液循环播散到神经系统。</a:t>
            </a:r>
            <a:endParaRPr lang="zh-CN" altLang="en-US" dirty="0" smtClean="0"/>
          </a:p>
          <a:p>
            <a:endParaRPr lang="en-US" altLang="zh-CN" b="1" dirty="0" smtClean="0"/>
          </a:p>
          <a:p>
            <a:pPr>
              <a:buNone/>
            </a:pPr>
            <a:endParaRPr lang="zh-CN" altLang="en-US" dirty="0" smtClean="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诊断：为</a:t>
            </a:r>
            <a:r>
              <a:rPr lang="en-US" b="1" dirty="0" smtClean="0"/>
              <a:t>1</a:t>
            </a:r>
            <a:r>
              <a:rPr lang="zh-CN" altLang="en-US" b="1" dirty="0" smtClean="0"/>
              <a:t>～</a:t>
            </a:r>
            <a:r>
              <a:rPr lang="en-US" b="1" dirty="0" smtClean="0"/>
              <a:t>6</a:t>
            </a:r>
            <a:r>
              <a:rPr lang="zh-CN" altLang="en-US" b="1" dirty="0" smtClean="0"/>
              <a:t>岁儿童，主要症状是发热，全身不适，严重时肢体疼痛，发生分布不规则和轻重不等的迟缓性瘫痪，俗称小儿麻痹症。瘫痪大都在</a:t>
            </a:r>
            <a:r>
              <a:rPr lang="en-US" b="1" dirty="0" smtClean="0"/>
              <a:t>4</a:t>
            </a:r>
            <a:r>
              <a:rPr lang="zh-CN" altLang="en-US" b="1" dirty="0" smtClean="0"/>
              <a:t>个月内有不同程度的恢复，以后则恢复缓慢，但如神经细胞损害严重而广泛，则肌群功能不易恢复而留下后遗畸形。由于运动神经元受损，与之有关的肌肉失去了神经的调节作用而发生萎缩，同时皮下脂肪，肌腱及骨骼也萎缩，使整个机体变细。</a:t>
            </a:r>
            <a:endParaRPr lang="zh-CN" altLang="en-US" dirty="0" smtClean="0"/>
          </a:p>
          <a:p>
            <a:endParaRPr lang="en-US" altLang="zh-CN" b="1" dirty="0" smtClean="0"/>
          </a:p>
          <a:p>
            <a:pPr>
              <a:buNone/>
            </a:pPr>
            <a:endParaRPr lang="zh-CN" altLang="en-US" dirty="0" smtClean="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r>
              <a:rPr lang="zh-CN" altLang="en-US" b="1" dirty="0" smtClean="0"/>
              <a:t>            治疗：（</a:t>
            </a:r>
            <a:r>
              <a:rPr lang="en-US" b="1" dirty="0" smtClean="0"/>
              <a:t>1</a:t>
            </a:r>
            <a:r>
              <a:rPr lang="zh-CN" altLang="en-US" b="1" dirty="0" smtClean="0"/>
              <a:t>）取坐位，用拇指指腹端开天门</a:t>
            </a:r>
            <a:r>
              <a:rPr lang="en-US" b="1" dirty="0" smtClean="0"/>
              <a:t>100</a:t>
            </a:r>
            <a:r>
              <a:rPr lang="zh-CN" altLang="en-US" b="1" dirty="0" smtClean="0"/>
              <a:t>次，用双手拇指指腹端分推坎宫</a:t>
            </a:r>
            <a:r>
              <a:rPr lang="en-US" b="1" dirty="0" smtClean="0"/>
              <a:t>50</a:t>
            </a:r>
            <a:r>
              <a:rPr lang="zh-CN" altLang="en-US" b="1" dirty="0" smtClean="0"/>
              <a:t>次，两手拇指桡侧缘自前向后直推两侧太阳穴</a:t>
            </a:r>
            <a:r>
              <a:rPr lang="en-US" b="1" dirty="0" smtClean="0"/>
              <a:t>50</a:t>
            </a:r>
            <a:r>
              <a:rPr lang="zh-CN" altLang="en-US" b="1" dirty="0" smtClean="0"/>
              <a:t>次。</a:t>
            </a:r>
            <a:endParaRPr lang="zh-CN" altLang="en-US" dirty="0" smtClean="0"/>
          </a:p>
          <a:p>
            <a:pPr latinLnBrk="1"/>
            <a:r>
              <a:rPr lang="zh-CN" altLang="en-US" b="1" dirty="0" smtClean="0"/>
              <a:t>（</a:t>
            </a:r>
            <a:r>
              <a:rPr lang="en-US" b="1" dirty="0" smtClean="0"/>
              <a:t>2</a:t>
            </a:r>
            <a:r>
              <a:rPr lang="zh-CN" altLang="en-US" b="1" dirty="0" smtClean="0"/>
              <a:t>）取坐位，用双手拇指、示食指捏拿两侧肩井</a:t>
            </a:r>
            <a:r>
              <a:rPr lang="en-US" b="1" dirty="0" smtClean="0"/>
              <a:t>100</a:t>
            </a:r>
            <a:r>
              <a:rPr lang="zh-CN" altLang="en-US" b="1" dirty="0" smtClean="0"/>
              <a:t>次；再用拇指指腹端按揉风池</a:t>
            </a:r>
            <a:r>
              <a:rPr lang="en-US" b="1" dirty="0" smtClean="0"/>
              <a:t>2</a:t>
            </a:r>
            <a:r>
              <a:rPr lang="zh-CN" altLang="en-US" b="1" dirty="0" smtClean="0"/>
              <a:t>分钟；最后用拇指桡侧端依次清肺经、清脾经、清胃经各</a:t>
            </a:r>
            <a:r>
              <a:rPr lang="en-US" b="1" dirty="0" smtClean="0"/>
              <a:t>100</a:t>
            </a:r>
            <a:r>
              <a:rPr lang="zh-CN" altLang="en-US" b="1" dirty="0" smtClean="0"/>
              <a:t>次，用食指、中指指腹面退六腑、清天河水各</a:t>
            </a:r>
            <a:r>
              <a:rPr lang="en-US" b="1" dirty="0" smtClean="0"/>
              <a:t>100</a:t>
            </a:r>
            <a:r>
              <a:rPr lang="zh-CN" altLang="en-US" b="1" dirty="0" smtClean="0"/>
              <a:t>次。</a:t>
            </a:r>
            <a:endParaRPr lang="zh-CN" altLang="en-US" dirty="0" smtClean="0"/>
          </a:p>
          <a:p>
            <a:pPr latinLnBrk="1"/>
            <a:r>
              <a:rPr lang="zh-CN" altLang="en-US" b="1" dirty="0" smtClean="0"/>
              <a:t>（</a:t>
            </a:r>
            <a:r>
              <a:rPr lang="en-US" b="1" dirty="0" smtClean="0"/>
              <a:t>3</a:t>
            </a:r>
            <a:r>
              <a:rPr lang="zh-CN" altLang="en-US" b="1" dirty="0" smtClean="0"/>
              <a:t>）取俯卧位，推脊柱</a:t>
            </a:r>
            <a:r>
              <a:rPr lang="en-US" b="1" dirty="0" smtClean="0"/>
              <a:t>3</a:t>
            </a:r>
            <a:r>
              <a:rPr lang="zh-CN" altLang="en-US" b="1" dirty="0" smtClean="0"/>
              <a:t>分钟；再用拇指指腹端按揉背部两侧肺俞、胃俞穴各</a:t>
            </a:r>
            <a:r>
              <a:rPr lang="en-US" b="1" dirty="0" smtClean="0"/>
              <a:t>2</a:t>
            </a:r>
            <a:r>
              <a:rPr lang="zh-CN" altLang="en-US" b="1" dirty="0" smtClean="0"/>
              <a:t>分钟。</a:t>
            </a:r>
            <a:endParaRPr lang="zh-CN" altLang="en-US" dirty="0" smtClean="0"/>
          </a:p>
          <a:p>
            <a:r>
              <a:rPr lang="en-US" altLang="zh-CN" b="1" dirty="0" smtClean="0"/>
              <a:t>  </a:t>
            </a:r>
          </a:p>
          <a:p>
            <a:pPr>
              <a:buNone/>
            </a:pPr>
            <a:endParaRPr lang="zh-CN" altLang="en-US" dirty="0" smtClean="0"/>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2133600" y="6553200"/>
            <a:ext cx="3886200" cy="0"/>
          </a:xfrm>
          <a:prstGeom prst="line">
            <a:avLst/>
          </a:prstGeom>
          <a:noFill/>
          <a:ln w="9525">
            <a:solidFill>
              <a:schemeClr val="tx1"/>
            </a:solidFill>
            <a:round/>
            <a:headEnd/>
            <a:tailEnd/>
          </a:ln>
        </p:spPr>
        <p:txBody>
          <a:bodyPr/>
          <a:lstStyle/>
          <a:p>
            <a:endParaRPr lang="zh-CN" altLang="en-US"/>
          </a:p>
        </p:txBody>
      </p:sp>
      <p:sp>
        <p:nvSpPr>
          <p:cNvPr id="33795" name="WordArt 3"/>
          <p:cNvSpPr>
            <a:spLocks noChangeArrowheads="1" noChangeShapeType="1" noTextEdit="1"/>
          </p:cNvSpPr>
          <p:nvPr/>
        </p:nvSpPr>
        <p:spPr bwMode="auto">
          <a:xfrm>
            <a:off x="152400" y="6172200"/>
            <a:ext cx="1828800" cy="457200"/>
          </a:xfrm>
          <a:prstGeom prst="rect">
            <a:avLst/>
          </a:prstGeom>
        </p:spPr>
        <p:txBody>
          <a:bodyPr wrap="none" fromWordArt="1">
            <a:prstTxWarp prst="textPlain">
              <a:avLst>
                <a:gd name="adj" fmla="val 50000"/>
              </a:avLst>
            </a:prstTxWarp>
            <a:scene3d>
              <a:camera prst="legacyPerspectiveBottomRight">
                <a:rot lat="0" lon="21239998" rev="0"/>
              </a:camera>
              <a:lightRig rig="legacyHarsh3" dir="l"/>
            </a:scene3d>
            <a:sp3d extrusionH="430200" prstMaterial="legacyMatte">
              <a:extrusionClr>
                <a:srgbClr val="C0C0C0"/>
              </a:extrusionClr>
            </a:sp3d>
          </a:bodyPr>
          <a:lstStyle/>
          <a:p>
            <a:pPr algn="ctr"/>
            <a:r>
              <a:rPr lang="zh-CN" altLang="en-US" sz="3600" kern="10">
                <a:ln w="9525">
                  <a:round/>
                  <a:headEnd/>
                  <a:tailEnd/>
                </a:ln>
                <a:solidFill>
                  <a:srgbClr val="808080">
                    <a:alpha val="89018"/>
                  </a:srgbClr>
                </a:solidFill>
                <a:latin typeface="宋体"/>
                <a:ea typeface="宋体"/>
              </a:rPr>
              <a:t>东方傲才</a:t>
            </a:r>
          </a:p>
        </p:txBody>
      </p:sp>
      <p:sp>
        <p:nvSpPr>
          <p:cNvPr id="33796" name="WordArt 4"/>
          <p:cNvSpPr>
            <a:spLocks noChangeArrowheads="1" noChangeShapeType="1" noTextEdit="1"/>
          </p:cNvSpPr>
          <p:nvPr/>
        </p:nvSpPr>
        <p:spPr bwMode="auto">
          <a:xfrm>
            <a:off x="6172200" y="6400800"/>
            <a:ext cx="2362200" cy="228600"/>
          </a:xfrm>
          <a:prstGeom prst="rect">
            <a:avLst/>
          </a:prstGeom>
        </p:spPr>
        <p:txBody>
          <a:bodyPr wrap="none" fromWordArt="1">
            <a:prstTxWarp prst="textPlain">
              <a:avLst>
                <a:gd name="adj" fmla="val 50000"/>
              </a:avLst>
            </a:prstTxWarp>
          </a:bodyPr>
          <a:lstStyle/>
          <a:p>
            <a:pPr algn="ctr"/>
            <a:r>
              <a:rPr lang="zh-CN" altLang="en-US" sz="3600" kern="10">
                <a:ln w="9525">
                  <a:solidFill>
                    <a:srgbClr val="CC99FF"/>
                  </a:solidFill>
                  <a:round/>
                  <a:headEnd/>
                  <a:tailEnd/>
                </a:ln>
                <a:solidFill>
                  <a:srgbClr val="FF0000"/>
                </a:solidFill>
                <a:latin typeface="宋体"/>
                <a:ea typeface="宋体"/>
              </a:rPr>
              <a:t>专业成就未来</a:t>
            </a:r>
          </a:p>
        </p:txBody>
      </p:sp>
      <p:sp>
        <p:nvSpPr>
          <p:cNvPr id="33797" name="WordArt 5"/>
          <p:cNvSpPr>
            <a:spLocks noChangeArrowheads="1" noChangeShapeType="1" noTextEdit="1"/>
          </p:cNvSpPr>
          <p:nvPr/>
        </p:nvSpPr>
        <p:spPr bwMode="auto">
          <a:xfrm>
            <a:off x="990600" y="533400"/>
            <a:ext cx="914400" cy="457200"/>
          </a:xfrm>
          <a:prstGeom prst="rect">
            <a:avLst/>
          </a:prstGeom>
        </p:spPr>
        <p:txBody>
          <a:bodyPr wrap="none" fromWordArt="1">
            <a:prstTxWarp prst="textPlain">
              <a:avLst>
                <a:gd name="adj" fmla="val 50000"/>
              </a:avLst>
            </a:prstTxWarp>
          </a:bodyPr>
          <a:lstStyle/>
          <a:p>
            <a:pPr algn="ctr"/>
            <a:r>
              <a:rPr lang="en-US" altLang="zh-CN"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rPr>
              <a:t>DFAC</a:t>
            </a:r>
            <a:endParaRPr lang="zh-CN" altLang="en-US" sz="3600" kern="10">
              <a:ln w="9525">
                <a:solidFill>
                  <a:srgbClr val="000000"/>
                </a:solidFill>
                <a:round/>
                <a:headEnd/>
                <a:tailEnd/>
              </a:ln>
              <a:solidFill>
                <a:schemeClr val="tx1">
                  <a:alpha val="56078"/>
                </a:schemeClr>
              </a:solidFill>
              <a:effectLst>
                <a:outerShdw dist="563972" dir="14049741" sx="125000" sy="125000" algn="tl" rotWithShape="0">
                  <a:srgbClr val="C7DFD3">
                    <a:alpha val="79999"/>
                  </a:srgbClr>
                </a:outerShdw>
              </a:effectLst>
              <a:latin typeface="宋体"/>
              <a:ea typeface="宋体"/>
            </a:endParaRPr>
          </a:p>
        </p:txBody>
      </p:sp>
      <p:sp>
        <p:nvSpPr>
          <p:cNvPr id="7" name="标题 6"/>
          <p:cNvSpPr>
            <a:spLocks noGrp="1"/>
          </p:cNvSpPr>
          <p:nvPr>
            <p:ph type="title"/>
          </p:nvPr>
        </p:nvSpPr>
        <p:spPr/>
        <p:txBody>
          <a:bodyPr/>
          <a:lstStyle/>
          <a:p>
            <a:r>
              <a:rPr lang="en-US" altLang="zh-CN" dirty="0" smtClean="0"/>
              <a:t> </a:t>
            </a:r>
            <a:endParaRPr lang="zh-CN" altLang="en-US" dirty="0"/>
          </a:p>
        </p:txBody>
      </p:sp>
      <p:sp>
        <p:nvSpPr>
          <p:cNvPr id="8" name="内容占位符 7"/>
          <p:cNvSpPr>
            <a:spLocks noGrp="1"/>
          </p:cNvSpPr>
          <p:nvPr>
            <p:ph idx="1"/>
          </p:nvPr>
        </p:nvSpPr>
        <p:spPr>
          <a:xfrm>
            <a:off x="457200" y="533400"/>
            <a:ext cx="8229600" cy="3886200"/>
          </a:xfrm>
        </p:spPr>
        <p:txBody>
          <a:bodyPr/>
          <a:lstStyle/>
          <a:p>
            <a:endParaRPr lang="en-US" altLang="zh-CN" b="1" dirty="0" smtClean="0"/>
          </a:p>
          <a:p>
            <a:r>
              <a:rPr lang="zh-CN" altLang="en-US" b="1" dirty="0" smtClean="0"/>
              <a:t>小儿保健推拿</a:t>
            </a:r>
            <a:endParaRPr lang="zh-CN" altLang="en-US" dirty="0" smtClean="0"/>
          </a:p>
          <a:p>
            <a:r>
              <a:rPr lang="zh-CN" altLang="en-US" b="1" dirty="0" smtClean="0"/>
              <a:t>仰卧位：</a:t>
            </a:r>
            <a:endParaRPr lang="zh-CN" altLang="en-US" dirty="0" smtClean="0"/>
          </a:p>
          <a:p>
            <a:r>
              <a:rPr lang="zh-CN" altLang="en-US" b="1" dirty="0" smtClean="0"/>
              <a:t>开天门</a:t>
            </a:r>
            <a:r>
              <a:rPr lang="en-US" b="1" dirty="0" smtClean="0"/>
              <a:t>100 </a:t>
            </a:r>
            <a:r>
              <a:rPr lang="zh-CN" altLang="en-US" b="1" dirty="0" smtClean="0"/>
              <a:t>推坎宫</a:t>
            </a:r>
            <a:r>
              <a:rPr lang="en-US" b="1" dirty="0" smtClean="0"/>
              <a:t>100 </a:t>
            </a:r>
            <a:r>
              <a:rPr lang="zh-CN" altLang="en-US" b="1" dirty="0" smtClean="0"/>
              <a:t>运太阳</a:t>
            </a:r>
            <a:r>
              <a:rPr lang="en-US" b="1" dirty="0" smtClean="0"/>
              <a:t>100 </a:t>
            </a:r>
            <a:r>
              <a:rPr lang="zh-CN" altLang="en-US" b="1" dirty="0" smtClean="0"/>
              <a:t>补脾经</a:t>
            </a:r>
            <a:r>
              <a:rPr lang="en-US" b="1" dirty="0" smtClean="0"/>
              <a:t>200 </a:t>
            </a:r>
            <a:r>
              <a:rPr lang="zh-CN" altLang="en-US" b="1" dirty="0" smtClean="0"/>
              <a:t>补肾经</a:t>
            </a:r>
            <a:r>
              <a:rPr lang="en-US" b="1" dirty="0" smtClean="0"/>
              <a:t>100 </a:t>
            </a:r>
            <a:r>
              <a:rPr lang="zh-CN" altLang="en-US" b="1" dirty="0" smtClean="0"/>
              <a:t>扩胸运动</a:t>
            </a:r>
            <a:r>
              <a:rPr lang="en-US" b="1" dirty="0" smtClean="0"/>
              <a:t>6  </a:t>
            </a:r>
            <a:r>
              <a:rPr lang="zh-CN" altLang="en-US" b="1" dirty="0" smtClean="0"/>
              <a:t>伸展运动</a:t>
            </a:r>
            <a:r>
              <a:rPr lang="en-US" b="1" dirty="0" smtClean="0"/>
              <a:t>6</a:t>
            </a:r>
            <a:endParaRPr lang="zh-CN" altLang="en-US" dirty="0" smtClean="0"/>
          </a:p>
          <a:p>
            <a:r>
              <a:rPr lang="zh-CN" altLang="en-US" b="1" dirty="0" smtClean="0"/>
              <a:t>揉中脘</a:t>
            </a:r>
            <a:r>
              <a:rPr lang="en-US" b="1" dirty="0" smtClean="0"/>
              <a:t>100 </a:t>
            </a:r>
            <a:r>
              <a:rPr lang="zh-CN" altLang="en-US" b="1" dirty="0" smtClean="0"/>
              <a:t>摩腹</a:t>
            </a:r>
            <a:r>
              <a:rPr lang="en-US" b="1" dirty="0" smtClean="0"/>
              <a:t>100 </a:t>
            </a:r>
            <a:r>
              <a:rPr lang="zh-CN" altLang="en-US" b="1" dirty="0" smtClean="0"/>
              <a:t>揉足三里</a:t>
            </a:r>
            <a:r>
              <a:rPr lang="en-US" b="1" dirty="0" smtClean="0"/>
              <a:t>100 </a:t>
            </a:r>
            <a:r>
              <a:rPr lang="zh-CN" altLang="en-US" b="1" dirty="0" smtClean="0"/>
              <a:t>下蹬运动（踩单车）</a:t>
            </a:r>
            <a:r>
              <a:rPr lang="en-US" b="1" dirty="0" smtClean="0"/>
              <a:t>6</a:t>
            </a:r>
            <a:endParaRPr lang="zh-CN" altLang="en-US" dirty="0" smtClean="0"/>
          </a:p>
          <a:p>
            <a:r>
              <a:rPr lang="zh-CN" altLang="en-US" b="1" dirty="0" smtClean="0"/>
              <a:t>俯卧位：</a:t>
            </a:r>
            <a:endParaRPr lang="zh-CN" altLang="en-US" dirty="0" smtClean="0"/>
          </a:p>
          <a:p>
            <a:r>
              <a:rPr lang="zh-CN" altLang="en-US" b="1" dirty="0" smtClean="0"/>
              <a:t>捏脊</a:t>
            </a:r>
            <a:r>
              <a:rPr lang="en-US" b="1" dirty="0" smtClean="0"/>
              <a:t>3-5 </a:t>
            </a:r>
            <a:r>
              <a:rPr lang="zh-CN" altLang="en-US" b="1" dirty="0" smtClean="0"/>
              <a:t>推膀胱经</a:t>
            </a:r>
            <a:r>
              <a:rPr lang="en-US" b="1" dirty="0" smtClean="0"/>
              <a:t>6 </a:t>
            </a:r>
            <a:r>
              <a:rPr lang="zh-CN" altLang="en-US" b="1" dirty="0" smtClean="0"/>
              <a:t>掌摩脊背</a:t>
            </a:r>
            <a:r>
              <a:rPr lang="en-US" b="1" dirty="0" smtClean="0"/>
              <a:t>6 </a:t>
            </a:r>
            <a:r>
              <a:rPr lang="zh-CN" altLang="en-US" b="1" dirty="0" smtClean="0"/>
              <a:t>轻拍小儿背腰部和下肢后侧</a:t>
            </a:r>
            <a:r>
              <a:rPr lang="en-US" b="1" dirty="0" smtClean="0"/>
              <a:t>3</a:t>
            </a:r>
            <a:endParaRPr lang="zh-CN" altLang="en-US" dirty="0" smtClean="0"/>
          </a:p>
          <a:p>
            <a:endParaRPr lang="en-US" altLang="zh-CN" b="1" dirty="0" smtClean="0"/>
          </a:p>
          <a:p>
            <a:pPr>
              <a:buNone/>
            </a:pPr>
            <a:endParaRPr lang="zh-CN" altLang="en-US" dirty="0" smtClean="0"/>
          </a:p>
        </p:txBody>
      </p:sp>
    </p:spTree>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3989</TotalTime>
  <Words>7323</Words>
  <Application>Microsoft PowerPoint</Application>
  <PresentationFormat>全屏显示(4:3)</PresentationFormat>
  <Paragraphs>805</Paragraphs>
  <Slides>107</Slides>
  <Notes>0</Notes>
  <HiddenSlides>0</HiddenSlides>
  <MMClips>0</MMClips>
  <ScaleCrop>false</ScaleCrop>
  <HeadingPairs>
    <vt:vector size="4" baseType="variant">
      <vt:variant>
        <vt:lpstr>主题</vt:lpstr>
      </vt:variant>
      <vt:variant>
        <vt:i4>1</vt:i4>
      </vt:variant>
      <vt:variant>
        <vt:lpstr>幻灯片标题</vt:lpstr>
      </vt:variant>
      <vt:variant>
        <vt:i4>107</vt:i4>
      </vt:variant>
    </vt:vector>
  </HeadingPairs>
  <TitlesOfParts>
    <vt:vector size="108" baseType="lpstr">
      <vt:lpstr>Pixel</vt:lpstr>
      <vt:lpstr> </vt:lpstr>
      <vt:lpstr> </vt:lpstr>
      <vt:lpstr> </vt:lpstr>
      <vt:lpstr> </vt:lpstr>
      <vt:lpstr> </vt:lpstr>
      <vt:lpstr> </vt:lpstr>
      <vt:lpstr> </vt:lpstr>
      <vt:lpstr>幻灯片 8</vt:lpstr>
      <vt:lpstr> </vt:lpstr>
      <vt:lpstr> </vt:lpstr>
      <vt:lpstr>幻灯片 11</vt:lpstr>
      <vt:lpstr> </vt:lpstr>
      <vt:lpstr> </vt:lpstr>
      <vt:lpstr> </vt:lpstr>
      <vt:lpstr> </vt:lpstr>
      <vt:lpstr> </vt:lpstr>
      <vt:lpstr> </vt:lpstr>
      <vt:lpstr>幻灯片 18</vt:lpstr>
      <vt:lpstr> </vt:lpstr>
      <vt:lpstr>幻灯片 20</vt:lpstr>
      <vt:lpstr> </vt:lpstr>
      <vt:lpstr> </vt:lpstr>
      <vt:lpstr> </vt:lpstr>
      <vt:lpstr>幻灯片 24</vt:lpstr>
      <vt:lpstr> </vt:lpstr>
      <vt:lpstr>幻灯片 26</vt:lpstr>
      <vt:lpstr> </vt:lpstr>
      <vt:lpstr>幻灯片 28</vt:lpstr>
      <vt:lpstr> </vt:lpstr>
      <vt:lpstr> </vt:lpstr>
      <vt:lpstr> </vt:lpstr>
      <vt:lpstr>幻灯片 32</vt:lpstr>
      <vt:lpstr> </vt:lpstr>
      <vt:lpstr>幻灯片 34</vt:lpstr>
      <vt:lpstr> </vt:lpstr>
      <vt:lpstr> </vt:lpstr>
      <vt:lpstr>幻灯片 37</vt:lpstr>
      <vt:lpstr> </vt:lpstr>
      <vt:lpstr>幻灯片 39</vt:lpstr>
      <vt:lpstr>幻灯片 40</vt:lpstr>
      <vt:lpstr> </vt:lpstr>
      <vt:lpstr> </vt:lpstr>
      <vt:lpstr> </vt:lpstr>
      <vt:lpstr> </vt:lpstr>
      <vt:lpstr> </vt:lpstr>
      <vt:lpstr> </vt:lpstr>
      <vt:lpstr> </vt:lpstr>
      <vt:lpstr> </vt:lpstr>
      <vt:lpstr> </vt:lpstr>
      <vt:lpstr> </vt:lpstr>
      <vt:lpstr>幻灯片 51</vt:lpstr>
      <vt:lpstr> </vt:lpstr>
      <vt:lpstr> </vt:lpstr>
      <vt:lpstr>幻灯片 54</vt:lpstr>
      <vt:lpstr> </vt:lpstr>
      <vt:lpstr>幻灯片 56</vt:lpstr>
      <vt:lpstr>幻灯片 57</vt:lpstr>
      <vt:lpstr> </vt:lpstr>
      <vt:lpstr> </vt:lpstr>
      <vt:lpstr>幻灯片 60</vt:lpstr>
      <vt:lpstr> </vt:lpstr>
      <vt:lpstr>幻灯片 62</vt:lpstr>
      <vt:lpstr> </vt:lpstr>
      <vt:lpstr> </vt:lpstr>
      <vt:lpstr>幻灯片 65</vt:lpstr>
      <vt:lpstr> </vt:lpstr>
      <vt:lpstr> </vt:lpstr>
      <vt:lpstr> </vt:lpstr>
      <vt:lpstr> </vt:lpstr>
      <vt:lpstr> </vt:lpstr>
      <vt:lpstr> </vt:lpstr>
      <vt:lpstr> </vt:lpstr>
      <vt:lpstr>幻灯片 73</vt:lpstr>
      <vt:lpstr>幻灯片 74</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Windows 用户</cp:lastModifiedBy>
  <cp:revision>174</cp:revision>
  <cp:lastPrinted>1601-01-01T00:00:00Z</cp:lastPrinted>
  <dcterms:created xsi:type="dcterms:W3CDTF">1601-01-01T00:00:00Z</dcterms:created>
  <dcterms:modified xsi:type="dcterms:W3CDTF">2015-12-06T15:21:43Z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